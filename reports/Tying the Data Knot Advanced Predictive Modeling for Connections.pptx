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6858000" cy="9144000"/>
  <p:embeddedFontLst>
    <p:embeddedFont>
      <p:font typeface="Bicubik" charset="1" panose="02000503020000020004"/>
      <p:regular r:id="rId26"/>
    </p:embeddedFont>
    <p:embeddedFont>
      <p:font typeface="Inter Bold" charset="1" panose="02000503000000020004"/>
      <p:regular r:id="rId27"/>
    </p:embeddedFont>
    <p:embeddedFont>
      <p:font typeface="Inter Light" charset="1" panose="02000503000000020004"/>
      <p:regular r:id="rId28"/>
    </p:embeddedFont>
    <p:embeddedFont>
      <p:font typeface="Arimo" charset="1" panose="020B0604020202020204"/>
      <p:regular r:id="rId29"/>
    </p:embeddedFont>
    <p:embeddedFont>
      <p:font typeface="Handelson Six" charset="1" panose="00000100000000000000"/>
      <p:regular r:id="rId30"/>
    </p:embeddedFont>
    <p:embeddedFont>
      <p:font typeface="Glacial Indifference" charset="1" panose="00000000000000000000"/>
      <p:regular r:id="rId31"/>
    </p:embeddedFont>
    <p:embeddedFont>
      <p:font typeface="Glacial Indifference Bold" charset="1" panose="00000800000000000000"/>
      <p:regular r:id="rId32"/>
    </p:embeddedFont>
    <p:embeddedFont>
      <p:font typeface="Inter" charset="1" panose="02000503000000020004"/>
      <p:regular r:id="rId33"/>
    </p:embeddedFont>
    <p:embeddedFont>
      <p:font typeface="Canva Sans" charset="1" panose="020B0503030501040103"/>
      <p:regular r:id="rId34"/>
    </p:embeddedFont>
    <p:embeddedFont>
      <p:font typeface="Poppins" charset="1" panose="00000500000000000000"/>
      <p:regular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jpeg" Type="http://schemas.openxmlformats.org/officeDocument/2006/relationships/image"/><Relationship Id="rId5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embeddings/oleObject1.bin" Type="http://schemas.openxmlformats.org/officeDocument/2006/relationships/oleObjec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7283F">
                <a:alpha val="100000"/>
              </a:srgbClr>
            </a:gs>
            <a:gs pos="100000">
              <a:srgbClr val="121019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028700" y="1028700"/>
            <a:ext cx="195487" cy="151769"/>
          </a:xfrm>
          <a:custGeom>
            <a:avLst/>
            <a:gdLst/>
            <a:ahLst/>
            <a:cxnLst/>
            <a:rect r="r" b="b" t="t" l="l"/>
            <a:pathLst>
              <a:path h="151769" w="195487">
                <a:moveTo>
                  <a:pt x="0" y="151769"/>
                </a:moveTo>
                <a:lnTo>
                  <a:pt x="195487" y="151769"/>
                </a:lnTo>
                <a:lnTo>
                  <a:pt x="195487" y="0"/>
                </a:lnTo>
                <a:lnTo>
                  <a:pt x="0" y="0"/>
                </a:lnTo>
                <a:lnTo>
                  <a:pt x="0" y="15176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7691438"/>
            <a:ext cx="18288000" cy="2595562"/>
            <a:chOff x="0" y="0"/>
            <a:chExt cx="4816593" cy="68360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683605"/>
            </a:xfrm>
            <a:custGeom>
              <a:avLst/>
              <a:gdLst/>
              <a:ahLst/>
              <a:cxnLst/>
              <a:rect r="r" b="b" t="t" l="l"/>
              <a:pathLst>
                <a:path h="683605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83605"/>
                  </a:lnTo>
                  <a:lnTo>
                    <a:pt x="0" y="683605"/>
                  </a:lnTo>
                  <a:close/>
                </a:path>
              </a:pathLst>
            </a:custGeom>
            <a:solidFill>
              <a:srgbClr val="1D1C2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816593" cy="7312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5550059"/>
            <a:ext cx="16230600" cy="3133725"/>
            <a:chOff x="0" y="0"/>
            <a:chExt cx="15104589" cy="29163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104590" cy="2916320"/>
            </a:xfrm>
            <a:custGeom>
              <a:avLst/>
              <a:gdLst/>
              <a:ahLst/>
              <a:cxnLst/>
              <a:rect r="r" b="b" t="t" l="l"/>
              <a:pathLst>
                <a:path h="2916320" w="15104590">
                  <a:moveTo>
                    <a:pt x="14866465" y="0"/>
                  </a:moveTo>
                  <a:lnTo>
                    <a:pt x="15104590" y="238125"/>
                  </a:lnTo>
                  <a:lnTo>
                    <a:pt x="15104590" y="2678195"/>
                  </a:lnTo>
                  <a:lnTo>
                    <a:pt x="14866465" y="2916320"/>
                  </a:lnTo>
                  <a:lnTo>
                    <a:pt x="238125" y="2916320"/>
                  </a:lnTo>
                  <a:lnTo>
                    <a:pt x="0" y="267819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14866465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27283F">
                    <a:alpha val="100000"/>
                  </a:srgbClr>
                </a:gs>
                <a:gs pos="100000">
                  <a:srgbClr val="121019">
                    <a:alpha val="100000"/>
                  </a:srgbClr>
                </a:gs>
              </a:gsLst>
              <a:lin ang="5400000"/>
            </a:gradFill>
            <a:ln w="9525" cap="sq">
              <a:gradFill>
                <a:gsLst>
                  <a:gs pos="0">
                    <a:srgbClr val="F9F4FF">
                      <a:alpha val="100000"/>
                    </a:srgbClr>
                  </a:gs>
                  <a:gs pos="100000">
                    <a:srgbClr val="F9F4FF">
                      <a:alpha val="245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63500" y="15875"/>
              <a:ext cx="14977589" cy="28369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5400000">
            <a:off x="11678253" y="3634390"/>
            <a:ext cx="5850586" cy="3254108"/>
            <a:chOff x="0" y="0"/>
            <a:chExt cx="1540895" cy="85704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540895" cy="857049"/>
            </a:xfrm>
            <a:custGeom>
              <a:avLst/>
              <a:gdLst/>
              <a:ahLst/>
              <a:cxnLst/>
              <a:rect r="r" b="b" t="t" l="l"/>
              <a:pathLst>
                <a:path h="857049" w="1540895">
                  <a:moveTo>
                    <a:pt x="0" y="0"/>
                  </a:moveTo>
                  <a:lnTo>
                    <a:pt x="1540895" y="0"/>
                  </a:lnTo>
                  <a:lnTo>
                    <a:pt x="1540895" y="857049"/>
                  </a:lnTo>
                  <a:lnTo>
                    <a:pt x="0" y="857049"/>
                  </a:lnTo>
                  <a:close/>
                </a:path>
              </a:pathLst>
            </a:custGeom>
            <a:gradFill rotWithShape="true">
              <a:gsLst>
                <a:gs pos="0">
                  <a:srgbClr val="C04AFF">
                    <a:alpha val="35000"/>
                  </a:srgbClr>
                </a:gs>
                <a:gs pos="100000">
                  <a:srgbClr val="C04A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540895" cy="9046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102000" y="6301235"/>
            <a:ext cx="3990700" cy="1631374"/>
            <a:chOff x="0" y="0"/>
            <a:chExt cx="678128" cy="2772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78128" cy="277215"/>
            </a:xfrm>
            <a:custGeom>
              <a:avLst/>
              <a:gdLst/>
              <a:ahLst/>
              <a:cxnLst/>
              <a:rect r="r" b="b" t="t" l="l"/>
              <a:pathLst>
                <a:path h="277215" w="678128">
                  <a:moveTo>
                    <a:pt x="0" y="0"/>
                  </a:moveTo>
                  <a:lnTo>
                    <a:pt x="678128" y="0"/>
                  </a:lnTo>
                  <a:lnTo>
                    <a:pt x="678128" y="277215"/>
                  </a:lnTo>
                  <a:lnTo>
                    <a:pt x="0" y="277215"/>
                  </a:lnTo>
                  <a:close/>
                </a:path>
              </a:pathLst>
            </a:custGeom>
            <a:gradFill rotWithShape="true">
              <a:gsLst>
                <a:gs pos="0">
                  <a:srgbClr val="C04AFF">
                    <a:alpha val="35000"/>
                  </a:srgbClr>
                </a:gs>
                <a:gs pos="100000">
                  <a:srgbClr val="C04A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678128" cy="3248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true" rot="0">
            <a:off x="11947792" y="4071937"/>
            <a:ext cx="5274259" cy="4114800"/>
          </a:xfrm>
          <a:custGeom>
            <a:avLst/>
            <a:gdLst/>
            <a:ahLst/>
            <a:cxnLst/>
            <a:rect r="r" b="b" t="t" l="l"/>
            <a:pathLst>
              <a:path h="4114800" w="5274259">
                <a:moveTo>
                  <a:pt x="0" y="4114800"/>
                </a:moveTo>
                <a:lnTo>
                  <a:pt x="5274259" y="4114800"/>
                </a:lnTo>
                <a:lnTo>
                  <a:pt x="5274259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true" flipV="false" rot="0">
            <a:off x="11752304" y="8034968"/>
            <a:ext cx="195487" cy="151769"/>
          </a:xfrm>
          <a:custGeom>
            <a:avLst/>
            <a:gdLst/>
            <a:ahLst/>
            <a:cxnLst/>
            <a:rect r="r" b="b" t="t" l="l"/>
            <a:pathLst>
              <a:path h="151769" w="195487">
                <a:moveTo>
                  <a:pt x="195488" y="0"/>
                </a:moveTo>
                <a:lnTo>
                  <a:pt x="0" y="0"/>
                </a:lnTo>
                <a:lnTo>
                  <a:pt x="0" y="151769"/>
                </a:lnTo>
                <a:lnTo>
                  <a:pt x="195488" y="151769"/>
                </a:lnTo>
                <a:lnTo>
                  <a:pt x="19548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7673227" y="-514350"/>
            <a:ext cx="2941547" cy="1028700"/>
            <a:chOff x="0" y="0"/>
            <a:chExt cx="1997346" cy="6985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97346" cy="698500"/>
            </a:xfrm>
            <a:custGeom>
              <a:avLst/>
              <a:gdLst/>
              <a:ahLst/>
              <a:cxnLst/>
              <a:rect r="r" b="b" t="t" l="l"/>
              <a:pathLst>
                <a:path h="698500" w="1997346">
                  <a:moveTo>
                    <a:pt x="1997346" y="349250"/>
                  </a:moveTo>
                  <a:lnTo>
                    <a:pt x="1794146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1794146" y="0"/>
                  </a:lnTo>
                  <a:lnTo>
                    <a:pt x="1997346" y="349250"/>
                  </a:lnTo>
                  <a:close/>
                </a:path>
              </a:pathLst>
            </a:custGeom>
            <a:gradFill rotWithShape="true">
              <a:gsLst>
                <a:gs pos="0">
                  <a:srgbClr val="C04AFF">
                    <a:alpha val="100000"/>
                  </a:srgbClr>
                </a:gs>
                <a:gs pos="100000">
                  <a:srgbClr val="DFBAFF">
                    <a:alpha val="100000"/>
                  </a:srgbClr>
                </a:gs>
              </a:gsLst>
              <a:lin ang="2700000"/>
            </a:gradFill>
            <a:ln w="19050" cap="sq">
              <a:gradFill>
                <a:gsLst>
                  <a:gs pos="0">
                    <a:srgbClr val="C04AFF">
                      <a:alpha val="100000"/>
                    </a:srgbClr>
                  </a:gs>
                  <a:gs pos="100000">
                    <a:srgbClr val="DFBAFF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114300" y="-47625"/>
              <a:ext cx="1768746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102000" y="6301235"/>
            <a:ext cx="148124" cy="1631374"/>
            <a:chOff x="0" y="0"/>
            <a:chExt cx="25170" cy="27721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5170" cy="277215"/>
            </a:xfrm>
            <a:custGeom>
              <a:avLst/>
              <a:gdLst/>
              <a:ahLst/>
              <a:cxnLst/>
              <a:rect r="r" b="b" t="t" l="l"/>
              <a:pathLst>
                <a:path h="277215" w="25170">
                  <a:moveTo>
                    <a:pt x="0" y="0"/>
                  </a:moveTo>
                  <a:lnTo>
                    <a:pt x="25170" y="0"/>
                  </a:lnTo>
                  <a:lnTo>
                    <a:pt x="25170" y="277215"/>
                  </a:lnTo>
                  <a:lnTo>
                    <a:pt x="0" y="277215"/>
                  </a:lnTo>
                  <a:close/>
                </a:path>
              </a:pathLst>
            </a:custGeom>
            <a:gradFill rotWithShape="true">
              <a:gsLst>
                <a:gs pos="0">
                  <a:srgbClr val="C04AFF">
                    <a:alpha val="100000"/>
                  </a:srgbClr>
                </a:gs>
                <a:gs pos="100000">
                  <a:srgbClr val="DFBA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25170" cy="3248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2102000" y="2164246"/>
            <a:ext cx="10431018" cy="3108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00"/>
              </a:lnSpc>
            </a:pPr>
            <a:r>
              <a:rPr lang="en-US" sz="8000" spc="-400">
                <a:solidFill>
                  <a:srgbClr val="F9F4FF"/>
                </a:solidFill>
                <a:latin typeface="Bicubik"/>
                <a:ea typeface="Bicubik"/>
                <a:cs typeface="Bicubik"/>
                <a:sym typeface="Bicubik"/>
              </a:rPr>
              <a:t>TYING THE (DATA) KNOT: LOVE, LIFE &amp; LIKES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251364" y="1487337"/>
            <a:ext cx="5007936" cy="1153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99"/>
              </a:lnSpc>
            </a:pPr>
            <a:r>
              <a:rPr lang="en-US" b="true" sz="2299" spc="-57">
                <a:solidFill>
                  <a:srgbClr val="F9F4FF"/>
                </a:solidFill>
                <a:latin typeface="Inter Bold"/>
                <a:ea typeface="Inter Bold"/>
                <a:cs typeface="Inter Bold"/>
                <a:sym typeface="Inter Bold"/>
              </a:rPr>
              <a:t>WIA1006 MACHIN</a:t>
            </a:r>
            <a:r>
              <a:rPr lang="en-US" b="true" sz="2299" spc="-57">
                <a:solidFill>
                  <a:srgbClr val="F9F4FF"/>
                </a:solidFill>
                <a:latin typeface="Inter Bold"/>
                <a:ea typeface="Inter Bold"/>
                <a:cs typeface="Inter Bold"/>
                <a:sym typeface="Inter Bold"/>
              </a:rPr>
              <a:t>E LEARNING</a:t>
            </a:r>
          </a:p>
          <a:p>
            <a:pPr algn="r">
              <a:lnSpc>
                <a:spcPts val="2299"/>
              </a:lnSpc>
            </a:pPr>
            <a:r>
              <a:rPr lang="en-US" b="true" sz="2299" spc="-57">
                <a:solidFill>
                  <a:srgbClr val="F9F4FF"/>
                </a:solidFill>
                <a:latin typeface="Inter Bold"/>
                <a:ea typeface="Inter Bold"/>
                <a:cs typeface="Inter Bold"/>
                <a:sym typeface="Inter Bold"/>
              </a:rPr>
              <a:t>SEMESTER 2 SESSION 2025/2026</a:t>
            </a:r>
          </a:p>
          <a:p>
            <a:pPr algn="r">
              <a:lnSpc>
                <a:spcPts val="2299"/>
              </a:lnSpc>
            </a:pPr>
            <a:r>
              <a:rPr lang="en-US" b="true" sz="2299" spc="-57">
                <a:solidFill>
                  <a:srgbClr val="F9F4FF"/>
                </a:solidFill>
                <a:latin typeface="Inter Bold"/>
                <a:ea typeface="Inter Bold"/>
                <a:cs typeface="Inter Bold"/>
                <a:sym typeface="Inter Bold"/>
              </a:rPr>
              <a:t>GROUP 3</a:t>
            </a:r>
          </a:p>
          <a:p>
            <a:pPr algn="r">
              <a:lnSpc>
                <a:spcPts val="2299"/>
              </a:lnSpc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2704569" y="6564472"/>
            <a:ext cx="6776263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EAE5DD"/>
                </a:solidFill>
                <a:latin typeface="Inter Light"/>
                <a:ea typeface="Inter Light"/>
                <a:cs typeface="Inter Light"/>
                <a:sym typeface="Inter Light"/>
              </a:rPr>
              <a:t>Predicting Relationship Connection Outcomes Using Machine Learning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7283F">
                <a:alpha val="100000"/>
              </a:srgbClr>
            </a:gs>
            <a:gs pos="100000">
              <a:srgbClr val="121019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23906" y="3405084"/>
            <a:ext cx="17240188" cy="5921843"/>
            <a:chOff x="0" y="0"/>
            <a:chExt cx="15104589" cy="51882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104590" cy="5188285"/>
            </a:xfrm>
            <a:custGeom>
              <a:avLst/>
              <a:gdLst/>
              <a:ahLst/>
              <a:cxnLst/>
              <a:rect r="r" b="b" t="t" l="l"/>
              <a:pathLst>
                <a:path h="5188285" w="15104590">
                  <a:moveTo>
                    <a:pt x="14866465" y="0"/>
                  </a:moveTo>
                  <a:lnTo>
                    <a:pt x="15104590" y="238125"/>
                  </a:lnTo>
                  <a:lnTo>
                    <a:pt x="15104590" y="4950160"/>
                  </a:lnTo>
                  <a:lnTo>
                    <a:pt x="14866465" y="5188285"/>
                  </a:lnTo>
                  <a:lnTo>
                    <a:pt x="238125" y="5188285"/>
                  </a:lnTo>
                  <a:lnTo>
                    <a:pt x="0" y="4950160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14866465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27283F">
                    <a:alpha val="100000"/>
                  </a:srgbClr>
                </a:gs>
                <a:gs pos="100000">
                  <a:srgbClr val="121019">
                    <a:alpha val="100000"/>
                  </a:srgbClr>
                </a:gs>
              </a:gsLst>
              <a:lin ang="5400000"/>
            </a:gradFill>
            <a:ln w="9525" cap="sq">
              <a:gradFill>
                <a:gsLst>
                  <a:gs pos="0">
                    <a:srgbClr val="F9F4FF">
                      <a:alpha val="100000"/>
                    </a:srgbClr>
                  </a:gs>
                  <a:gs pos="100000">
                    <a:srgbClr val="F9F4FF">
                      <a:alpha val="245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63500" y="15875"/>
              <a:ext cx="14977589" cy="51089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02064" y="4252315"/>
            <a:ext cx="6113095" cy="4378863"/>
            <a:chOff x="0" y="0"/>
            <a:chExt cx="1186187" cy="84967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86187" cy="849676"/>
            </a:xfrm>
            <a:custGeom>
              <a:avLst/>
              <a:gdLst/>
              <a:ahLst/>
              <a:cxnLst/>
              <a:rect r="r" b="b" t="t" l="l"/>
              <a:pathLst>
                <a:path h="849676" w="1186187">
                  <a:moveTo>
                    <a:pt x="0" y="0"/>
                  </a:moveTo>
                  <a:lnTo>
                    <a:pt x="1186187" y="0"/>
                  </a:lnTo>
                  <a:lnTo>
                    <a:pt x="1186187" y="849676"/>
                  </a:lnTo>
                  <a:lnTo>
                    <a:pt x="0" y="849676"/>
                  </a:lnTo>
                  <a:close/>
                </a:path>
              </a:pathLst>
            </a:custGeom>
            <a:gradFill rotWithShape="true">
              <a:gsLst>
                <a:gs pos="0">
                  <a:srgbClr val="C04AFF">
                    <a:alpha val="35000"/>
                  </a:srgbClr>
                </a:gs>
                <a:gs pos="100000">
                  <a:srgbClr val="C04A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186187" cy="8973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4252315"/>
            <a:ext cx="146728" cy="4378863"/>
            <a:chOff x="0" y="0"/>
            <a:chExt cx="28471" cy="84967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8471" cy="849676"/>
            </a:xfrm>
            <a:custGeom>
              <a:avLst/>
              <a:gdLst/>
              <a:ahLst/>
              <a:cxnLst/>
              <a:rect r="r" b="b" t="t" l="l"/>
              <a:pathLst>
                <a:path h="849676" w="28471">
                  <a:moveTo>
                    <a:pt x="0" y="0"/>
                  </a:moveTo>
                  <a:lnTo>
                    <a:pt x="28471" y="0"/>
                  </a:lnTo>
                  <a:lnTo>
                    <a:pt x="28471" y="849676"/>
                  </a:lnTo>
                  <a:lnTo>
                    <a:pt x="0" y="849676"/>
                  </a:lnTo>
                  <a:close/>
                </a:path>
              </a:pathLst>
            </a:custGeom>
            <a:gradFill rotWithShape="true">
              <a:gsLst>
                <a:gs pos="0">
                  <a:srgbClr val="C04AFF">
                    <a:alpha val="100000"/>
                  </a:srgbClr>
                </a:gs>
                <a:gs pos="100000">
                  <a:srgbClr val="DFBA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8471" cy="8973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231251" y="1351387"/>
            <a:ext cx="17825499" cy="1397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00"/>
              </a:lnSpc>
            </a:pPr>
            <a:r>
              <a:rPr lang="en-US" sz="10400" spc="-520">
                <a:solidFill>
                  <a:srgbClr val="F9F4FF"/>
                </a:solidFill>
                <a:latin typeface="Bicubik"/>
                <a:ea typeface="Bicubik"/>
                <a:cs typeface="Bicubik"/>
                <a:sym typeface="Bicubik"/>
              </a:rPr>
              <a:t>P</a:t>
            </a:r>
            <a:r>
              <a:rPr lang="en-US" sz="10400" spc="-520">
                <a:solidFill>
                  <a:srgbClr val="F9F4FF"/>
                </a:solidFill>
                <a:latin typeface="Bicubik"/>
                <a:ea typeface="Bicubik"/>
                <a:cs typeface="Bicubik"/>
                <a:sym typeface="Bicubik"/>
              </a:rPr>
              <a:t>ROJECT OVERVIEW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705752">
            <a:off x="14876944" y="6880775"/>
            <a:ext cx="3734136" cy="4092203"/>
          </a:xfrm>
          <a:custGeom>
            <a:avLst/>
            <a:gdLst/>
            <a:ahLst/>
            <a:cxnLst/>
            <a:rect r="r" b="b" t="t" l="l"/>
            <a:pathLst>
              <a:path h="4092203" w="3734136">
                <a:moveTo>
                  <a:pt x="0" y="0"/>
                </a:moveTo>
                <a:lnTo>
                  <a:pt x="3734135" y="0"/>
                </a:lnTo>
                <a:lnTo>
                  <a:pt x="3734135" y="4092204"/>
                </a:lnTo>
                <a:lnTo>
                  <a:pt x="0" y="40922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028700" y="2890734"/>
            <a:ext cx="16230600" cy="1028700"/>
            <a:chOff x="0" y="0"/>
            <a:chExt cx="11020778" cy="6985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020778" cy="698500"/>
            </a:xfrm>
            <a:custGeom>
              <a:avLst/>
              <a:gdLst/>
              <a:ahLst/>
              <a:cxnLst/>
              <a:rect r="r" b="b" t="t" l="l"/>
              <a:pathLst>
                <a:path h="698500" w="11020778">
                  <a:moveTo>
                    <a:pt x="11020778" y="349250"/>
                  </a:moveTo>
                  <a:lnTo>
                    <a:pt x="10817578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10817578" y="0"/>
                  </a:lnTo>
                  <a:lnTo>
                    <a:pt x="11020778" y="349250"/>
                  </a:lnTo>
                  <a:close/>
                </a:path>
              </a:pathLst>
            </a:custGeom>
            <a:solidFill>
              <a:srgbClr val="121019"/>
            </a:solidFill>
            <a:ln w="19050" cap="sq">
              <a:gradFill>
                <a:gsLst>
                  <a:gs pos="0">
                    <a:srgbClr val="C04AFF">
                      <a:alpha val="100000"/>
                    </a:srgbClr>
                  </a:gs>
                  <a:gs pos="100000">
                    <a:srgbClr val="DFBAFF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114300" y="-47625"/>
              <a:ext cx="10792178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566293" y="3086314"/>
            <a:ext cx="15385189" cy="675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sz="2599" spc="-64">
                <a:solidFill>
                  <a:srgbClr val="EAE5DD"/>
                </a:solidFill>
                <a:latin typeface="Arimo"/>
                <a:ea typeface="Arimo"/>
                <a:cs typeface="Arimo"/>
                <a:sym typeface="Arimo"/>
              </a:rPr>
              <a:t>THIS PROJECT AIMS TO PREDICT WHETHER A DATING APP INTERACTION WILL LEAD TO A SUCCESSFUL CONNECTION.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7673227" y="-514350"/>
            <a:ext cx="2941547" cy="1028700"/>
            <a:chOff x="0" y="0"/>
            <a:chExt cx="1997346" cy="6985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97346" cy="698500"/>
            </a:xfrm>
            <a:custGeom>
              <a:avLst/>
              <a:gdLst/>
              <a:ahLst/>
              <a:cxnLst/>
              <a:rect r="r" b="b" t="t" l="l"/>
              <a:pathLst>
                <a:path h="698500" w="1997346">
                  <a:moveTo>
                    <a:pt x="1997346" y="349250"/>
                  </a:moveTo>
                  <a:lnTo>
                    <a:pt x="1794146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1794146" y="0"/>
                  </a:lnTo>
                  <a:lnTo>
                    <a:pt x="1997346" y="349250"/>
                  </a:lnTo>
                  <a:close/>
                </a:path>
              </a:pathLst>
            </a:custGeom>
            <a:gradFill rotWithShape="true">
              <a:gsLst>
                <a:gs pos="0">
                  <a:srgbClr val="C04AFF">
                    <a:alpha val="100000"/>
                  </a:srgbClr>
                </a:gs>
                <a:gs pos="100000">
                  <a:srgbClr val="DFBAFF">
                    <a:alpha val="100000"/>
                  </a:srgbClr>
                </a:gs>
              </a:gsLst>
              <a:lin ang="2700000"/>
            </a:gradFill>
            <a:ln w="19050" cap="sq">
              <a:gradFill>
                <a:gsLst>
                  <a:gs pos="0">
                    <a:srgbClr val="C04AFF">
                      <a:alpha val="100000"/>
                    </a:srgbClr>
                  </a:gs>
                  <a:gs pos="100000">
                    <a:srgbClr val="DFBAFF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114300" y="-47625"/>
              <a:ext cx="1768746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320906" y="4436525"/>
            <a:ext cx="11973604" cy="3948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9F4FF"/>
                </a:solidFill>
                <a:latin typeface="Inter Light"/>
                <a:ea typeface="Inter Light"/>
                <a:cs typeface="Inter Light"/>
                <a:sym typeface="Inter Light"/>
              </a:rPr>
              <a:t>Using a dataset of 50,000 dating profiles, we developed an end-to-end machine learning pipeline involving:</a:t>
            </a:r>
          </a:p>
          <a:p>
            <a:pPr algn="l" marL="604515" indent="-302257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9F4FF"/>
                </a:solidFill>
                <a:latin typeface="Inter Light"/>
                <a:ea typeface="Inter Light"/>
                <a:cs typeface="Inter Light"/>
                <a:sym typeface="Inter Light"/>
              </a:rPr>
              <a:t>Data preprocessing</a:t>
            </a:r>
          </a:p>
          <a:p>
            <a:pPr algn="l" marL="604515" indent="-302257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9F4FF"/>
                </a:solidFill>
                <a:latin typeface="Inter Light"/>
                <a:ea typeface="Inter Light"/>
                <a:cs typeface="Inter Light"/>
                <a:sym typeface="Inter Light"/>
              </a:rPr>
              <a:t>Feature engineering</a:t>
            </a:r>
          </a:p>
          <a:p>
            <a:pPr algn="l" marL="604515" indent="-302257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9F4FF"/>
                </a:solidFill>
                <a:latin typeface="Inter Light"/>
                <a:ea typeface="Inter Light"/>
                <a:cs typeface="Inter Light"/>
                <a:sym typeface="Inter Light"/>
              </a:rPr>
              <a:t>Feature selection</a:t>
            </a:r>
          </a:p>
          <a:p>
            <a:pPr algn="l" marL="604515" indent="-302257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9F4FF"/>
                </a:solidFill>
                <a:latin typeface="Inter Light"/>
                <a:ea typeface="Inter Light"/>
                <a:cs typeface="Inter Light"/>
                <a:sym typeface="Inter Light"/>
              </a:rPr>
              <a:t>Model training</a:t>
            </a:r>
          </a:p>
          <a:p>
            <a:pPr algn="l" marL="604515" indent="-302257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9F4FF"/>
                </a:solidFill>
                <a:latin typeface="Inter Light"/>
                <a:ea typeface="Inter Light"/>
                <a:cs typeface="Inter Light"/>
                <a:sym typeface="Inter Light"/>
              </a:rPr>
              <a:t>Explainable AI</a:t>
            </a:r>
          </a:p>
          <a:p>
            <a:pPr algn="l" marL="604515" indent="-302257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9F4FF"/>
                </a:solidFill>
                <a:latin typeface="Inter Light"/>
                <a:ea typeface="Inter Light"/>
                <a:cs typeface="Inter Light"/>
                <a:sym typeface="Inter Light"/>
              </a:rPr>
              <a:t>Causal inference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7283F">
                <a:alpha val="100000"/>
              </a:srgbClr>
            </a:gs>
            <a:gs pos="100000">
              <a:srgbClr val="121019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4651490"/>
            <a:ext cx="7476132" cy="3919572"/>
            <a:chOff x="0" y="0"/>
            <a:chExt cx="7370369" cy="38641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370370" cy="3864123"/>
            </a:xfrm>
            <a:custGeom>
              <a:avLst/>
              <a:gdLst/>
              <a:ahLst/>
              <a:cxnLst/>
              <a:rect r="r" b="b" t="t" l="l"/>
              <a:pathLst>
                <a:path h="3864123" w="7370370">
                  <a:moveTo>
                    <a:pt x="7132245" y="0"/>
                  </a:moveTo>
                  <a:lnTo>
                    <a:pt x="7370370" y="238125"/>
                  </a:lnTo>
                  <a:lnTo>
                    <a:pt x="7370370" y="3625998"/>
                  </a:lnTo>
                  <a:lnTo>
                    <a:pt x="7132245" y="3864123"/>
                  </a:lnTo>
                  <a:lnTo>
                    <a:pt x="238125" y="3864123"/>
                  </a:lnTo>
                  <a:lnTo>
                    <a:pt x="0" y="3625998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7132245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27283F">
                    <a:alpha val="100000"/>
                  </a:srgbClr>
                </a:gs>
                <a:gs pos="100000">
                  <a:srgbClr val="121019">
                    <a:alpha val="100000"/>
                  </a:srgbClr>
                </a:gs>
              </a:gsLst>
              <a:lin ang="5400000"/>
            </a:gradFill>
            <a:ln w="9525" cap="sq">
              <a:gradFill>
                <a:gsLst>
                  <a:gs pos="0">
                    <a:srgbClr val="F9F4FF">
                      <a:alpha val="100000"/>
                    </a:srgbClr>
                  </a:gs>
                  <a:gs pos="100000">
                    <a:srgbClr val="F9F4FF">
                      <a:alpha val="245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63500" y="15875"/>
              <a:ext cx="7243369" cy="3784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true" rot="0">
            <a:off x="17063813" y="1563913"/>
            <a:ext cx="195487" cy="151769"/>
          </a:xfrm>
          <a:custGeom>
            <a:avLst/>
            <a:gdLst/>
            <a:ahLst/>
            <a:cxnLst/>
            <a:rect r="r" b="b" t="t" l="l"/>
            <a:pathLst>
              <a:path h="151769" w="195487">
                <a:moveTo>
                  <a:pt x="195487" y="151769"/>
                </a:moveTo>
                <a:lnTo>
                  <a:pt x="0" y="151769"/>
                </a:lnTo>
                <a:lnTo>
                  <a:pt x="0" y="0"/>
                </a:lnTo>
                <a:lnTo>
                  <a:pt x="195487" y="0"/>
                </a:lnTo>
                <a:lnTo>
                  <a:pt x="195487" y="15176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059518" y="1639798"/>
            <a:ext cx="5275599" cy="4878004"/>
            <a:chOff x="0" y="0"/>
            <a:chExt cx="828892" cy="76642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28892" cy="766423"/>
            </a:xfrm>
            <a:custGeom>
              <a:avLst/>
              <a:gdLst/>
              <a:ahLst/>
              <a:cxnLst/>
              <a:rect r="r" b="b" t="t" l="l"/>
              <a:pathLst>
                <a:path h="766423" w="828892">
                  <a:moveTo>
                    <a:pt x="0" y="0"/>
                  </a:moveTo>
                  <a:lnTo>
                    <a:pt x="828892" y="0"/>
                  </a:lnTo>
                  <a:lnTo>
                    <a:pt x="828892" y="766423"/>
                  </a:lnTo>
                  <a:lnTo>
                    <a:pt x="0" y="766423"/>
                  </a:lnTo>
                  <a:close/>
                </a:path>
              </a:pathLst>
            </a:custGeom>
            <a:blipFill>
              <a:blip r:embed="rId4"/>
              <a:stretch>
                <a:fillRect l="0" t="-4295" r="0" b="-5778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673227" y="-514350"/>
            <a:ext cx="2941547" cy="1028700"/>
            <a:chOff x="0" y="0"/>
            <a:chExt cx="1997346" cy="698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97346" cy="698500"/>
            </a:xfrm>
            <a:custGeom>
              <a:avLst/>
              <a:gdLst/>
              <a:ahLst/>
              <a:cxnLst/>
              <a:rect r="r" b="b" t="t" l="l"/>
              <a:pathLst>
                <a:path h="698500" w="1997346">
                  <a:moveTo>
                    <a:pt x="1997346" y="349250"/>
                  </a:moveTo>
                  <a:lnTo>
                    <a:pt x="1794146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1794146" y="0"/>
                  </a:lnTo>
                  <a:lnTo>
                    <a:pt x="1997346" y="349250"/>
                  </a:lnTo>
                  <a:close/>
                </a:path>
              </a:pathLst>
            </a:custGeom>
            <a:gradFill rotWithShape="true">
              <a:gsLst>
                <a:gs pos="0">
                  <a:srgbClr val="C04AFF">
                    <a:alpha val="100000"/>
                  </a:srgbClr>
                </a:gs>
                <a:gs pos="100000">
                  <a:srgbClr val="DFBAFF">
                    <a:alpha val="100000"/>
                  </a:srgbClr>
                </a:gs>
              </a:gsLst>
              <a:lin ang="2700000"/>
            </a:gradFill>
            <a:ln w="19050" cap="sq">
              <a:gradFill>
                <a:gsLst>
                  <a:gs pos="0">
                    <a:srgbClr val="C04AFF">
                      <a:alpha val="100000"/>
                    </a:srgbClr>
                  </a:gs>
                  <a:gs pos="100000">
                    <a:srgbClr val="DFBAFF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114300" y="-47625"/>
              <a:ext cx="1768746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012401" y="7800635"/>
            <a:ext cx="4897823" cy="1305895"/>
            <a:chOff x="0" y="0"/>
            <a:chExt cx="1308212" cy="34880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08212" cy="348806"/>
            </a:xfrm>
            <a:custGeom>
              <a:avLst/>
              <a:gdLst/>
              <a:ahLst/>
              <a:cxnLst/>
              <a:rect r="r" b="b" t="t" l="l"/>
              <a:pathLst>
                <a:path h="348806" w="1308212">
                  <a:moveTo>
                    <a:pt x="0" y="0"/>
                  </a:moveTo>
                  <a:lnTo>
                    <a:pt x="1308212" y="0"/>
                  </a:lnTo>
                  <a:lnTo>
                    <a:pt x="1308212" y="348806"/>
                  </a:lnTo>
                  <a:lnTo>
                    <a:pt x="0" y="348806"/>
                  </a:lnTo>
                  <a:close/>
                </a:path>
              </a:pathLst>
            </a:custGeom>
            <a:gradFill rotWithShape="true">
              <a:gsLst>
                <a:gs pos="0">
                  <a:srgbClr val="C04AFF">
                    <a:alpha val="35000"/>
                  </a:srgbClr>
                </a:gs>
                <a:gs pos="100000">
                  <a:srgbClr val="C04A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308212" cy="3964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012401" y="7800635"/>
            <a:ext cx="94235" cy="1305895"/>
            <a:chOff x="0" y="0"/>
            <a:chExt cx="25170" cy="34880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170" cy="348806"/>
            </a:xfrm>
            <a:custGeom>
              <a:avLst/>
              <a:gdLst/>
              <a:ahLst/>
              <a:cxnLst/>
              <a:rect r="r" b="b" t="t" l="l"/>
              <a:pathLst>
                <a:path h="348806" w="25170">
                  <a:moveTo>
                    <a:pt x="0" y="0"/>
                  </a:moveTo>
                  <a:lnTo>
                    <a:pt x="25170" y="0"/>
                  </a:lnTo>
                  <a:lnTo>
                    <a:pt x="25170" y="348806"/>
                  </a:lnTo>
                  <a:lnTo>
                    <a:pt x="0" y="348806"/>
                  </a:lnTo>
                  <a:close/>
                </a:path>
              </a:pathLst>
            </a:custGeom>
            <a:gradFill rotWithShape="true">
              <a:gsLst>
                <a:gs pos="0">
                  <a:srgbClr val="C04AFF">
                    <a:alpha val="100000"/>
                  </a:srgbClr>
                </a:gs>
                <a:gs pos="100000">
                  <a:srgbClr val="DFBA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25170" cy="3964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026525" y="9106531"/>
            <a:ext cx="195487" cy="151769"/>
          </a:xfrm>
          <a:custGeom>
            <a:avLst/>
            <a:gdLst/>
            <a:ahLst/>
            <a:cxnLst/>
            <a:rect r="r" b="b" t="t" l="l"/>
            <a:pathLst>
              <a:path h="151769" w="195487">
                <a:moveTo>
                  <a:pt x="0" y="0"/>
                </a:moveTo>
                <a:lnTo>
                  <a:pt x="195487" y="0"/>
                </a:lnTo>
                <a:lnTo>
                  <a:pt x="195487" y="151769"/>
                </a:lnTo>
                <a:lnTo>
                  <a:pt x="0" y="1517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6699028" y="7163535"/>
            <a:ext cx="1120543" cy="3123465"/>
          </a:xfrm>
          <a:custGeom>
            <a:avLst/>
            <a:gdLst/>
            <a:ahLst/>
            <a:cxnLst/>
            <a:rect r="r" b="b" t="t" l="l"/>
            <a:pathLst>
              <a:path h="3123465" w="1120543">
                <a:moveTo>
                  <a:pt x="0" y="0"/>
                </a:moveTo>
                <a:lnTo>
                  <a:pt x="1120544" y="0"/>
                </a:lnTo>
                <a:lnTo>
                  <a:pt x="1120544" y="3123465"/>
                </a:lnTo>
                <a:lnTo>
                  <a:pt x="0" y="31234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028700" y="1935630"/>
            <a:ext cx="7463635" cy="2369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98"/>
              </a:lnSpc>
            </a:pPr>
            <a:r>
              <a:rPr lang="en-US" sz="9098" spc="-454">
                <a:solidFill>
                  <a:srgbClr val="F9F4FF"/>
                </a:solidFill>
                <a:latin typeface="Bicubik"/>
                <a:ea typeface="Bicubik"/>
                <a:cs typeface="Bicubik"/>
                <a:sym typeface="Bicubik"/>
              </a:rPr>
              <a:t>PROBL</a:t>
            </a:r>
            <a:r>
              <a:rPr lang="en-US" sz="9098" spc="-454">
                <a:solidFill>
                  <a:srgbClr val="F9F4FF"/>
                </a:solidFill>
                <a:latin typeface="Bicubik"/>
                <a:ea typeface="Bicubik"/>
                <a:cs typeface="Bicubik"/>
                <a:sym typeface="Bicubik"/>
              </a:rPr>
              <a:t>EM STATEMENT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46833" y="4869116"/>
            <a:ext cx="7027369" cy="2930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2"/>
              </a:lnSpc>
            </a:pPr>
            <a:r>
              <a:rPr lang="en-US" sz="2759">
                <a:solidFill>
                  <a:srgbClr val="EAE5DD"/>
                </a:solidFill>
                <a:latin typeface="Inter Light"/>
                <a:ea typeface="Inter Light"/>
                <a:cs typeface="Inter Light"/>
                <a:sym typeface="Inter Light"/>
              </a:rPr>
              <a:t>Dating platforms rely heavily on recommendation systems.</a:t>
            </a:r>
          </a:p>
          <a:p>
            <a:pPr algn="l">
              <a:lnSpc>
                <a:spcPts val="3862"/>
              </a:lnSpc>
            </a:pPr>
            <a:r>
              <a:rPr lang="en-US" sz="2759">
                <a:solidFill>
                  <a:srgbClr val="EAE5DD"/>
                </a:solidFill>
                <a:latin typeface="Inter Light"/>
                <a:ea typeface="Inter Light"/>
                <a:cs typeface="Inter Light"/>
                <a:sym typeface="Inter Light"/>
              </a:rPr>
              <a:t>However:</a:t>
            </a:r>
          </a:p>
          <a:p>
            <a:pPr algn="l" marL="595691" indent="-297845" lvl="1">
              <a:lnSpc>
                <a:spcPts val="3862"/>
              </a:lnSpc>
              <a:buFont typeface="Arial"/>
              <a:buChar char="•"/>
            </a:pPr>
            <a:r>
              <a:rPr lang="en-US" sz="2759">
                <a:solidFill>
                  <a:srgbClr val="EAE5DD"/>
                </a:solidFill>
                <a:latin typeface="Inter Light"/>
                <a:ea typeface="Inter Light"/>
                <a:cs typeface="Inter Light"/>
                <a:sym typeface="Inter Light"/>
              </a:rPr>
              <a:t>User behaviour is highly complex</a:t>
            </a:r>
          </a:p>
          <a:p>
            <a:pPr algn="l" marL="595691" indent="-297845" lvl="1">
              <a:lnSpc>
                <a:spcPts val="3862"/>
              </a:lnSpc>
              <a:buFont typeface="Arial"/>
              <a:buChar char="•"/>
            </a:pPr>
            <a:r>
              <a:rPr lang="en-US" sz="2759">
                <a:solidFill>
                  <a:srgbClr val="EAE5DD"/>
                </a:solidFill>
                <a:latin typeface="Inter Light"/>
                <a:ea typeface="Inter Light"/>
                <a:cs typeface="Inter Light"/>
                <a:sym typeface="Inter Light"/>
              </a:rPr>
              <a:t>Many variables influence relationships</a:t>
            </a:r>
          </a:p>
          <a:p>
            <a:pPr algn="l" marL="595691" indent="-297845" lvl="1">
              <a:lnSpc>
                <a:spcPts val="3862"/>
              </a:lnSpc>
              <a:buFont typeface="Arial"/>
              <a:buChar char="•"/>
            </a:pPr>
            <a:r>
              <a:rPr lang="en-US" sz="2759">
                <a:solidFill>
                  <a:srgbClr val="EAE5DD"/>
                </a:solidFill>
                <a:latin typeface="Inter Light"/>
                <a:ea typeface="Inter Light"/>
                <a:cs typeface="Inter Light"/>
                <a:sym typeface="Inter Light"/>
              </a:rPr>
              <a:t>Correlation does not imply causation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072912" y="7806608"/>
            <a:ext cx="6550156" cy="123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3"/>
              </a:lnSpc>
              <a:spcBef>
                <a:spcPct val="0"/>
              </a:spcBef>
            </a:pPr>
            <a:r>
              <a:rPr lang="en-US" sz="2366">
                <a:solidFill>
                  <a:srgbClr val="EAE5DD"/>
                </a:solidFill>
                <a:latin typeface="Arimo"/>
                <a:ea typeface="Arimo"/>
                <a:cs typeface="Arimo"/>
                <a:sym typeface="Arimo"/>
              </a:rPr>
              <a:t>Can machine learning accurately predict successful relationship outcomes using behavioural and demographic information?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165375" y="7002756"/>
            <a:ext cx="3014811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FFFFFF"/>
                </a:solidFill>
                <a:latin typeface="Handelson Six"/>
                <a:ea typeface="Handelson Six"/>
                <a:cs typeface="Handelson Six"/>
                <a:sym typeface="Handelson Six"/>
              </a:rPr>
              <a:t>Key Question: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7283F">
                <a:alpha val="100000"/>
              </a:srgbClr>
            </a:gs>
            <a:gs pos="100000">
              <a:srgbClr val="121019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827846" y="29301"/>
            <a:ext cx="7460154" cy="10287000"/>
            <a:chOff x="0" y="0"/>
            <a:chExt cx="1964814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64814" cy="2709333"/>
            </a:xfrm>
            <a:custGeom>
              <a:avLst/>
              <a:gdLst/>
              <a:ahLst/>
              <a:cxnLst/>
              <a:rect r="r" b="b" t="t" l="l"/>
              <a:pathLst>
                <a:path h="2709333" w="1964814">
                  <a:moveTo>
                    <a:pt x="0" y="0"/>
                  </a:moveTo>
                  <a:lnTo>
                    <a:pt x="1964814" y="0"/>
                  </a:lnTo>
                  <a:lnTo>
                    <a:pt x="196481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D1C2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964814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3812017"/>
            <a:ext cx="7436737" cy="5537723"/>
            <a:chOff x="0" y="0"/>
            <a:chExt cx="7100221" cy="528713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100221" cy="5287138"/>
            </a:xfrm>
            <a:custGeom>
              <a:avLst/>
              <a:gdLst/>
              <a:ahLst/>
              <a:cxnLst/>
              <a:rect r="r" b="b" t="t" l="l"/>
              <a:pathLst>
                <a:path h="5287138" w="7100221">
                  <a:moveTo>
                    <a:pt x="6862096" y="0"/>
                  </a:moveTo>
                  <a:lnTo>
                    <a:pt x="7100221" y="238125"/>
                  </a:lnTo>
                  <a:lnTo>
                    <a:pt x="7100221" y="5049013"/>
                  </a:lnTo>
                  <a:lnTo>
                    <a:pt x="6862096" y="5287138"/>
                  </a:lnTo>
                  <a:lnTo>
                    <a:pt x="238125" y="5287138"/>
                  </a:lnTo>
                  <a:lnTo>
                    <a:pt x="0" y="5049013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6862096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27283F">
                    <a:alpha val="100000"/>
                  </a:srgbClr>
                </a:gs>
                <a:gs pos="100000">
                  <a:srgbClr val="121019">
                    <a:alpha val="100000"/>
                  </a:srgbClr>
                </a:gs>
              </a:gsLst>
              <a:lin ang="5400000"/>
            </a:gradFill>
            <a:ln w="9525" cap="sq">
              <a:gradFill>
                <a:gsLst>
                  <a:gs pos="0">
                    <a:srgbClr val="F9F4FF">
                      <a:alpha val="100000"/>
                    </a:srgbClr>
                  </a:gs>
                  <a:gs pos="100000">
                    <a:srgbClr val="F9F4FF">
                      <a:alpha val="245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63500" y="15875"/>
              <a:ext cx="6973221" cy="52077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673227" y="-514350"/>
            <a:ext cx="2941547" cy="1028700"/>
            <a:chOff x="0" y="0"/>
            <a:chExt cx="1997346" cy="698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97346" cy="698500"/>
            </a:xfrm>
            <a:custGeom>
              <a:avLst/>
              <a:gdLst/>
              <a:ahLst/>
              <a:cxnLst/>
              <a:rect r="r" b="b" t="t" l="l"/>
              <a:pathLst>
                <a:path h="698500" w="1997346">
                  <a:moveTo>
                    <a:pt x="1997346" y="349250"/>
                  </a:moveTo>
                  <a:lnTo>
                    <a:pt x="1794146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1794146" y="0"/>
                  </a:lnTo>
                  <a:lnTo>
                    <a:pt x="1997346" y="349250"/>
                  </a:lnTo>
                  <a:close/>
                </a:path>
              </a:pathLst>
            </a:custGeom>
            <a:gradFill rotWithShape="true">
              <a:gsLst>
                <a:gs pos="0">
                  <a:srgbClr val="C04AFF">
                    <a:alpha val="100000"/>
                  </a:srgbClr>
                </a:gs>
                <a:gs pos="100000">
                  <a:srgbClr val="DFBAFF">
                    <a:alpha val="100000"/>
                  </a:srgbClr>
                </a:gs>
              </a:gsLst>
              <a:lin ang="2700000"/>
            </a:gradFill>
            <a:ln w="19050" cap="sq">
              <a:gradFill>
                <a:gsLst>
                  <a:gs pos="0">
                    <a:srgbClr val="C04AFF">
                      <a:alpha val="100000"/>
                    </a:srgbClr>
                  </a:gs>
                  <a:gs pos="100000">
                    <a:srgbClr val="DFBAFF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114300" y="-47625"/>
              <a:ext cx="1768746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true" rot="0">
            <a:off x="11881565" y="660858"/>
            <a:ext cx="227915" cy="176945"/>
          </a:xfrm>
          <a:custGeom>
            <a:avLst/>
            <a:gdLst/>
            <a:ahLst/>
            <a:cxnLst/>
            <a:rect r="r" b="b" t="t" l="l"/>
            <a:pathLst>
              <a:path h="176945" w="227915">
                <a:moveTo>
                  <a:pt x="0" y="176945"/>
                </a:moveTo>
                <a:lnTo>
                  <a:pt x="227915" y="176945"/>
                </a:lnTo>
                <a:lnTo>
                  <a:pt x="227915" y="0"/>
                </a:lnTo>
                <a:lnTo>
                  <a:pt x="0" y="0"/>
                </a:lnTo>
                <a:lnTo>
                  <a:pt x="0" y="17694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0">
            <a:off x="17259300" y="9561827"/>
            <a:ext cx="227915" cy="176945"/>
          </a:xfrm>
          <a:custGeom>
            <a:avLst/>
            <a:gdLst/>
            <a:ahLst/>
            <a:cxnLst/>
            <a:rect r="r" b="b" t="t" l="l"/>
            <a:pathLst>
              <a:path h="176945" w="227915">
                <a:moveTo>
                  <a:pt x="227915" y="0"/>
                </a:moveTo>
                <a:lnTo>
                  <a:pt x="0" y="0"/>
                </a:lnTo>
                <a:lnTo>
                  <a:pt x="0" y="176945"/>
                </a:lnTo>
                <a:lnTo>
                  <a:pt x="227915" y="176945"/>
                </a:lnTo>
                <a:lnTo>
                  <a:pt x="22791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9660170" y="4112520"/>
            <a:ext cx="2335353" cy="5145780"/>
            <a:chOff x="0" y="0"/>
            <a:chExt cx="615072" cy="135526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15072" cy="1355267"/>
            </a:xfrm>
            <a:custGeom>
              <a:avLst/>
              <a:gdLst/>
              <a:ahLst/>
              <a:cxnLst/>
              <a:rect r="r" b="b" t="t" l="l"/>
              <a:pathLst>
                <a:path h="1355267" w="615072">
                  <a:moveTo>
                    <a:pt x="0" y="0"/>
                  </a:moveTo>
                  <a:lnTo>
                    <a:pt x="615072" y="0"/>
                  </a:lnTo>
                  <a:lnTo>
                    <a:pt x="615072" y="1355267"/>
                  </a:lnTo>
                  <a:lnTo>
                    <a:pt x="0" y="1355267"/>
                  </a:lnTo>
                  <a:close/>
                </a:path>
              </a:pathLst>
            </a:custGeom>
            <a:gradFill rotWithShape="true">
              <a:gsLst>
                <a:gs pos="0">
                  <a:srgbClr val="C04AFF">
                    <a:alpha val="35000"/>
                  </a:srgbClr>
                </a:gs>
                <a:gs pos="100000">
                  <a:srgbClr val="C04A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615072" cy="14028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519169" y="4112520"/>
            <a:ext cx="2415477" cy="1995780"/>
            <a:chOff x="0" y="0"/>
            <a:chExt cx="558844" cy="46174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58844" cy="461743"/>
            </a:xfrm>
            <a:custGeom>
              <a:avLst/>
              <a:gdLst/>
              <a:ahLst/>
              <a:cxnLst/>
              <a:rect r="r" b="b" t="t" l="l"/>
              <a:pathLst>
                <a:path h="461743" w="558844">
                  <a:moveTo>
                    <a:pt x="163462" y="0"/>
                  </a:moveTo>
                  <a:lnTo>
                    <a:pt x="395382" y="0"/>
                  </a:lnTo>
                  <a:cubicBezTo>
                    <a:pt x="438735" y="0"/>
                    <a:pt x="480312" y="17222"/>
                    <a:pt x="510967" y="47877"/>
                  </a:cubicBezTo>
                  <a:cubicBezTo>
                    <a:pt x="541622" y="78532"/>
                    <a:pt x="558844" y="120109"/>
                    <a:pt x="558844" y="163462"/>
                  </a:cubicBezTo>
                  <a:lnTo>
                    <a:pt x="558844" y="298281"/>
                  </a:lnTo>
                  <a:cubicBezTo>
                    <a:pt x="558844" y="341634"/>
                    <a:pt x="541622" y="383211"/>
                    <a:pt x="510967" y="413866"/>
                  </a:cubicBezTo>
                  <a:cubicBezTo>
                    <a:pt x="480312" y="444521"/>
                    <a:pt x="438735" y="461743"/>
                    <a:pt x="395382" y="461743"/>
                  </a:cubicBezTo>
                  <a:lnTo>
                    <a:pt x="163462" y="461743"/>
                  </a:lnTo>
                  <a:cubicBezTo>
                    <a:pt x="120109" y="461743"/>
                    <a:pt x="78532" y="444521"/>
                    <a:pt x="47877" y="413866"/>
                  </a:cubicBezTo>
                  <a:cubicBezTo>
                    <a:pt x="17222" y="383211"/>
                    <a:pt x="0" y="341634"/>
                    <a:pt x="0" y="298281"/>
                  </a:cubicBezTo>
                  <a:lnTo>
                    <a:pt x="0" y="163462"/>
                  </a:lnTo>
                  <a:cubicBezTo>
                    <a:pt x="0" y="120109"/>
                    <a:pt x="17222" y="78532"/>
                    <a:pt x="47877" y="47877"/>
                  </a:cubicBezTo>
                  <a:cubicBezTo>
                    <a:pt x="78532" y="17222"/>
                    <a:pt x="120109" y="0"/>
                    <a:pt x="163462" y="0"/>
                  </a:cubicBezTo>
                  <a:close/>
                </a:path>
              </a:pathLst>
            </a:custGeom>
            <a:solidFill>
              <a:srgbClr val="B3D6DC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558844" cy="5093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257749" y="4095078"/>
            <a:ext cx="2415477" cy="1995780"/>
            <a:chOff x="0" y="0"/>
            <a:chExt cx="558844" cy="46174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58844" cy="461743"/>
            </a:xfrm>
            <a:custGeom>
              <a:avLst/>
              <a:gdLst/>
              <a:ahLst/>
              <a:cxnLst/>
              <a:rect r="r" b="b" t="t" l="l"/>
              <a:pathLst>
                <a:path h="461743" w="558844">
                  <a:moveTo>
                    <a:pt x="163462" y="0"/>
                  </a:moveTo>
                  <a:lnTo>
                    <a:pt x="395382" y="0"/>
                  </a:lnTo>
                  <a:cubicBezTo>
                    <a:pt x="438735" y="0"/>
                    <a:pt x="480312" y="17222"/>
                    <a:pt x="510967" y="47877"/>
                  </a:cubicBezTo>
                  <a:cubicBezTo>
                    <a:pt x="541622" y="78532"/>
                    <a:pt x="558844" y="120109"/>
                    <a:pt x="558844" y="163462"/>
                  </a:cubicBezTo>
                  <a:lnTo>
                    <a:pt x="558844" y="298281"/>
                  </a:lnTo>
                  <a:cubicBezTo>
                    <a:pt x="558844" y="341634"/>
                    <a:pt x="541622" y="383211"/>
                    <a:pt x="510967" y="413866"/>
                  </a:cubicBezTo>
                  <a:cubicBezTo>
                    <a:pt x="480312" y="444521"/>
                    <a:pt x="438735" y="461743"/>
                    <a:pt x="395382" y="461743"/>
                  </a:cubicBezTo>
                  <a:lnTo>
                    <a:pt x="163462" y="461743"/>
                  </a:lnTo>
                  <a:cubicBezTo>
                    <a:pt x="120109" y="461743"/>
                    <a:pt x="78532" y="444521"/>
                    <a:pt x="47877" y="413866"/>
                  </a:cubicBezTo>
                  <a:cubicBezTo>
                    <a:pt x="17222" y="383211"/>
                    <a:pt x="0" y="341634"/>
                    <a:pt x="0" y="298281"/>
                  </a:cubicBezTo>
                  <a:lnTo>
                    <a:pt x="0" y="163462"/>
                  </a:lnTo>
                  <a:cubicBezTo>
                    <a:pt x="0" y="120109"/>
                    <a:pt x="17222" y="78532"/>
                    <a:pt x="47877" y="47877"/>
                  </a:cubicBezTo>
                  <a:cubicBezTo>
                    <a:pt x="78532" y="17222"/>
                    <a:pt x="120109" y="0"/>
                    <a:pt x="163462" y="0"/>
                  </a:cubicBezTo>
                  <a:close/>
                </a:path>
              </a:pathLst>
            </a:custGeom>
            <a:solidFill>
              <a:srgbClr val="D2BB6B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558844" cy="5093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519169" y="6822675"/>
            <a:ext cx="2415477" cy="1995780"/>
            <a:chOff x="0" y="0"/>
            <a:chExt cx="558844" cy="46174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58844" cy="461743"/>
            </a:xfrm>
            <a:custGeom>
              <a:avLst/>
              <a:gdLst/>
              <a:ahLst/>
              <a:cxnLst/>
              <a:rect r="r" b="b" t="t" l="l"/>
              <a:pathLst>
                <a:path h="461743" w="558844">
                  <a:moveTo>
                    <a:pt x="163462" y="0"/>
                  </a:moveTo>
                  <a:lnTo>
                    <a:pt x="395382" y="0"/>
                  </a:lnTo>
                  <a:cubicBezTo>
                    <a:pt x="438735" y="0"/>
                    <a:pt x="480312" y="17222"/>
                    <a:pt x="510967" y="47877"/>
                  </a:cubicBezTo>
                  <a:cubicBezTo>
                    <a:pt x="541622" y="78532"/>
                    <a:pt x="558844" y="120109"/>
                    <a:pt x="558844" y="163462"/>
                  </a:cubicBezTo>
                  <a:lnTo>
                    <a:pt x="558844" y="298281"/>
                  </a:lnTo>
                  <a:cubicBezTo>
                    <a:pt x="558844" y="341634"/>
                    <a:pt x="541622" y="383211"/>
                    <a:pt x="510967" y="413866"/>
                  </a:cubicBezTo>
                  <a:cubicBezTo>
                    <a:pt x="480312" y="444521"/>
                    <a:pt x="438735" y="461743"/>
                    <a:pt x="395382" y="461743"/>
                  </a:cubicBezTo>
                  <a:lnTo>
                    <a:pt x="163462" y="461743"/>
                  </a:lnTo>
                  <a:cubicBezTo>
                    <a:pt x="120109" y="461743"/>
                    <a:pt x="78532" y="444521"/>
                    <a:pt x="47877" y="413866"/>
                  </a:cubicBezTo>
                  <a:cubicBezTo>
                    <a:pt x="17222" y="383211"/>
                    <a:pt x="0" y="341634"/>
                    <a:pt x="0" y="298281"/>
                  </a:cubicBezTo>
                  <a:lnTo>
                    <a:pt x="0" y="163462"/>
                  </a:lnTo>
                  <a:cubicBezTo>
                    <a:pt x="0" y="120109"/>
                    <a:pt x="17222" y="78532"/>
                    <a:pt x="47877" y="47877"/>
                  </a:cubicBezTo>
                  <a:cubicBezTo>
                    <a:pt x="78532" y="17222"/>
                    <a:pt x="120109" y="0"/>
                    <a:pt x="163462" y="0"/>
                  </a:cubicBezTo>
                  <a:close/>
                </a:path>
              </a:pathLst>
            </a:custGeom>
            <a:solidFill>
              <a:srgbClr val="763DD8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558844" cy="5093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5257749" y="6822675"/>
            <a:ext cx="2415477" cy="1995780"/>
            <a:chOff x="0" y="0"/>
            <a:chExt cx="558844" cy="46174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58844" cy="461743"/>
            </a:xfrm>
            <a:custGeom>
              <a:avLst/>
              <a:gdLst/>
              <a:ahLst/>
              <a:cxnLst/>
              <a:rect r="r" b="b" t="t" l="l"/>
              <a:pathLst>
                <a:path h="461743" w="558844">
                  <a:moveTo>
                    <a:pt x="163462" y="0"/>
                  </a:moveTo>
                  <a:lnTo>
                    <a:pt x="395382" y="0"/>
                  </a:lnTo>
                  <a:cubicBezTo>
                    <a:pt x="438735" y="0"/>
                    <a:pt x="480312" y="17222"/>
                    <a:pt x="510967" y="47877"/>
                  </a:cubicBezTo>
                  <a:cubicBezTo>
                    <a:pt x="541622" y="78532"/>
                    <a:pt x="558844" y="120109"/>
                    <a:pt x="558844" y="163462"/>
                  </a:cubicBezTo>
                  <a:lnTo>
                    <a:pt x="558844" y="298281"/>
                  </a:lnTo>
                  <a:cubicBezTo>
                    <a:pt x="558844" y="341634"/>
                    <a:pt x="541622" y="383211"/>
                    <a:pt x="510967" y="413866"/>
                  </a:cubicBezTo>
                  <a:cubicBezTo>
                    <a:pt x="480312" y="444521"/>
                    <a:pt x="438735" y="461743"/>
                    <a:pt x="395382" y="461743"/>
                  </a:cubicBezTo>
                  <a:lnTo>
                    <a:pt x="163462" y="461743"/>
                  </a:lnTo>
                  <a:cubicBezTo>
                    <a:pt x="120109" y="461743"/>
                    <a:pt x="78532" y="444521"/>
                    <a:pt x="47877" y="413866"/>
                  </a:cubicBezTo>
                  <a:cubicBezTo>
                    <a:pt x="17222" y="383211"/>
                    <a:pt x="0" y="341634"/>
                    <a:pt x="0" y="298281"/>
                  </a:cubicBezTo>
                  <a:lnTo>
                    <a:pt x="0" y="163462"/>
                  </a:lnTo>
                  <a:cubicBezTo>
                    <a:pt x="0" y="120109"/>
                    <a:pt x="17222" y="78532"/>
                    <a:pt x="47877" y="47877"/>
                  </a:cubicBezTo>
                  <a:cubicBezTo>
                    <a:pt x="78532" y="17222"/>
                    <a:pt x="120109" y="0"/>
                    <a:pt x="163462" y="0"/>
                  </a:cubicBezTo>
                  <a:close/>
                </a:path>
              </a:pathLst>
            </a:custGeom>
            <a:solidFill>
              <a:srgbClr val="CC6C3E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558844" cy="5093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317514">
            <a:off x="4098690" y="4794587"/>
            <a:ext cx="995016" cy="561878"/>
            <a:chOff x="0" y="0"/>
            <a:chExt cx="11582400" cy="65405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30539"/>
              <a:ext cx="11575052" cy="6503540"/>
            </a:xfrm>
            <a:custGeom>
              <a:avLst/>
              <a:gdLst/>
              <a:ahLst/>
              <a:cxnLst/>
              <a:rect r="r" b="b" t="t" l="l"/>
              <a:pathLst>
                <a:path h="6503540" w="11575052">
                  <a:moveTo>
                    <a:pt x="11543127" y="3084056"/>
                  </a:moveTo>
                  <a:lnTo>
                    <a:pt x="11502145" y="3029414"/>
                  </a:lnTo>
                  <a:cubicBezTo>
                    <a:pt x="11458918" y="2971779"/>
                    <a:pt x="11366463" y="2884318"/>
                    <a:pt x="11306519" y="2844355"/>
                  </a:cubicBezTo>
                  <a:lnTo>
                    <a:pt x="10461757" y="2281180"/>
                  </a:lnTo>
                  <a:cubicBezTo>
                    <a:pt x="10108062" y="2045384"/>
                    <a:pt x="9141860" y="1367906"/>
                    <a:pt x="8799640" y="1115744"/>
                  </a:cubicBezTo>
                  <a:lnTo>
                    <a:pt x="7737326" y="332987"/>
                  </a:lnTo>
                  <a:cubicBezTo>
                    <a:pt x="7645504" y="265328"/>
                    <a:pt x="7424047" y="129753"/>
                    <a:pt x="7322030" y="78744"/>
                  </a:cubicBezTo>
                  <a:lnTo>
                    <a:pt x="7212746" y="24103"/>
                  </a:lnTo>
                  <a:cubicBezTo>
                    <a:pt x="7144471" y="-10034"/>
                    <a:pt x="7063653" y="-7791"/>
                    <a:pt x="6997378" y="30081"/>
                  </a:cubicBezTo>
                  <a:lnTo>
                    <a:pt x="6804835" y="140105"/>
                  </a:lnTo>
                  <a:cubicBezTo>
                    <a:pt x="6751919" y="170343"/>
                    <a:pt x="6715927" y="223318"/>
                    <a:pt x="6707308" y="283653"/>
                  </a:cubicBezTo>
                  <a:lnTo>
                    <a:pt x="6693646" y="379276"/>
                  </a:lnTo>
                  <a:cubicBezTo>
                    <a:pt x="6676996" y="495839"/>
                    <a:pt x="6700065" y="638000"/>
                    <a:pt x="6752722" y="743316"/>
                  </a:cubicBezTo>
                  <a:lnTo>
                    <a:pt x="7841129" y="2920131"/>
                  </a:lnTo>
                  <a:cubicBezTo>
                    <a:pt x="7858328" y="2954529"/>
                    <a:pt x="7858328" y="2995016"/>
                    <a:pt x="7841129" y="3029414"/>
                  </a:cubicBezTo>
                  <a:lnTo>
                    <a:pt x="7841129" y="3029414"/>
                  </a:lnTo>
                  <a:cubicBezTo>
                    <a:pt x="7824757" y="3062159"/>
                    <a:pt x="7789515" y="3081019"/>
                    <a:pt x="7753189" y="3076479"/>
                  </a:cubicBezTo>
                  <a:lnTo>
                    <a:pt x="7376671" y="3029414"/>
                  </a:lnTo>
                  <a:cubicBezTo>
                    <a:pt x="7185033" y="3005459"/>
                    <a:pt x="6692219" y="2968087"/>
                    <a:pt x="6499159" y="2962870"/>
                  </a:cubicBezTo>
                  <a:lnTo>
                    <a:pt x="5471954" y="2935107"/>
                  </a:lnTo>
                  <a:cubicBezTo>
                    <a:pt x="5103135" y="2925139"/>
                    <a:pt x="4734123" y="2945638"/>
                    <a:pt x="4368678" y="2996394"/>
                  </a:cubicBezTo>
                  <a:lnTo>
                    <a:pt x="3464121" y="3122028"/>
                  </a:lnTo>
                  <a:cubicBezTo>
                    <a:pt x="3222080" y="3155643"/>
                    <a:pt x="2690713" y="3279991"/>
                    <a:pt x="2458890" y="3357266"/>
                  </a:cubicBezTo>
                  <a:lnTo>
                    <a:pt x="2213002" y="3439229"/>
                  </a:lnTo>
                  <a:cubicBezTo>
                    <a:pt x="2097928" y="3477587"/>
                    <a:pt x="1845865" y="3586868"/>
                    <a:pt x="1739209" y="3644640"/>
                  </a:cubicBezTo>
                  <a:lnTo>
                    <a:pt x="1046772" y="4019710"/>
                  </a:lnTo>
                  <a:cubicBezTo>
                    <a:pt x="853501" y="4124398"/>
                    <a:pt x="489882" y="4383542"/>
                    <a:pt x="327852" y="4532069"/>
                  </a:cubicBezTo>
                  <a:lnTo>
                    <a:pt x="64391" y="4773576"/>
                  </a:lnTo>
                  <a:cubicBezTo>
                    <a:pt x="23361" y="4811187"/>
                    <a:pt x="0" y="4864292"/>
                    <a:pt x="0" y="4919952"/>
                  </a:cubicBezTo>
                  <a:lnTo>
                    <a:pt x="0" y="5007303"/>
                  </a:lnTo>
                  <a:cubicBezTo>
                    <a:pt x="0" y="5066873"/>
                    <a:pt x="21599" y="5138209"/>
                    <a:pt x="54642" y="5187774"/>
                  </a:cubicBezTo>
                  <a:lnTo>
                    <a:pt x="81963" y="5228755"/>
                  </a:lnTo>
                  <a:cubicBezTo>
                    <a:pt x="99456" y="5254995"/>
                    <a:pt x="126656" y="5273211"/>
                    <a:pt x="157580" y="5279396"/>
                  </a:cubicBezTo>
                  <a:lnTo>
                    <a:pt x="245889" y="5297058"/>
                  </a:lnTo>
                  <a:cubicBezTo>
                    <a:pt x="332371" y="5314355"/>
                    <a:pt x="422054" y="5292011"/>
                    <a:pt x="490314" y="5236162"/>
                  </a:cubicBezTo>
                  <a:lnTo>
                    <a:pt x="683025" y="5078489"/>
                  </a:lnTo>
                  <a:cubicBezTo>
                    <a:pt x="819394" y="4966915"/>
                    <a:pt x="1164544" y="4721996"/>
                    <a:pt x="1314889" y="4630120"/>
                  </a:cubicBezTo>
                  <a:lnTo>
                    <a:pt x="1641001" y="4430829"/>
                  </a:lnTo>
                  <a:cubicBezTo>
                    <a:pt x="1796170" y="4336003"/>
                    <a:pt x="2155096" y="4162281"/>
                    <a:pt x="2325733" y="4099415"/>
                  </a:cubicBezTo>
                  <a:lnTo>
                    <a:pt x="2665522" y="3974229"/>
                  </a:lnTo>
                  <a:cubicBezTo>
                    <a:pt x="2820317" y="3917200"/>
                    <a:pt x="3198085" y="3807735"/>
                    <a:pt x="3359389" y="3773171"/>
                  </a:cubicBezTo>
                  <a:lnTo>
                    <a:pt x="3564844" y="3729145"/>
                  </a:lnTo>
                  <a:cubicBezTo>
                    <a:pt x="3659513" y="3708858"/>
                    <a:pt x="3883426" y="3678834"/>
                    <a:pt x="3980095" y="3673463"/>
                  </a:cubicBezTo>
                  <a:lnTo>
                    <a:pt x="4858753" y="3624648"/>
                  </a:lnTo>
                  <a:cubicBezTo>
                    <a:pt x="5257943" y="3602471"/>
                    <a:pt x="6215961" y="3615714"/>
                    <a:pt x="6614385" y="3648915"/>
                  </a:cubicBezTo>
                  <a:lnTo>
                    <a:pt x="7650072" y="3735222"/>
                  </a:lnTo>
                  <a:cubicBezTo>
                    <a:pt x="7680851" y="3737787"/>
                    <a:pt x="7704525" y="3763516"/>
                    <a:pt x="7704525" y="3794402"/>
                  </a:cubicBezTo>
                  <a:lnTo>
                    <a:pt x="7704525" y="3849044"/>
                  </a:lnTo>
                  <a:cubicBezTo>
                    <a:pt x="7704525" y="3911503"/>
                    <a:pt x="7683134" y="3999982"/>
                    <a:pt x="7654603" y="4055544"/>
                  </a:cubicBezTo>
                  <a:lnTo>
                    <a:pt x="6716247" y="5882867"/>
                  </a:lnTo>
                  <a:cubicBezTo>
                    <a:pt x="6687716" y="5938428"/>
                    <a:pt x="6666326" y="6026909"/>
                    <a:pt x="6666326" y="6089367"/>
                  </a:cubicBezTo>
                  <a:lnTo>
                    <a:pt x="6666326" y="6144009"/>
                  </a:lnTo>
                  <a:cubicBezTo>
                    <a:pt x="6666326" y="6176318"/>
                    <a:pt x="6677816" y="6217801"/>
                    <a:pt x="6694439" y="6245506"/>
                  </a:cubicBezTo>
                  <a:lnTo>
                    <a:pt x="6773588" y="6377421"/>
                  </a:lnTo>
                  <a:cubicBezTo>
                    <a:pt x="6809358" y="6437037"/>
                    <a:pt x="6870550" y="6476899"/>
                    <a:pt x="6939536" y="6485522"/>
                  </a:cubicBezTo>
                  <a:lnTo>
                    <a:pt x="7048820" y="6499183"/>
                  </a:lnTo>
                  <a:cubicBezTo>
                    <a:pt x="7189975" y="6516826"/>
                    <a:pt x="7330425" y="6480539"/>
                    <a:pt x="7445367" y="6396726"/>
                  </a:cubicBezTo>
                  <a:lnTo>
                    <a:pt x="9204439" y="5114070"/>
                  </a:lnTo>
                  <a:cubicBezTo>
                    <a:pt x="9492629" y="4903932"/>
                    <a:pt x="10302032" y="4344761"/>
                    <a:pt x="10600551" y="4149576"/>
                  </a:cubicBezTo>
                  <a:lnTo>
                    <a:pt x="11181544" y="3769696"/>
                  </a:lnTo>
                  <a:cubicBezTo>
                    <a:pt x="11243610" y="3729114"/>
                    <a:pt x="11367745" y="3628270"/>
                    <a:pt x="11420182" y="3575834"/>
                  </a:cubicBezTo>
                  <a:lnTo>
                    <a:pt x="11474824" y="3521193"/>
                  </a:lnTo>
                  <a:cubicBezTo>
                    <a:pt x="11508341" y="3487673"/>
                    <a:pt x="11534377" y="3437083"/>
                    <a:pt x="11542169" y="3390325"/>
                  </a:cubicBezTo>
                  <a:lnTo>
                    <a:pt x="11572879" y="3206071"/>
                  </a:lnTo>
                  <a:cubicBezTo>
                    <a:pt x="11580051" y="3163042"/>
                    <a:pt x="11569300" y="3118953"/>
                    <a:pt x="11543127" y="3084056"/>
                  </a:cubicBezTo>
                  <a:close/>
                </a:path>
              </a:pathLst>
            </a:custGeom>
            <a:solidFill>
              <a:srgbClr val="EAE5DD"/>
            </a:solidFill>
            <a:ln cap="sq">
              <a:noFill/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85725"/>
              <a:ext cx="11582400" cy="6626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880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028700" y="999728"/>
            <a:ext cx="10127017" cy="239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96"/>
              </a:lnSpc>
            </a:pPr>
            <a:r>
              <a:rPr lang="en-US" sz="9196" spc="-459">
                <a:solidFill>
                  <a:srgbClr val="F9F4FF"/>
                </a:solidFill>
                <a:latin typeface="Bicubik"/>
                <a:ea typeface="Bicubik"/>
                <a:cs typeface="Bicubik"/>
                <a:sym typeface="Bicubik"/>
              </a:rPr>
              <a:t>DATAS</a:t>
            </a:r>
            <a:r>
              <a:rPr lang="en-US" sz="9196" spc="-459">
                <a:solidFill>
                  <a:srgbClr val="F9F4FF"/>
                </a:solidFill>
                <a:latin typeface="Bicubik"/>
                <a:ea typeface="Bicubik"/>
                <a:cs typeface="Bicubik"/>
                <a:sym typeface="Bicubik"/>
              </a:rPr>
              <a:t>ET OVERVIEW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191573" y="981075"/>
            <a:ext cx="4732700" cy="8368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F9F4FF"/>
                </a:solidFill>
                <a:latin typeface="Inter Bold"/>
                <a:ea typeface="Inter Bold"/>
                <a:cs typeface="Inter Bold"/>
                <a:sym typeface="Inter Bold"/>
              </a:rPr>
              <a:t>Dataset Source: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9F4FF"/>
                </a:solidFill>
                <a:latin typeface="Inter Light"/>
                <a:ea typeface="Inter Light"/>
                <a:cs typeface="Inter Light"/>
                <a:sym typeface="Inter Light"/>
              </a:rPr>
              <a:t> Kaggle Dating App Behavior Dataset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F9F4FF"/>
                </a:solidFill>
                <a:latin typeface="Inter Bold"/>
                <a:ea typeface="Inter Bold"/>
                <a:cs typeface="Inter Bold"/>
                <a:sym typeface="Inter Bold"/>
              </a:rPr>
              <a:t>Dataset Characteristics: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9F4FF"/>
                </a:solidFill>
                <a:latin typeface="Inter Light"/>
                <a:ea typeface="Inter Light"/>
                <a:cs typeface="Inter Light"/>
                <a:sym typeface="Inter Light"/>
              </a:rPr>
              <a:t>50,000 records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9F4FF"/>
                </a:solidFill>
                <a:latin typeface="Inter Light"/>
                <a:ea typeface="Inter Light"/>
                <a:cs typeface="Inter Light"/>
                <a:sym typeface="Inter Light"/>
              </a:rPr>
              <a:t>25 raw features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9F4FF"/>
                </a:solidFill>
                <a:latin typeface="Inter Light"/>
                <a:ea typeface="Inter Light"/>
                <a:cs typeface="Inter Light"/>
                <a:sym typeface="Inter Light"/>
              </a:rPr>
              <a:t>Demographic information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9F4FF"/>
                </a:solidFill>
                <a:latin typeface="Inter Light"/>
                <a:ea typeface="Inter Light"/>
                <a:cs typeface="Inter Light"/>
                <a:sym typeface="Inter Light"/>
              </a:rPr>
              <a:t>Behavioural patterns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9F4FF"/>
                </a:solidFill>
                <a:latin typeface="Inter Light"/>
                <a:ea typeface="Inter Light"/>
                <a:cs typeface="Inter Light"/>
                <a:sym typeface="Inter Light"/>
              </a:rPr>
              <a:t>Match outcomes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</a:p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F9F4FF"/>
                </a:solidFill>
                <a:latin typeface="Inter Bold"/>
                <a:ea typeface="Inter Bold"/>
                <a:cs typeface="Inter Bold"/>
                <a:sym typeface="Inter Bold"/>
              </a:rPr>
              <a:t>Examples of Features: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9F4FF"/>
                </a:solidFill>
                <a:latin typeface="Inter Light"/>
                <a:ea typeface="Inter Light"/>
                <a:cs typeface="Inter Light"/>
                <a:sym typeface="Inter Light"/>
              </a:rPr>
              <a:t>Age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9F4FF"/>
                </a:solidFill>
                <a:latin typeface="Inter Light"/>
                <a:ea typeface="Inter Light"/>
                <a:cs typeface="Inter Light"/>
                <a:sym typeface="Inter Light"/>
              </a:rPr>
              <a:t>Gender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9F4FF"/>
                </a:solidFill>
                <a:latin typeface="Inter Light"/>
                <a:ea typeface="Inter Light"/>
                <a:cs typeface="Inter Light"/>
                <a:sym typeface="Inter Light"/>
              </a:rPr>
              <a:t>Education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9F4FF"/>
                </a:solidFill>
                <a:latin typeface="Inter Light"/>
                <a:ea typeface="Inter Light"/>
                <a:cs typeface="Inter Light"/>
                <a:sym typeface="Inter Light"/>
              </a:rPr>
              <a:t>Income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9F4FF"/>
                </a:solidFill>
                <a:latin typeface="Inter Light"/>
                <a:ea typeface="Inter Light"/>
                <a:cs typeface="Inter Light"/>
                <a:sym typeface="Inter Light"/>
              </a:rPr>
              <a:t>Likes received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9F4FF"/>
                </a:solidFill>
                <a:latin typeface="Inter Light"/>
                <a:ea typeface="Inter Light"/>
                <a:cs typeface="Inter Light"/>
                <a:sym typeface="Inter Light"/>
              </a:rPr>
              <a:t>Mutual matches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9F4FF"/>
                </a:solidFill>
                <a:latin typeface="Inter Light"/>
                <a:ea typeface="Inter Light"/>
                <a:cs typeface="Inter Light"/>
                <a:sym typeface="Inter Light"/>
              </a:rPr>
              <a:t>Swipe ratio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9F4FF"/>
                </a:solidFill>
                <a:latin typeface="Inter Light"/>
                <a:ea typeface="Inter Light"/>
                <a:cs typeface="Inter Light"/>
                <a:sym typeface="Inter Light"/>
              </a:rPr>
              <a:t>Message count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519169" y="4802297"/>
            <a:ext cx="2415477" cy="514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82"/>
              </a:lnSpc>
              <a:spcBef>
                <a:spcPct val="0"/>
              </a:spcBef>
            </a:pPr>
            <a:r>
              <a:rPr lang="en-US" sz="2987">
                <a:solidFill>
                  <a:srgbClr val="594E50"/>
                </a:solidFill>
                <a:latin typeface="Arimo"/>
                <a:ea typeface="Arimo"/>
                <a:cs typeface="Arimo"/>
                <a:sym typeface="Arimo"/>
              </a:rPr>
              <a:t>Demographic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257749" y="4784855"/>
            <a:ext cx="2415477" cy="514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82"/>
              </a:lnSpc>
              <a:spcBef>
                <a:spcPct val="0"/>
              </a:spcBef>
            </a:pPr>
            <a:r>
              <a:rPr lang="en-US" sz="2987">
                <a:solidFill>
                  <a:srgbClr val="594E50"/>
                </a:solidFill>
                <a:latin typeface="Arimo"/>
                <a:ea typeface="Arimo"/>
                <a:cs typeface="Arimo"/>
                <a:sym typeface="Arimo"/>
              </a:rPr>
              <a:t>B</a:t>
            </a:r>
            <a:r>
              <a:rPr lang="en-US" sz="2987">
                <a:solidFill>
                  <a:srgbClr val="594E50"/>
                </a:solidFill>
                <a:latin typeface="Arimo"/>
                <a:ea typeface="Arimo"/>
                <a:cs typeface="Arimo"/>
                <a:sym typeface="Arimo"/>
              </a:rPr>
              <a:t>ehavioural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519169" y="7267956"/>
            <a:ext cx="2415477" cy="1038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82"/>
              </a:lnSpc>
              <a:spcBef>
                <a:spcPct val="0"/>
              </a:spcBef>
            </a:pPr>
            <a:r>
              <a:rPr lang="en-US" sz="2987">
                <a:solidFill>
                  <a:srgbClr val="DFE6E9"/>
                </a:solidFill>
                <a:latin typeface="Arimo"/>
                <a:ea typeface="Arimo"/>
                <a:cs typeface="Arimo"/>
                <a:sym typeface="Arimo"/>
              </a:rPr>
              <a:t>M</a:t>
            </a:r>
            <a:r>
              <a:rPr lang="en-US" sz="2987">
                <a:solidFill>
                  <a:srgbClr val="DFE6E9"/>
                </a:solidFill>
                <a:latin typeface="Arimo"/>
                <a:ea typeface="Arimo"/>
                <a:cs typeface="Arimo"/>
                <a:sym typeface="Arimo"/>
              </a:rPr>
              <a:t>atch Outcome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5257749" y="7512452"/>
            <a:ext cx="2415477" cy="514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82"/>
              </a:lnSpc>
              <a:spcBef>
                <a:spcPct val="0"/>
              </a:spcBef>
            </a:pPr>
            <a:r>
              <a:rPr lang="en-US" sz="2987">
                <a:solidFill>
                  <a:srgbClr val="DFE6E9"/>
                </a:solidFill>
                <a:latin typeface="Arimo"/>
                <a:ea typeface="Arimo"/>
                <a:cs typeface="Arimo"/>
                <a:sym typeface="Arimo"/>
              </a:rPr>
              <a:t>Engag</a:t>
            </a:r>
            <a:r>
              <a:rPr lang="en-US" sz="2987">
                <a:solidFill>
                  <a:srgbClr val="DFE6E9"/>
                </a:solidFill>
                <a:latin typeface="Arimo"/>
                <a:ea typeface="Arimo"/>
                <a:cs typeface="Arimo"/>
                <a:sym typeface="Arimo"/>
              </a:rPr>
              <a:t>ement</a:t>
            </a:r>
          </a:p>
        </p:txBody>
      </p:sp>
      <p:grpSp>
        <p:nvGrpSpPr>
          <p:cNvPr name="Group 37" id="37"/>
          <p:cNvGrpSpPr/>
          <p:nvPr/>
        </p:nvGrpSpPr>
        <p:grpSpPr>
          <a:xfrm rot="10551953">
            <a:off x="4098690" y="7522184"/>
            <a:ext cx="995016" cy="561878"/>
            <a:chOff x="0" y="0"/>
            <a:chExt cx="11582400" cy="65405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30539"/>
              <a:ext cx="11575052" cy="6503540"/>
            </a:xfrm>
            <a:custGeom>
              <a:avLst/>
              <a:gdLst/>
              <a:ahLst/>
              <a:cxnLst/>
              <a:rect r="r" b="b" t="t" l="l"/>
              <a:pathLst>
                <a:path h="6503540" w="11575052">
                  <a:moveTo>
                    <a:pt x="11543127" y="3084056"/>
                  </a:moveTo>
                  <a:lnTo>
                    <a:pt x="11502145" y="3029414"/>
                  </a:lnTo>
                  <a:cubicBezTo>
                    <a:pt x="11458918" y="2971779"/>
                    <a:pt x="11366463" y="2884318"/>
                    <a:pt x="11306519" y="2844355"/>
                  </a:cubicBezTo>
                  <a:lnTo>
                    <a:pt x="10461757" y="2281180"/>
                  </a:lnTo>
                  <a:cubicBezTo>
                    <a:pt x="10108062" y="2045384"/>
                    <a:pt x="9141860" y="1367906"/>
                    <a:pt x="8799640" y="1115744"/>
                  </a:cubicBezTo>
                  <a:lnTo>
                    <a:pt x="7737326" y="332987"/>
                  </a:lnTo>
                  <a:cubicBezTo>
                    <a:pt x="7645504" y="265328"/>
                    <a:pt x="7424047" y="129753"/>
                    <a:pt x="7322030" y="78744"/>
                  </a:cubicBezTo>
                  <a:lnTo>
                    <a:pt x="7212746" y="24103"/>
                  </a:lnTo>
                  <a:cubicBezTo>
                    <a:pt x="7144471" y="-10034"/>
                    <a:pt x="7063653" y="-7791"/>
                    <a:pt x="6997378" y="30081"/>
                  </a:cubicBezTo>
                  <a:lnTo>
                    <a:pt x="6804835" y="140105"/>
                  </a:lnTo>
                  <a:cubicBezTo>
                    <a:pt x="6751919" y="170343"/>
                    <a:pt x="6715927" y="223318"/>
                    <a:pt x="6707308" y="283653"/>
                  </a:cubicBezTo>
                  <a:lnTo>
                    <a:pt x="6693646" y="379276"/>
                  </a:lnTo>
                  <a:cubicBezTo>
                    <a:pt x="6676996" y="495839"/>
                    <a:pt x="6700065" y="638000"/>
                    <a:pt x="6752722" y="743316"/>
                  </a:cubicBezTo>
                  <a:lnTo>
                    <a:pt x="7841129" y="2920131"/>
                  </a:lnTo>
                  <a:cubicBezTo>
                    <a:pt x="7858328" y="2954529"/>
                    <a:pt x="7858328" y="2995016"/>
                    <a:pt x="7841129" y="3029414"/>
                  </a:cubicBezTo>
                  <a:lnTo>
                    <a:pt x="7841129" y="3029414"/>
                  </a:lnTo>
                  <a:cubicBezTo>
                    <a:pt x="7824757" y="3062159"/>
                    <a:pt x="7789515" y="3081019"/>
                    <a:pt x="7753189" y="3076479"/>
                  </a:cubicBezTo>
                  <a:lnTo>
                    <a:pt x="7376671" y="3029414"/>
                  </a:lnTo>
                  <a:cubicBezTo>
                    <a:pt x="7185033" y="3005459"/>
                    <a:pt x="6692219" y="2968087"/>
                    <a:pt x="6499159" y="2962870"/>
                  </a:cubicBezTo>
                  <a:lnTo>
                    <a:pt x="5471954" y="2935107"/>
                  </a:lnTo>
                  <a:cubicBezTo>
                    <a:pt x="5103135" y="2925139"/>
                    <a:pt x="4734123" y="2945638"/>
                    <a:pt x="4368678" y="2996394"/>
                  </a:cubicBezTo>
                  <a:lnTo>
                    <a:pt x="3464121" y="3122028"/>
                  </a:lnTo>
                  <a:cubicBezTo>
                    <a:pt x="3222080" y="3155643"/>
                    <a:pt x="2690713" y="3279991"/>
                    <a:pt x="2458890" y="3357266"/>
                  </a:cubicBezTo>
                  <a:lnTo>
                    <a:pt x="2213002" y="3439229"/>
                  </a:lnTo>
                  <a:cubicBezTo>
                    <a:pt x="2097928" y="3477587"/>
                    <a:pt x="1845865" y="3586868"/>
                    <a:pt x="1739209" y="3644640"/>
                  </a:cubicBezTo>
                  <a:lnTo>
                    <a:pt x="1046772" y="4019710"/>
                  </a:lnTo>
                  <a:cubicBezTo>
                    <a:pt x="853501" y="4124398"/>
                    <a:pt x="489882" y="4383542"/>
                    <a:pt x="327852" y="4532069"/>
                  </a:cubicBezTo>
                  <a:lnTo>
                    <a:pt x="64391" y="4773576"/>
                  </a:lnTo>
                  <a:cubicBezTo>
                    <a:pt x="23361" y="4811187"/>
                    <a:pt x="0" y="4864292"/>
                    <a:pt x="0" y="4919952"/>
                  </a:cubicBezTo>
                  <a:lnTo>
                    <a:pt x="0" y="5007303"/>
                  </a:lnTo>
                  <a:cubicBezTo>
                    <a:pt x="0" y="5066873"/>
                    <a:pt x="21599" y="5138209"/>
                    <a:pt x="54642" y="5187774"/>
                  </a:cubicBezTo>
                  <a:lnTo>
                    <a:pt x="81963" y="5228755"/>
                  </a:lnTo>
                  <a:cubicBezTo>
                    <a:pt x="99456" y="5254995"/>
                    <a:pt x="126656" y="5273211"/>
                    <a:pt x="157580" y="5279396"/>
                  </a:cubicBezTo>
                  <a:lnTo>
                    <a:pt x="245889" y="5297058"/>
                  </a:lnTo>
                  <a:cubicBezTo>
                    <a:pt x="332371" y="5314355"/>
                    <a:pt x="422054" y="5292011"/>
                    <a:pt x="490314" y="5236162"/>
                  </a:cubicBezTo>
                  <a:lnTo>
                    <a:pt x="683025" y="5078489"/>
                  </a:lnTo>
                  <a:cubicBezTo>
                    <a:pt x="819394" y="4966915"/>
                    <a:pt x="1164544" y="4721996"/>
                    <a:pt x="1314889" y="4630120"/>
                  </a:cubicBezTo>
                  <a:lnTo>
                    <a:pt x="1641001" y="4430829"/>
                  </a:lnTo>
                  <a:cubicBezTo>
                    <a:pt x="1796170" y="4336003"/>
                    <a:pt x="2155096" y="4162281"/>
                    <a:pt x="2325733" y="4099415"/>
                  </a:cubicBezTo>
                  <a:lnTo>
                    <a:pt x="2665522" y="3974229"/>
                  </a:lnTo>
                  <a:cubicBezTo>
                    <a:pt x="2820317" y="3917200"/>
                    <a:pt x="3198085" y="3807735"/>
                    <a:pt x="3359389" y="3773171"/>
                  </a:cubicBezTo>
                  <a:lnTo>
                    <a:pt x="3564844" y="3729145"/>
                  </a:lnTo>
                  <a:cubicBezTo>
                    <a:pt x="3659513" y="3708858"/>
                    <a:pt x="3883426" y="3678834"/>
                    <a:pt x="3980095" y="3673463"/>
                  </a:cubicBezTo>
                  <a:lnTo>
                    <a:pt x="4858753" y="3624648"/>
                  </a:lnTo>
                  <a:cubicBezTo>
                    <a:pt x="5257943" y="3602471"/>
                    <a:pt x="6215961" y="3615714"/>
                    <a:pt x="6614385" y="3648915"/>
                  </a:cubicBezTo>
                  <a:lnTo>
                    <a:pt x="7650072" y="3735222"/>
                  </a:lnTo>
                  <a:cubicBezTo>
                    <a:pt x="7680851" y="3737787"/>
                    <a:pt x="7704525" y="3763516"/>
                    <a:pt x="7704525" y="3794402"/>
                  </a:cubicBezTo>
                  <a:lnTo>
                    <a:pt x="7704525" y="3849044"/>
                  </a:lnTo>
                  <a:cubicBezTo>
                    <a:pt x="7704525" y="3911503"/>
                    <a:pt x="7683134" y="3999982"/>
                    <a:pt x="7654603" y="4055544"/>
                  </a:cubicBezTo>
                  <a:lnTo>
                    <a:pt x="6716247" y="5882867"/>
                  </a:lnTo>
                  <a:cubicBezTo>
                    <a:pt x="6687716" y="5938428"/>
                    <a:pt x="6666326" y="6026909"/>
                    <a:pt x="6666326" y="6089367"/>
                  </a:cubicBezTo>
                  <a:lnTo>
                    <a:pt x="6666326" y="6144009"/>
                  </a:lnTo>
                  <a:cubicBezTo>
                    <a:pt x="6666326" y="6176318"/>
                    <a:pt x="6677816" y="6217801"/>
                    <a:pt x="6694439" y="6245506"/>
                  </a:cubicBezTo>
                  <a:lnTo>
                    <a:pt x="6773588" y="6377421"/>
                  </a:lnTo>
                  <a:cubicBezTo>
                    <a:pt x="6809358" y="6437037"/>
                    <a:pt x="6870550" y="6476899"/>
                    <a:pt x="6939536" y="6485522"/>
                  </a:cubicBezTo>
                  <a:lnTo>
                    <a:pt x="7048820" y="6499183"/>
                  </a:lnTo>
                  <a:cubicBezTo>
                    <a:pt x="7189975" y="6516826"/>
                    <a:pt x="7330425" y="6480539"/>
                    <a:pt x="7445367" y="6396726"/>
                  </a:cubicBezTo>
                  <a:lnTo>
                    <a:pt x="9204439" y="5114070"/>
                  </a:lnTo>
                  <a:cubicBezTo>
                    <a:pt x="9492629" y="4903932"/>
                    <a:pt x="10302032" y="4344761"/>
                    <a:pt x="10600551" y="4149576"/>
                  </a:cubicBezTo>
                  <a:lnTo>
                    <a:pt x="11181544" y="3769696"/>
                  </a:lnTo>
                  <a:cubicBezTo>
                    <a:pt x="11243610" y="3729114"/>
                    <a:pt x="11367745" y="3628270"/>
                    <a:pt x="11420182" y="3575834"/>
                  </a:cubicBezTo>
                  <a:lnTo>
                    <a:pt x="11474824" y="3521193"/>
                  </a:lnTo>
                  <a:cubicBezTo>
                    <a:pt x="11508341" y="3487673"/>
                    <a:pt x="11534377" y="3437083"/>
                    <a:pt x="11542169" y="3390325"/>
                  </a:cubicBezTo>
                  <a:lnTo>
                    <a:pt x="11572879" y="3206071"/>
                  </a:lnTo>
                  <a:cubicBezTo>
                    <a:pt x="11580051" y="3163042"/>
                    <a:pt x="11569300" y="3118953"/>
                    <a:pt x="11543127" y="3084056"/>
                  </a:cubicBezTo>
                  <a:close/>
                </a:path>
              </a:pathLst>
            </a:custGeom>
            <a:solidFill>
              <a:srgbClr val="EAE5DD"/>
            </a:solidFill>
            <a:ln cap="sq">
              <a:noFill/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85725"/>
              <a:ext cx="11582400" cy="6626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880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6121926">
            <a:off x="5967980" y="6299939"/>
            <a:ext cx="995016" cy="561878"/>
            <a:chOff x="0" y="0"/>
            <a:chExt cx="11582400" cy="65405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30539"/>
              <a:ext cx="11575052" cy="6503540"/>
            </a:xfrm>
            <a:custGeom>
              <a:avLst/>
              <a:gdLst/>
              <a:ahLst/>
              <a:cxnLst/>
              <a:rect r="r" b="b" t="t" l="l"/>
              <a:pathLst>
                <a:path h="6503540" w="11575052">
                  <a:moveTo>
                    <a:pt x="11543127" y="3084056"/>
                  </a:moveTo>
                  <a:lnTo>
                    <a:pt x="11502145" y="3029414"/>
                  </a:lnTo>
                  <a:cubicBezTo>
                    <a:pt x="11458918" y="2971779"/>
                    <a:pt x="11366463" y="2884318"/>
                    <a:pt x="11306519" y="2844355"/>
                  </a:cubicBezTo>
                  <a:lnTo>
                    <a:pt x="10461757" y="2281180"/>
                  </a:lnTo>
                  <a:cubicBezTo>
                    <a:pt x="10108062" y="2045384"/>
                    <a:pt x="9141860" y="1367906"/>
                    <a:pt x="8799640" y="1115744"/>
                  </a:cubicBezTo>
                  <a:lnTo>
                    <a:pt x="7737326" y="332987"/>
                  </a:lnTo>
                  <a:cubicBezTo>
                    <a:pt x="7645504" y="265328"/>
                    <a:pt x="7424047" y="129753"/>
                    <a:pt x="7322030" y="78744"/>
                  </a:cubicBezTo>
                  <a:lnTo>
                    <a:pt x="7212746" y="24103"/>
                  </a:lnTo>
                  <a:cubicBezTo>
                    <a:pt x="7144471" y="-10034"/>
                    <a:pt x="7063653" y="-7791"/>
                    <a:pt x="6997378" y="30081"/>
                  </a:cubicBezTo>
                  <a:lnTo>
                    <a:pt x="6804835" y="140105"/>
                  </a:lnTo>
                  <a:cubicBezTo>
                    <a:pt x="6751919" y="170343"/>
                    <a:pt x="6715927" y="223318"/>
                    <a:pt x="6707308" y="283653"/>
                  </a:cubicBezTo>
                  <a:lnTo>
                    <a:pt x="6693646" y="379276"/>
                  </a:lnTo>
                  <a:cubicBezTo>
                    <a:pt x="6676996" y="495839"/>
                    <a:pt x="6700065" y="638000"/>
                    <a:pt x="6752722" y="743316"/>
                  </a:cubicBezTo>
                  <a:lnTo>
                    <a:pt x="7841129" y="2920131"/>
                  </a:lnTo>
                  <a:cubicBezTo>
                    <a:pt x="7858328" y="2954529"/>
                    <a:pt x="7858328" y="2995016"/>
                    <a:pt x="7841129" y="3029414"/>
                  </a:cubicBezTo>
                  <a:lnTo>
                    <a:pt x="7841129" y="3029414"/>
                  </a:lnTo>
                  <a:cubicBezTo>
                    <a:pt x="7824757" y="3062159"/>
                    <a:pt x="7789515" y="3081019"/>
                    <a:pt x="7753189" y="3076479"/>
                  </a:cubicBezTo>
                  <a:lnTo>
                    <a:pt x="7376671" y="3029414"/>
                  </a:lnTo>
                  <a:cubicBezTo>
                    <a:pt x="7185033" y="3005459"/>
                    <a:pt x="6692219" y="2968087"/>
                    <a:pt x="6499159" y="2962870"/>
                  </a:cubicBezTo>
                  <a:lnTo>
                    <a:pt x="5471954" y="2935107"/>
                  </a:lnTo>
                  <a:cubicBezTo>
                    <a:pt x="5103135" y="2925139"/>
                    <a:pt x="4734123" y="2945638"/>
                    <a:pt x="4368678" y="2996394"/>
                  </a:cubicBezTo>
                  <a:lnTo>
                    <a:pt x="3464121" y="3122028"/>
                  </a:lnTo>
                  <a:cubicBezTo>
                    <a:pt x="3222080" y="3155643"/>
                    <a:pt x="2690713" y="3279991"/>
                    <a:pt x="2458890" y="3357266"/>
                  </a:cubicBezTo>
                  <a:lnTo>
                    <a:pt x="2213002" y="3439229"/>
                  </a:lnTo>
                  <a:cubicBezTo>
                    <a:pt x="2097928" y="3477587"/>
                    <a:pt x="1845865" y="3586868"/>
                    <a:pt x="1739209" y="3644640"/>
                  </a:cubicBezTo>
                  <a:lnTo>
                    <a:pt x="1046772" y="4019710"/>
                  </a:lnTo>
                  <a:cubicBezTo>
                    <a:pt x="853501" y="4124398"/>
                    <a:pt x="489882" y="4383542"/>
                    <a:pt x="327852" y="4532069"/>
                  </a:cubicBezTo>
                  <a:lnTo>
                    <a:pt x="64391" y="4773576"/>
                  </a:lnTo>
                  <a:cubicBezTo>
                    <a:pt x="23361" y="4811187"/>
                    <a:pt x="0" y="4864292"/>
                    <a:pt x="0" y="4919952"/>
                  </a:cubicBezTo>
                  <a:lnTo>
                    <a:pt x="0" y="5007303"/>
                  </a:lnTo>
                  <a:cubicBezTo>
                    <a:pt x="0" y="5066873"/>
                    <a:pt x="21599" y="5138209"/>
                    <a:pt x="54642" y="5187774"/>
                  </a:cubicBezTo>
                  <a:lnTo>
                    <a:pt x="81963" y="5228755"/>
                  </a:lnTo>
                  <a:cubicBezTo>
                    <a:pt x="99456" y="5254995"/>
                    <a:pt x="126656" y="5273211"/>
                    <a:pt x="157580" y="5279396"/>
                  </a:cubicBezTo>
                  <a:lnTo>
                    <a:pt x="245889" y="5297058"/>
                  </a:lnTo>
                  <a:cubicBezTo>
                    <a:pt x="332371" y="5314355"/>
                    <a:pt x="422054" y="5292011"/>
                    <a:pt x="490314" y="5236162"/>
                  </a:cubicBezTo>
                  <a:lnTo>
                    <a:pt x="683025" y="5078489"/>
                  </a:lnTo>
                  <a:cubicBezTo>
                    <a:pt x="819394" y="4966915"/>
                    <a:pt x="1164544" y="4721996"/>
                    <a:pt x="1314889" y="4630120"/>
                  </a:cubicBezTo>
                  <a:lnTo>
                    <a:pt x="1641001" y="4430829"/>
                  </a:lnTo>
                  <a:cubicBezTo>
                    <a:pt x="1796170" y="4336003"/>
                    <a:pt x="2155096" y="4162281"/>
                    <a:pt x="2325733" y="4099415"/>
                  </a:cubicBezTo>
                  <a:lnTo>
                    <a:pt x="2665522" y="3974229"/>
                  </a:lnTo>
                  <a:cubicBezTo>
                    <a:pt x="2820317" y="3917200"/>
                    <a:pt x="3198085" y="3807735"/>
                    <a:pt x="3359389" y="3773171"/>
                  </a:cubicBezTo>
                  <a:lnTo>
                    <a:pt x="3564844" y="3729145"/>
                  </a:lnTo>
                  <a:cubicBezTo>
                    <a:pt x="3659513" y="3708858"/>
                    <a:pt x="3883426" y="3678834"/>
                    <a:pt x="3980095" y="3673463"/>
                  </a:cubicBezTo>
                  <a:lnTo>
                    <a:pt x="4858753" y="3624648"/>
                  </a:lnTo>
                  <a:cubicBezTo>
                    <a:pt x="5257943" y="3602471"/>
                    <a:pt x="6215961" y="3615714"/>
                    <a:pt x="6614385" y="3648915"/>
                  </a:cubicBezTo>
                  <a:lnTo>
                    <a:pt x="7650072" y="3735222"/>
                  </a:lnTo>
                  <a:cubicBezTo>
                    <a:pt x="7680851" y="3737787"/>
                    <a:pt x="7704525" y="3763516"/>
                    <a:pt x="7704525" y="3794402"/>
                  </a:cubicBezTo>
                  <a:lnTo>
                    <a:pt x="7704525" y="3849044"/>
                  </a:lnTo>
                  <a:cubicBezTo>
                    <a:pt x="7704525" y="3911503"/>
                    <a:pt x="7683134" y="3999982"/>
                    <a:pt x="7654603" y="4055544"/>
                  </a:cubicBezTo>
                  <a:lnTo>
                    <a:pt x="6716247" y="5882867"/>
                  </a:lnTo>
                  <a:cubicBezTo>
                    <a:pt x="6687716" y="5938428"/>
                    <a:pt x="6666326" y="6026909"/>
                    <a:pt x="6666326" y="6089367"/>
                  </a:cubicBezTo>
                  <a:lnTo>
                    <a:pt x="6666326" y="6144009"/>
                  </a:lnTo>
                  <a:cubicBezTo>
                    <a:pt x="6666326" y="6176318"/>
                    <a:pt x="6677816" y="6217801"/>
                    <a:pt x="6694439" y="6245506"/>
                  </a:cubicBezTo>
                  <a:lnTo>
                    <a:pt x="6773588" y="6377421"/>
                  </a:lnTo>
                  <a:cubicBezTo>
                    <a:pt x="6809358" y="6437037"/>
                    <a:pt x="6870550" y="6476899"/>
                    <a:pt x="6939536" y="6485522"/>
                  </a:cubicBezTo>
                  <a:lnTo>
                    <a:pt x="7048820" y="6499183"/>
                  </a:lnTo>
                  <a:cubicBezTo>
                    <a:pt x="7189975" y="6516826"/>
                    <a:pt x="7330425" y="6480539"/>
                    <a:pt x="7445367" y="6396726"/>
                  </a:cubicBezTo>
                  <a:lnTo>
                    <a:pt x="9204439" y="5114070"/>
                  </a:lnTo>
                  <a:cubicBezTo>
                    <a:pt x="9492629" y="4903932"/>
                    <a:pt x="10302032" y="4344761"/>
                    <a:pt x="10600551" y="4149576"/>
                  </a:cubicBezTo>
                  <a:lnTo>
                    <a:pt x="11181544" y="3769696"/>
                  </a:lnTo>
                  <a:cubicBezTo>
                    <a:pt x="11243610" y="3729114"/>
                    <a:pt x="11367745" y="3628270"/>
                    <a:pt x="11420182" y="3575834"/>
                  </a:cubicBezTo>
                  <a:lnTo>
                    <a:pt x="11474824" y="3521193"/>
                  </a:lnTo>
                  <a:cubicBezTo>
                    <a:pt x="11508341" y="3487673"/>
                    <a:pt x="11534377" y="3437083"/>
                    <a:pt x="11542169" y="3390325"/>
                  </a:cubicBezTo>
                  <a:lnTo>
                    <a:pt x="11572879" y="3206071"/>
                  </a:lnTo>
                  <a:cubicBezTo>
                    <a:pt x="11580051" y="3163042"/>
                    <a:pt x="11569300" y="3118953"/>
                    <a:pt x="11543127" y="3084056"/>
                  </a:cubicBezTo>
                  <a:close/>
                </a:path>
              </a:pathLst>
            </a:custGeom>
            <a:solidFill>
              <a:srgbClr val="EAE5DD"/>
            </a:solidFill>
            <a:ln cap="sq">
              <a:noFill/>
              <a:prstDash val="solid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-85725"/>
              <a:ext cx="11582400" cy="6626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880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7283F">
                <a:alpha val="100000"/>
              </a:srgbClr>
            </a:gs>
            <a:gs pos="100000">
              <a:srgbClr val="121019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3547587" y="1380994"/>
            <a:ext cx="195487" cy="151769"/>
          </a:xfrm>
          <a:custGeom>
            <a:avLst/>
            <a:gdLst/>
            <a:ahLst/>
            <a:cxnLst/>
            <a:rect r="r" b="b" t="t" l="l"/>
            <a:pathLst>
              <a:path h="151769" w="195487">
                <a:moveTo>
                  <a:pt x="195487" y="151769"/>
                </a:moveTo>
                <a:lnTo>
                  <a:pt x="0" y="151769"/>
                </a:lnTo>
                <a:lnTo>
                  <a:pt x="0" y="0"/>
                </a:lnTo>
                <a:lnTo>
                  <a:pt x="195487" y="0"/>
                </a:lnTo>
                <a:lnTo>
                  <a:pt x="195487" y="15176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673227" y="-514350"/>
            <a:ext cx="2941547" cy="1028700"/>
            <a:chOff x="0" y="0"/>
            <a:chExt cx="1997346" cy="6985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97346" cy="698500"/>
            </a:xfrm>
            <a:custGeom>
              <a:avLst/>
              <a:gdLst/>
              <a:ahLst/>
              <a:cxnLst/>
              <a:rect r="r" b="b" t="t" l="l"/>
              <a:pathLst>
                <a:path h="698500" w="1997346">
                  <a:moveTo>
                    <a:pt x="1997346" y="349250"/>
                  </a:moveTo>
                  <a:lnTo>
                    <a:pt x="1794146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1794146" y="0"/>
                  </a:lnTo>
                  <a:lnTo>
                    <a:pt x="1997346" y="349250"/>
                  </a:lnTo>
                  <a:close/>
                </a:path>
              </a:pathLst>
            </a:custGeom>
            <a:gradFill rotWithShape="true">
              <a:gsLst>
                <a:gs pos="0">
                  <a:srgbClr val="C04AFF">
                    <a:alpha val="100000"/>
                  </a:srgbClr>
                </a:gs>
                <a:gs pos="100000">
                  <a:srgbClr val="DFBAFF">
                    <a:alpha val="100000"/>
                  </a:srgbClr>
                </a:gs>
              </a:gsLst>
              <a:lin ang="2700000"/>
            </a:gradFill>
            <a:ln w="19050" cap="sq">
              <a:gradFill>
                <a:gsLst>
                  <a:gs pos="0">
                    <a:srgbClr val="C04AFF">
                      <a:alpha val="100000"/>
                    </a:srgbClr>
                  </a:gs>
                  <a:gs pos="100000">
                    <a:srgbClr val="DFBAFF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114300" y="-47625"/>
              <a:ext cx="1768746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24269" y="3610331"/>
            <a:ext cx="8192450" cy="5647969"/>
            <a:chOff x="0" y="0"/>
            <a:chExt cx="2188209" cy="150857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88209" cy="1508576"/>
            </a:xfrm>
            <a:custGeom>
              <a:avLst/>
              <a:gdLst/>
              <a:ahLst/>
              <a:cxnLst/>
              <a:rect r="r" b="b" t="t" l="l"/>
              <a:pathLst>
                <a:path h="1508576" w="2188209">
                  <a:moveTo>
                    <a:pt x="0" y="0"/>
                  </a:moveTo>
                  <a:lnTo>
                    <a:pt x="2188209" y="0"/>
                  </a:lnTo>
                  <a:lnTo>
                    <a:pt x="2188209" y="1508576"/>
                  </a:lnTo>
                  <a:lnTo>
                    <a:pt x="0" y="1508576"/>
                  </a:lnTo>
                  <a:close/>
                </a:path>
              </a:pathLst>
            </a:custGeom>
            <a:gradFill rotWithShape="true">
              <a:gsLst>
                <a:gs pos="0">
                  <a:srgbClr val="C04AFF">
                    <a:alpha val="35000"/>
                  </a:srgbClr>
                </a:gs>
                <a:gs pos="100000">
                  <a:srgbClr val="C04A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188209" cy="15562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24269" y="3610331"/>
            <a:ext cx="157625" cy="5647969"/>
            <a:chOff x="0" y="0"/>
            <a:chExt cx="42102" cy="150857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2102" cy="1508576"/>
            </a:xfrm>
            <a:custGeom>
              <a:avLst/>
              <a:gdLst/>
              <a:ahLst/>
              <a:cxnLst/>
              <a:rect r="r" b="b" t="t" l="l"/>
              <a:pathLst>
                <a:path h="1508576" w="42102">
                  <a:moveTo>
                    <a:pt x="0" y="0"/>
                  </a:moveTo>
                  <a:lnTo>
                    <a:pt x="42102" y="0"/>
                  </a:lnTo>
                  <a:lnTo>
                    <a:pt x="42102" y="1508576"/>
                  </a:lnTo>
                  <a:lnTo>
                    <a:pt x="0" y="1508576"/>
                  </a:lnTo>
                  <a:close/>
                </a:path>
              </a:pathLst>
            </a:custGeom>
            <a:gradFill rotWithShape="true">
              <a:gsLst>
                <a:gs pos="0">
                  <a:srgbClr val="C04AFF">
                    <a:alpha val="100000"/>
                  </a:srgbClr>
                </a:gs>
                <a:gs pos="100000">
                  <a:srgbClr val="DFBA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42102" cy="15562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086406" y="9550038"/>
            <a:ext cx="195487" cy="151769"/>
          </a:xfrm>
          <a:custGeom>
            <a:avLst/>
            <a:gdLst/>
            <a:ahLst/>
            <a:cxnLst/>
            <a:rect r="r" b="b" t="t" l="l"/>
            <a:pathLst>
              <a:path h="151769" w="195487">
                <a:moveTo>
                  <a:pt x="0" y="0"/>
                </a:moveTo>
                <a:lnTo>
                  <a:pt x="195487" y="0"/>
                </a:lnTo>
                <a:lnTo>
                  <a:pt x="195487" y="151769"/>
                </a:lnTo>
                <a:lnTo>
                  <a:pt x="0" y="1517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574729" y="7560399"/>
            <a:ext cx="978168" cy="2726601"/>
          </a:xfrm>
          <a:custGeom>
            <a:avLst/>
            <a:gdLst/>
            <a:ahLst/>
            <a:cxnLst/>
            <a:rect r="r" b="b" t="t" l="l"/>
            <a:pathLst>
              <a:path h="2726601" w="978168">
                <a:moveTo>
                  <a:pt x="0" y="0"/>
                </a:moveTo>
                <a:lnTo>
                  <a:pt x="978168" y="0"/>
                </a:lnTo>
                <a:lnTo>
                  <a:pt x="978168" y="2726601"/>
                </a:lnTo>
                <a:lnTo>
                  <a:pt x="0" y="27266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531218" y="3714085"/>
            <a:ext cx="11812230" cy="5330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2"/>
              </a:lnSpc>
            </a:pPr>
            <a:r>
              <a:rPr lang="en-US" sz="2759">
                <a:solidFill>
                  <a:srgbClr val="DFE6E9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</a:t>
            </a:r>
            <a:r>
              <a:rPr lang="en-US" sz="2759" b="true">
                <a:solidFill>
                  <a:srgbClr val="DFE6E9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riginal Dataset:</a:t>
            </a:r>
          </a:p>
          <a:p>
            <a:pPr algn="l">
              <a:lnSpc>
                <a:spcPts val="3862"/>
              </a:lnSpc>
            </a:pPr>
            <a:r>
              <a:rPr lang="en-US" sz="2759">
                <a:solidFill>
                  <a:srgbClr val="DFE6E9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10 relationship outcome categories</a:t>
            </a:r>
          </a:p>
          <a:p>
            <a:pPr algn="l">
              <a:lnSpc>
                <a:spcPts val="3862"/>
              </a:lnSpc>
            </a:pPr>
            <a:r>
              <a:rPr lang="en-US" sz="2759" b="true">
                <a:solidFill>
                  <a:srgbClr val="DFE6E9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Examples:</a:t>
            </a:r>
          </a:p>
          <a:p>
            <a:pPr algn="l" marL="595691" indent="-297846" lvl="1">
              <a:lnSpc>
                <a:spcPts val="3862"/>
              </a:lnSpc>
              <a:buFont typeface="Arial"/>
              <a:buChar char="•"/>
            </a:pPr>
            <a:r>
              <a:rPr lang="en-US" sz="2759">
                <a:solidFill>
                  <a:srgbClr val="DFE6E9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Mutual Match</a:t>
            </a:r>
          </a:p>
          <a:p>
            <a:pPr algn="l" marL="595691" indent="-297846" lvl="1">
              <a:lnSpc>
                <a:spcPts val="3862"/>
              </a:lnSpc>
              <a:buFont typeface="Arial"/>
              <a:buChar char="•"/>
            </a:pPr>
            <a:r>
              <a:rPr lang="en-US" sz="2759">
                <a:solidFill>
                  <a:srgbClr val="DFE6E9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Long-Term Relationship</a:t>
            </a:r>
          </a:p>
          <a:p>
            <a:pPr algn="l" marL="595691" indent="-297846" lvl="1">
              <a:lnSpc>
                <a:spcPts val="3862"/>
              </a:lnSpc>
              <a:buFont typeface="Arial"/>
              <a:buChar char="•"/>
            </a:pPr>
            <a:r>
              <a:rPr lang="en-US" sz="2759">
                <a:solidFill>
                  <a:srgbClr val="DFE6E9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Ghosted</a:t>
            </a:r>
          </a:p>
          <a:p>
            <a:pPr algn="l" marL="595691" indent="-297846" lvl="1">
              <a:lnSpc>
                <a:spcPts val="3862"/>
              </a:lnSpc>
              <a:buFont typeface="Arial"/>
              <a:buChar char="•"/>
            </a:pPr>
            <a:r>
              <a:rPr lang="en-US" sz="2759">
                <a:solidFill>
                  <a:srgbClr val="DFE6E9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Catfished</a:t>
            </a:r>
          </a:p>
          <a:p>
            <a:pPr algn="l" marL="595691" indent="-297846" lvl="1">
              <a:lnSpc>
                <a:spcPts val="3862"/>
              </a:lnSpc>
              <a:buFont typeface="Arial"/>
              <a:buChar char="•"/>
            </a:pPr>
            <a:r>
              <a:rPr lang="en-US" sz="2759">
                <a:solidFill>
                  <a:srgbClr val="DFE6E9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No Response</a:t>
            </a:r>
          </a:p>
          <a:p>
            <a:pPr algn="l">
              <a:lnSpc>
                <a:spcPts val="3862"/>
              </a:lnSpc>
            </a:pPr>
            <a:r>
              <a:rPr lang="en-US" sz="2759" b="true">
                <a:solidFill>
                  <a:srgbClr val="DFE6E9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Convert</a:t>
            </a:r>
            <a:r>
              <a:rPr lang="en-US" sz="2759" b="true">
                <a:solidFill>
                  <a:srgbClr val="DFE6E9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ed into Binary Classification:</a:t>
            </a:r>
          </a:p>
          <a:p>
            <a:pPr algn="l">
              <a:lnSpc>
                <a:spcPts val="3862"/>
              </a:lnSpc>
            </a:pPr>
            <a:r>
              <a:rPr lang="en-US" sz="2759">
                <a:solidFill>
                  <a:srgbClr val="DFE6E9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Positive Outcome → Successful Connection</a:t>
            </a:r>
          </a:p>
          <a:p>
            <a:pPr algn="l">
              <a:lnSpc>
                <a:spcPts val="3862"/>
              </a:lnSpc>
            </a:pPr>
            <a:r>
              <a:rPr lang="en-US" sz="2759">
                <a:solidFill>
                  <a:srgbClr val="DFE6E9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Negative Outcome → Unsuccessful Connection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3135172" y="6149166"/>
            <a:ext cx="1215805" cy="1153414"/>
            <a:chOff x="0" y="0"/>
            <a:chExt cx="856767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56767" cy="812800"/>
            </a:xfrm>
            <a:custGeom>
              <a:avLst/>
              <a:gdLst/>
              <a:ahLst/>
              <a:cxnLst/>
              <a:rect r="r" b="b" t="t" l="l"/>
              <a:pathLst>
                <a:path h="812800" w="856767">
                  <a:moveTo>
                    <a:pt x="428383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653567" y="0"/>
                  </a:lnTo>
                  <a:lnTo>
                    <a:pt x="653567" y="406400"/>
                  </a:lnTo>
                  <a:lnTo>
                    <a:pt x="856767" y="406400"/>
                  </a:lnTo>
                  <a:lnTo>
                    <a:pt x="428383" y="812800"/>
                  </a:lnTo>
                  <a:close/>
                </a:path>
              </a:pathLst>
            </a:custGeom>
            <a:solidFill>
              <a:srgbClr val="F1EFEC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203200" y="-47625"/>
              <a:ext cx="450367" cy="758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026525" y="1190625"/>
            <a:ext cx="8794157" cy="2369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98"/>
              </a:lnSpc>
            </a:pPr>
            <a:r>
              <a:rPr lang="en-US" sz="9098" spc="-454">
                <a:solidFill>
                  <a:srgbClr val="F9F4FF"/>
                </a:solidFill>
                <a:latin typeface="Bicubik"/>
                <a:ea typeface="Bicubik"/>
                <a:cs typeface="Bicubik"/>
                <a:sym typeface="Bicubik"/>
              </a:rPr>
              <a:t>TARG</a:t>
            </a:r>
            <a:r>
              <a:rPr lang="en-US" sz="9098" spc="-454">
                <a:solidFill>
                  <a:srgbClr val="F9F4FF"/>
                </a:solidFill>
                <a:latin typeface="Bicubik"/>
                <a:ea typeface="Bicubik"/>
                <a:cs typeface="Bicubik"/>
                <a:sym typeface="Bicubik"/>
              </a:rPr>
              <a:t>ET ENGINEERING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1434929" y="1130443"/>
            <a:ext cx="4616290" cy="1672129"/>
            <a:chOff x="0" y="0"/>
            <a:chExt cx="1157020" cy="4191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57020" cy="419100"/>
            </a:xfrm>
            <a:custGeom>
              <a:avLst/>
              <a:gdLst/>
              <a:ahLst/>
              <a:cxnLst/>
              <a:rect r="r" b="b" t="t" l="l"/>
              <a:pathLst>
                <a:path h="419100" w="1157020">
                  <a:moveTo>
                    <a:pt x="32756" y="0"/>
                  </a:moveTo>
                  <a:lnTo>
                    <a:pt x="1124265" y="0"/>
                  </a:lnTo>
                  <a:cubicBezTo>
                    <a:pt x="1132952" y="0"/>
                    <a:pt x="1141284" y="3451"/>
                    <a:pt x="1147426" y="9594"/>
                  </a:cubicBezTo>
                  <a:cubicBezTo>
                    <a:pt x="1153569" y="15737"/>
                    <a:pt x="1157020" y="24068"/>
                    <a:pt x="1157020" y="32756"/>
                  </a:cubicBezTo>
                  <a:lnTo>
                    <a:pt x="1157020" y="386344"/>
                  </a:lnTo>
                  <a:cubicBezTo>
                    <a:pt x="1157020" y="395032"/>
                    <a:pt x="1153569" y="403363"/>
                    <a:pt x="1147426" y="409506"/>
                  </a:cubicBezTo>
                  <a:cubicBezTo>
                    <a:pt x="1141284" y="415649"/>
                    <a:pt x="1132952" y="419100"/>
                    <a:pt x="1124265" y="419100"/>
                  </a:cubicBezTo>
                  <a:lnTo>
                    <a:pt x="32756" y="419100"/>
                  </a:lnTo>
                  <a:cubicBezTo>
                    <a:pt x="24068" y="419100"/>
                    <a:pt x="15737" y="415649"/>
                    <a:pt x="9594" y="409506"/>
                  </a:cubicBezTo>
                  <a:cubicBezTo>
                    <a:pt x="3451" y="403363"/>
                    <a:pt x="0" y="395032"/>
                    <a:pt x="0" y="386344"/>
                  </a:cubicBezTo>
                  <a:lnTo>
                    <a:pt x="0" y="32756"/>
                  </a:lnTo>
                  <a:cubicBezTo>
                    <a:pt x="0" y="24068"/>
                    <a:pt x="3451" y="15737"/>
                    <a:pt x="9594" y="9594"/>
                  </a:cubicBezTo>
                  <a:cubicBezTo>
                    <a:pt x="15737" y="3451"/>
                    <a:pt x="24068" y="0"/>
                    <a:pt x="32756" y="0"/>
                  </a:cubicBezTo>
                  <a:close/>
                </a:path>
              </a:pathLst>
            </a:custGeom>
            <a:solidFill>
              <a:srgbClr val="594E50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1157020" cy="466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1570230" y="1673044"/>
            <a:ext cx="4453934" cy="529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99"/>
              </a:lnSpc>
              <a:spcBef>
                <a:spcPct val="0"/>
              </a:spcBef>
            </a:pPr>
            <a:r>
              <a:rPr lang="en-US" sz="314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10 Classes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1434929" y="4295189"/>
            <a:ext cx="4616290" cy="1672129"/>
            <a:chOff x="0" y="0"/>
            <a:chExt cx="1157020" cy="4191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57020" cy="419100"/>
            </a:xfrm>
            <a:custGeom>
              <a:avLst/>
              <a:gdLst/>
              <a:ahLst/>
              <a:cxnLst/>
              <a:rect r="r" b="b" t="t" l="l"/>
              <a:pathLst>
                <a:path h="419100" w="1157020">
                  <a:moveTo>
                    <a:pt x="32756" y="0"/>
                  </a:moveTo>
                  <a:lnTo>
                    <a:pt x="1124265" y="0"/>
                  </a:lnTo>
                  <a:cubicBezTo>
                    <a:pt x="1132952" y="0"/>
                    <a:pt x="1141284" y="3451"/>
                    <a:pt x="1147426" y="9594"/>
                  </a:cubicBezTo>
                  <a:cubicBezTo>
                    <a:pt x="1153569" y="15737"/>
                    <a:pt x="1157020" y="24068"/>
                    <a:pt x="1157020" y="32756"/>
                  </a:cubicBezTo>
                  <a:lnTo>
                    <a:pt x="1157020" y="386344"/>
                  </a:lnTo>
                  <a:cubicBezTo>
                    <a:pt x="1157020" y="395032"/>
                    <a:pt x="1153569" y="403363"/>
                    <a:pt x="1147426" y="409506"/>
                  </a:cubicBezTo>
                  <a:cubicBezTo>
                    <a:pt x="1141284" y="415649"/>
                    <a:pt x="1132952" y="419100"/>
                    <a:pt x="1124265" y="419100"/>
                  </a:cubicBezTo>
                  <a:lnTo>
                    <a:pt x="32756" y="419100"/>
                  </a:lnTo>
                  <a:cubicBezTo>
                    <a:pt x="24068" y="419100"/>
                    <a:pt x="15737" y="415649"/>
                    <a:pt x="9594" y="409506"/>
                  </a:cubicBezTo>
                  <a:cubicBezTo>
                    <a:pt x="3451" y="403363"/>
                    <a:pt x="0" y="395032"/>
                    <a:pt x="0" y="386344"/>
                  </a:cubicBezTo>
                  <a:lnTo>
                    <a:pt x="0" y="32756"/>
                  </a:lnTo>
                  <a:cubicBezTo>
                    <a:pt x="0" y="24068"/>
                    <a:pt x="3451" y="15737"/>
                    <a:pt x="9594" y="9594"/>
                  </a:cubicBezTo>
                  <a:cubicBezTo>
                    <a:pt x="15737" y="3451"/>
                    <a:pt x="24068" y="0"/>
                    <a:pt x="32756" y="0"/>
                  </a:cubicBezTo>
                  <a:close/>
                </a:path>
              </a:pathLst>
            </a:custGeom>
            <a:solidFill>
              <a:srgbClr val="594E50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1157020" cy="466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1468526" y="4838226"/>
            <a:ext cx="4453934" cy="529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99"/>
              </a:lnSpc>
              <a:spcBef>
                <a:spcPct val="0"/>
              </a:spcBef>
            </a:pPr>
            <a:r>
              <a:rPr lang="en-US" sz="314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Bin</a:t>
            </a:r>
            <a:r>
              <a:rPr lang="en-US" sz="314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arization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1434929" y="7484428"/>
            <a:ext cx="4616290" cy="1672129"/>
            <a:chOff x="0" y="0"/>
            <a:chExt cx="1157020" cy="4191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157020" cy="419100"/>
            </a:xfrm>
            <a:custGeom>
              <a:avLst/>
              <a:gdLst/>
              <a:ahLst/>
              <a:cxnLst/>
              <a:rect r="r" b="b" t="t" l="l"/>
              <a:pathLst>
                <a:path h="419100" w="1157020">
                  <a:moveTo>
                    <a:pt x="32756" y="0"/>
                  </a:moveTo>
                  <a:lnTo>
                    <a:pt x="1124265" y="0"/>
                  </a:lnTo>
                  <a:cubicBezTo>
                    <a:pt x="1132952" y="0"/>
                    <a:pt x="1141284" y="3451"/>
                    <a:pt x="1147426" y="9594"/>
                  </a:cubicBezTo>
                  <a:cubicBezTo>
                    <a:pt x="1153569" y="15737"/>
                    <a:pt x="1157020" y="24068"/>
                    <a:pt x="1157020" y="32756"/>
                  </a:cubicBezTo>
                  <a:lnTo>
                    <a:pt x="1157020" y="386344"/>
                  </a:lnTo>
                  <a:cubicBezTo>
                    <a:pt x="1157020" y="395032"/>
                    <a:pt x="1153569" y="403363"/>
                    <a:pt x="1147426" y="409506"/>
                  </a:cubicBezTo>
                  <a:cubicBezTo>
                    <a:pt x="1141284" y="415649"/>
                    <a:pt x="1132952" y="419100"/>
                    <a:pt x="1124265" y="419100"/>
                  </a:cubicBezTo>
                  <a:lnTo>
                    <a:pt x="32756" y="419100"/>
                  </a:lnTo>
                  <a:cubicBezTo>
                    <a:pt x="24068" y="419100"/>
                    <a:pt x="15737" y="415649"/>
                    <a:pt x="9594" y="409506"/>
                  </a:cubicBezTo>
                  <a:cubicBezTo>
                    <a:pt x="3451" y="403363"/>
                    <a:pt x="0" y="395032"/>
                    <a:pt x="0" y="386344"/>
                  </a:cubicBezTo>
                  <a:lnTo>
                    <a:pt x="0" y="32756"/>
                  </a:lnTo>
                  <a:cubicBezTo>
                    <a:pt x="0" y="24068"/>
                    <a:pt x="3451" y="15737"/>
                    <a:pt x="9594" y="9594"/>
                  </a:cubicBezTo>
                  <a:cubicBezTo>
                    <a:pt x="15737" y="3451"/>
                    <a:pt x="24068" y="0"/>
                    <a:pt x="32756" y="0"/>
                  </a:cubicBezTo>
                  <a:close/>
                </a:path>
              </a:pathLst>
            </a:custGeom>
            <a:solidFill>
              <a:srgbClr val="594E50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1157020" cy="466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1647277" y="7848687"/>
            <a:ext cx="4376888" cy="895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Connection = 1</a:t>
            </a:r>
          </a:p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No Connection = 0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3189295" y="2960800"/>
            <a:ext cx="1215805" cy="1153414"/>
            <a:chOff x="0" y="0"/>
            <a:chExt cx="856767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56767" cy="812800"/>
            </a:xfrm>
            <a:custGeom>
              <a:avLst/>
              <a:gdLst/>
              <a:ahLst/>
              <a:cxnLst/>
              <a:rect r="r" b="b" t="t" l="l"/>
              <a:pathLst>
                <a:path h="812800" w="856767">
                  <a:moveTo>
                    <a:pt x="428383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653567" y="0"/>
                  </a:lnTo>
                  <a:lnTo>
                    <a:pt x="653567" y="406400"/>
                  </a:lnTo>
                  <a:lnTo>
                    <a:pt x="856767" y="406400"/>
                  </a:lnTo>
                  <a:lnTo>
                    <a:pt x="428383" y="812800"/>
                  </a:lnTo>
                  <a:close/>
                </a:path>
              </a:pathLst>
            </a:custGeom>
            <a:solidFill>
              <a:srgbClr val="F1EFEC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203200" y="-47625"/>
              <a:ext cx="450367" cy="758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7283F">
                <a:alpha val="100000"/>
              </a:srgbClr>
            </a:gs>
            <a:gs pos="100000">
              <a:srgbClr val="121019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8881" y="3805179"/>
            <a:ext cx="9586073" cy="5506409"/>
            <a:chOff x="0" y="0"/>
            <a:chExt cx="9450462" cy="54285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450462" cy="5428511"/>
            </a:xfrm>
            <a:custGeom>
              <a:avLst/>
              <a:gdLst/>
              <a:ahLst/>
              <a:cxnLst/>
              <a:rect r="r" b="b" t="t" l="l"/>
              <a:pathLst>
                <a:path h="5428511" w="9450462">
                  <a:moveTo>
                    <a:pt x="9212337" y="0"/>
                  </a:moveTo>
                  <a:lnTo>
                    <a:pt x="9450462" y="238125"/>
                  </a:lnTo>
                  <a:lnTo>
                    <a:pt x="9450462" y="5190386"/>
                  </a:lnTo>
                  <a:lnTo>
                    <a:pt x="9212337" y="5428511"/>
                  </a:lnTo>
                  <a:lnTo>
                    <a:pt x="238125" y="5428511"/>
                  </a:lnTo>
                  <a:lnTo>
                    <a:pt x="0" y="5190386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9212337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27283F">
                    <a:alpha val="100000"/>
                  </a:srgbClr>
                </a:gs>
                <a:gs pos="100000">
                  <a:srgbClr val="121019">
                    <a:alpha val="100000"/>
                  </a:srgbClr>
                </a:gs>
              </a:gsLst>
              <a:lin ang="5400000"/>
            </a:gradFill>
            <a:ln w="9525" cap="sq">
              <a:gradFill>
                <a:gsLst>
                  <a:gs pos="0">
                    <a:srgbClr val="F9F4FF">
                      <a:alpha val="100000"/>
                    </a:srgbClr>
                  </a:gs>
                  <a:gs pos="100000">
                    <a:srgbClr val="F9F4FF">
                      <a:alpha val="245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63500" y="15875"/>
              <a:ext cx="9323462" cy="53491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true" rot="0">
            <a:off x="17063813" y="1563913"/>
            <a:ext cx="195487" cy="151769"/>
          </a:xfrm>
          <a:custGeom>
            <a:avLst/>
            <a:gdLst/>
            <a:ahLst/>
            <a:cxnLst/>
            <a:rect r="r" b="b" t="t" l="l"/>
            <a:pathLst>
              <a:path h="151769" w="195487">
                <a:moveTo>
                  <a:pt x="195487" y="151769"/>
                </a:moveTo>
                <a:lnTo>
                  <a:pt x="0" y="151769"/>
                </a:lnTo>
                <a:lnTo>
                  <a:pt x="0" y="0"/>
                </a:lnTo>
                <a:lnTo>
                  <a:pt x="195487" y="0"/>
                </a:lnTo>
                <a:lnTo>
                  <a:pt x="195487" y="15176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7673227" y="-514350"/>
            <a:ext cx="2941547" cy="1028700"/>
            <a:chOff x="0" y="0"/>
            <a:chExt cx="1997346" cy="6985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97346" cy="698500"/>
            </a:xfrm>
            <a:custGeom>
              <a:avLst/>
              <a:gdLst/>
              <a:ahLst/>
              <a:cxnLst/>
              <a:rect r="r" b="b" t="t" l="l"/>
              <a:pathLst>
                <a:path h="698500" w="1997346">
                  <a:moveTo>
                    <a:pt x="1997346" y="349250"/>
                  </a:moveTo>
                  <a:lnTo>
                    <a:pt x="1794146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1794146" y="0"/>
                  </a:lnTo>
                  <a:lnTo>
                    <a:pt x="1997346" y="349250"/>
                  </a:lnTo>
                  <a:close/>
                </a:path>
              </a:pathLst>
            </a:custGeom>
            <a:gradFill rotWithShape="true">
              <a:gsLst>
                <a:gs pos="0">
                  <a:srgbClr val="C04AFF">
                    <a:alpha val="100000"/>
                  </a:srgbClr>
                </a:gs>
                <a:gs pos="100000">
                  <a:srgbClr val="DFBAFF">
                    <a:alpha val="100000"/>
                  </a:srgbClr>
                </a:gs>
              </a:gsLst>
              <a:lin ang="2700000"/>
            </a:gradFill>
            <a:ln w="19050" cap="sq">
              <a:gradFill>
                <a:gsLst>
                  <a:gs pos="0">
                    <a:srgbClr val="C04AFF">
                      <a:alpha val="100000"/>
                    </a:srgbClr>
                  </a:gs>
                  <a:gs pos="100000">
                    <a:srgbClr val="DFBAFF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14300" y="-47625"/>
              <a:ext cx="1768746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026525" y="9106531"/>
            <a:ext cx="195487" cy="151769"/>
          </a:xfrm>
          <a:custGeom>
            <a:avLst/>
            <a:gdLst/>
            <a:ahLst/>
            <a:cxnLst/>
            <a:rect r="r" b="b" t="t" l="l"/>
            <a:pathLst>
              <a:path h="151769" w="195487">
                <a:moveTo>
                  <a:pt x="0" y="0"/>
                </a:moveTo>
                <a:lnTo>
                  <a:pt x="195487" y="0"/>
                </a:lnTo>
                <a:lnTo>
                  <a:pt x="195487" y="151769"/>
                </a:lnTo>
                <a:lnTo>
                  <a:pt x="0" y="1517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0800000">
            <a:off x="16503541" y="0"/>
            <a:ext cx="1120543" cy="3123465"/>
          </a:xfrm>
          <a:custGeom>
            <a:avLst/>
            <a:gdLst/>
            <a:ahLst/>
            <a:cxnLst/>
            <a:rect r="r" b="b" t="t" l="l"/>
            <a:pathLst>
              <a:path h="3123465" w="1120543">
                <a:moveTo>
                  <a:pt x="0" y="0"/>
                </a:moveTo>
                <a:lnTo>
                  <a:pt x="1120543" y="0"/>
                </a:lnTo>
                <a:lnTo>
                  <a:pt x="1120543" y="3123465"/>
                </a:lnTo>
                <a:lnTo>
                  <a:pt x="0" y="31234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809141" y="3679185"/>
            <a:ext cx="7254672" cy="5758396"/>
          </a:xfrm>
          <a:custGeom>
            <a:avLst/>
            <a:gdLst/>
            <a:ahLst/>
            <a:cxnLst/>
            <a:rect r="r" b="b" t="t" l="l"/>
            <a:pathLst>
              <a:path h="5758396" w="7254672">
                <a:moveTo>
                  <a:pt x="0" y="0"/>
                </a:moveTo>
                <a:lnTo>
                  <a:pt x="7254672" y="0"/>
                </a:lnTo>
                <a:lnTo>
                  <a:pt x="7254672" y="5758396"/>
                </a:lnTo>
                <a:lnTo>
                  <a:pt x="0" y="57583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728881" y="1190625"/>
            <a:ext cx="14830238" cy="2369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98"/>
              </a:lnSpc>
            </a:pPr>
            <a:r>
              <a:rPr lang="en-US" sz="9098" spc="-454">
                <a:solidFill>
                  <a:srgbClr val="F9F4FF"/>
                </a:solidFill>
                <a:latin typeface="Bicubik"/>
                <a:ea typeface="Bicubik"/>
                <a:cs typeface="Bicubik"/>
                <a:sym typeface="Bicubik"/>
              </a:rPr>
              <a:t>EXPLORATORY</a:t>
            </a:r>
            <a:r>
              <a:rPr lang="en-US" sz="9098" spc="-454">
                <a:solidFill>
                  <a:srgbClr val="F9F4FF"/>
                </a:solidFill>
                <a:latin typeface="Bicubik"/>
                <a:ea typeface="Bicubik"/>
                <a:cs typeface="Bicubik"/>
                <a:sym typeface="Bicubik"/>
              </a:rPr>
              <a:t> DATA ANALYSIS (EDA)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116631" y="3928276"/>
            <a:ext cx="7027369" cy="4892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2"/>
              </a:lnSpc>
            </a:pPr>
            <a:r>
              <a:rPr lang="en-US" sz="2759">
                <a:solidFill>
                  <a:srgbClr val="EAE5DD"/>
                </a:solidFill>
                <a:latin typeface="Inter Light"/>
                <a:ea typeface="Inter Light"/>
                <a:cs typeface="Inter Light"/>
                <a:sym typeface="Inter Light"/>
              </a:rPr>
              <a:t>Initial E</a:t>
            </a:r>
            <a:r>
              <a:rPr lang="en-US" sz="2759">
                <a:solidFill>
                  <a:srgbClr val="EAE5DD"/>
                </a:solidFill>
                <a:latin typeface="Inter Light"/>
                <a:ea typeface="Inter Light"/>
                <a:cs typeface="Inter Light"/>
                <a:sym typeface="Inter Light"/>
              </a:rPr>
              <a:t>DA focused on:</a:t>
            </a:r>
          </a:p>
          <a:p>
            <a:pPr algn="l" marL="595691" indent="-297845" lvl="1">
              <a:lnSpc>
                <a:spcPts val="3862"/>
              </a:lnSpc>
              <a:buFont typeface="Arial"/>
              <a:buChar char="•"/>
            </a:pPr>
            <a:r>
              <a:rPr lang="en-US" sz="2759">
                <a:solidFill>
                  <a:srgbClr val="EAE5DD"/>
                </a:solidFill>
                <a:latin typeface="Inter Light"/>
                <a:ea typeface="Inter Light"/>
                <a:cs typeface="Inter Light"/>
                <a:sym typeface="Inter Light"/>
              </a:rPr>
              <a:t>Missing values</a:t>
            </a:r>
          </a:p>
          <a:p>
            <a:pPr algn="l" marL="595691" indent="-297845" lvl="1">
              <a:lnSpc>
                <a:spcPts val="3862"/>
              </a:lnSpc>
              <a:buFont typeface="Arial"/>
              <a:buChar char="•"/>
            </a:pPr>
            <a:r>
              <a:rPr lang="en-US" sz="2759">
                <a:solidFill>
                  <a:srgbClr val="EAE5DD"/>
                </a:solidFill>
                <a:latin typeface="Inter Light"/>
                <a:ea typeface="Inter Light"/>
                <a:cs typeface="Inter Light"/>
                <a:sym typeface="Inter Light"/>
              </a:rPr>
              <a:t>Duplicate records</a:t>
            </a:r>
          </a:p>
          <a:p>
            <a:pPr algn="l" marL="595691" indent="-297845" lvl="1">
              <a:lnSpc>
                <a:spcPts val="3862"/>
              </a:lnSpc>
              <a:buFont typeface="Arial"/>
              <a:buChar char="•"/>
            </a:pPr>
            <a:r>
              <a:rPr lang="en-US" sz="2759">
                <a:solidFill>
                  <a:srgbClr val="EAE5DD"/>
                </a:solidFill>
                <a:latin typeface="Inter Light"/>
                <a:ea typeface="Inter Light"/>
                <a:cs typeface="Inter Light"/>
                <a:sym typeface="Inter Light"/>
              </a:rPr>
              <a:t>Target distribution</a:t>
            </a:r>
          </a:p>
          <a:p>
            <a:pPr algn="l" marL="595691" indent="-297845" lvl="1">
              <a:lnSpc>
                <a:spcPts val="3862"/>
              </a:lnSpc>
              <a:buFont typeface="Arial"/>
              <a:buChar char="•"/>
            </a:pPr>
            <a:r>
              <a:rPr lang="en-US" sz="2759">
                <a:solidFill>
                  <a:srgbClr val="EAE5DD"/>
                </a:solidFill>
                <a:latin typeface="Inter Light"/>
                <a:ea typeface="Inter Light"/>
                <a:cs typeface="Inter Light"/>
                <a:sym typeface="Inter Light"/>
              </a:rPr>
              <a:t>Feature distributions</a:t>
            </a:r>
          </a:p>
          <a:p>
            <a:pPr algn="l" marL="595691" indent="-297845" lvl="1">
              <a:lnSpc>
                <a:spcPts val="3862"/>
              </a:lnSpc>
              <a:buFont typeface="Arial"/>
              <a:buChar char="•"/>
            </a:pPr>
            <a:r>
              <a:rPr lang="en-US" sz="2759">
                <a:solidFill>
                  <a:srgbClr val="EAE5DD"/>
                </a:solidFill>
                <a:latin typeface="Inter Light"/>
                <a:ea typeface="Inter Light"/>
                <a:cs typeface="Inter Light"/>
                <a:sym typeface="Inter Light"/>
              </a:rPr>
              <a:t>Cor</a:t>
            </a:r>
            <a:r>
              <a:rPr lang="en-US" sz="2759">
                <a:solidFill>
                  <a:srgbClr val="EAE5DD"/>
                </a:solidFill>
                <a:latin typeface="Inter Light"/>
                <a:ea typeface="Inter Light"/>
                <a:cs typeface="Inter Light"/>
                <a:sym typeface="Inter Light"/>
              </a:rPr>
              <a:t>relation analysis</a:t>
            </a:r>
          </a:p>
          <a:p>
            <a:pPr algn="l">
              <a:lnSpc>
                <a:spcPts val="3862"/>
              </a:lnSpc>
            </a:pPr>
            <a:r>
              <a:rPr lang="en-US" sz="2759">
                <a:solidFill>
                  <a:srgbClr val="EAE5DD"/>
                </a:solidFill>
                <a:latin typeface="Inter Light"/>
                <a:ea typeface="Inter Light"/>
                <a:cs typeface="Inter Light"/>
                <a:sym typeface="Inter Light"/>
              </a:rPr>
              <a:t>Findings:</a:t>
            </a:r>
          </a:p>
          <a:p>
            <a:pPr algn="l" marL="595691" indent="-297845" lvl="1">
              <a:lnSpc>
                <a:spcPts val="3862"/>
              </a:lnSpc>
              <a:buFont typeface="Arial"/>
              <a:buChar char="•"/>
            </a:pPr>
            <a:r>
              <a:rPr lang="en-US" sz="2759">
                <a:solidFill>
                  <a:srgbClr val="EAE5DD"/>
                </a:solidFill>
                <a:latin typeface="Inter Light"/>
                <a:ea typeface="Inter Light"/>
                <a:cs typeface="Inter Light"/>
                <a:sym typeface="Inter Light"/>
              </a:rPr>
              <a:t>No missing values</a:t>
            </a:r>
          </a:p>
          <a:p>
            <a:pPr algn="l" marL="595691" indent="-297845" lvl="1">
              <a:lnSpc>
                <a:spcPts val="3862"/>
              </a:lnSpc>
              <a:buFont typeface="Arial"/>
              <a:buChar char="•"/>
            </a:pPr>
            <a:r>
              <a:rPr lang="en-US" sz="2759">
                <a:solidFill>
                  <a:srgbClr val="EAE5DD"/>
                </a:solidFill>
                <a:latin typeface="Inter Light"/>
                <a:ea typeface="Inter Light"/>
                <a:cs typeface="Inter Light"/>
                <a:sym typeface="Inter Light"/>
              </a:rPr>
              <a:t>No duplicate records</a:t>
            </a:r>
          </a:p>
          <a:p>
            <a:pPr algn="l" marL="595691" indent="-297845" lvl="1">
              <a:lnSpc>
                <a:spcPts val="3862"/>
              </a:lnSpc>
              <a:buFont typeface="Arial"/>
              <a:buChar char="•"/>
            </a:pPr>
            <a:r>
              <a:rPr lang="en-US" sz="2759">
                <a:solidFill>
                  <a:srgbClr val="EAE5DD"/>
                </a:solidFill>
                <a:latin typeface="Inter Light"/>
                <a:ea typeface="Inter Light"/>
                <a:cs typeface="Inter Light"/>
                <a:sym typeface="Inter Light"/>
              </a:rPr>
              <a:t>Balanced synthetic dataset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7283F">
                <a:alpha val="100000"/>
              </a:srgbClr>
            </a:gs>
            <a:gs pos="100000">
              <a:srgbClr val="121019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47657" y="3676007"/>
            <a:ext cx="9586073" cy="5506409"/>
            <a:chOff x="0" y="0"/>
            <a:chExt cx="9450462" cy="54285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450462" cy="5428511"/>
            </a:xfrm>
            <a:custGeom>
              <a:avLst/>
              <a:gdLst/>
              <a:ahLst/>
              <a:cxnLst/>
              <a:rect r="r" b="b" t="t" l="l"/>
              <a:pathLst>
                <a:path h="5428511" w="9450462">
                  <a:moveTo>
                    <a:pt x="9212337" y="0"/>
                  </a:moveTo>
                  <a:lnTo>
                    <a:pt x="9450462" y="238125"/>
                  </a:lnTo>
                  <a:lnTo>
                    <a:pt x="9450462" y="5190386"/>
                  </a:lnTo>
                  <a:lnTo>
                    <a:pt x="9212337" y="5428511"/>
                  </a:lnTo>
                  <a:lnTo>
                    <a:pt x="238125" y="5428511"/>
                  </a:lnTo>
                  <a:lnTo>
                    <a:pt x="0" y="5190386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9212337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27283F">
                    <a:alpha val="100000"/>
                  </a:srgbClr>
                </a:gs>
                <a:gs pos="100000">
                  <a:srgbClr val="121019">
                    <a:alpha val="100000"/>
                  </a:srgbClr>
                </a:gs>
              </a:gsLst>
              <a:lin ang="5400000"/>
            </a:gradFill>
            <a:ln w="9525" cap="sq">
              <a:gradFill>
                <a:gsLst>
                  <a:gs pos="0">
                    <a:srgbClr val="F9F4FF">
                      <a:alpha val="100000"/>
                    </a:srgbClr>
                  </a:gs>
                  <a:gs pos="100000">
                    <a:srgbClr val="F9F4FF">
                      <a:alpha val="245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63500" y="15875"/>
              <a:ext cx="9323462" cy="53491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true" rot="0">
            <a:off x="17063813" y="1563913"/>
            <a:ext cx="195487" cy="151769"/>
          </a:xfrm>
          <a:custGeom>
            <a:avLst/>
            <a:gdLst/>
            <a:ahLst/>
            <a:cxnLst/>
            <a:rect r="r" b="b" t="t" l="l"/>
            <a:pathLst>
              <a:path h="151769" w="195487">
                <a:moveTo>
                  <a:pt x="195487" y="151769"/>
                </a:moveTo>
                <a:lnTo>
                  <a:pt x="0" y="151769"/>
                </a:lnTo>
                <a:lnTo>
                  <a:pt x="0" y="0"/>
                </a:lnTo>
                <a:lnTo>
                  <a:pt x="195487" y="0"/>
                </a:lnTo>
                <a:lnTo>
                  <a:pt x="195487" y="15176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7673227" y="-514350"/>
            <a:ext cx="2941547" cy="1028700"/>
            <a:chOff x="0" y="0"/>
            <a:chExt cx="1997346" cy="6985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97346" cy="698500"/>
            </a:xfrm>
            <a:custGeom>
              <a:avLst/>
              <a:gdLst/>
              <a:ahLst/>
              <a:cxnLst/>
              <a:rect r="r" b="b" t="t" l="l"/>
              <a:pathLst>
                <a:path h="698500" w="1997346">
                  <a:moveTo>
                    <a:pt x="1997346" y="349250"/>
                  </a:moveTo>
                  <a:lnTo>
                    <a:pt x="1794146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1794146" y="0"/>
                  </a:lnTo>
                  <a:lnTo>
                    <a:pt x="1997346" y="349250"/>
                  </a:lnTo>
                  <a:close/>
                </a:path>
              </a:pathLst>
            </a:custGeom>
            <a:gradFill rotWithShape="true">
              <a:gsLst>
                <a:gs pos="0">
                  <a:srgbClr val="C04AFF">
                    <a:alpha val="100000"/>
                  </a:srgbClr>
                </a:gs>
                <a:gs pos="100000">
                  <a:srgbClr val="DFBAFF">
                    <a:alpha val="100000"/>
                  </a:srgbClr>
                </a:gs>
              </a:gsLst>
              <a:lin ang="2700000"/>
            </a:gradFill>
            <a:ln w="19050" cap="sq">
              <a:gradFill>
                <a:gsLst>
                  <a:gs pos="0">
                    <a:srgbClr val="C04AFF">
                      <a:alpha val="100000"/>
                    </a:srgbClr>
                  </a:gs>
                  <a:gs pos="100000">
                    <a:srgbClr val="DFBAFF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14300" y="-47625"/>
              <a:ext cx="1768746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026525" y="9106531"/>
            <a:ext cx="195487" cy="151769"/>
          </a:xfrm>
          <a:custGeom>
            <a:avLst/>
            <a:gdLst/>
            <a:ahLst/>
            <a:cxnLst/>
            <a:rect r="r" b="b" t="t" l="l"/>
            <a:pathLst>
              <a:path h="151769" w="195487">
                <a:moveTo>
                  <a:pt x="0" y="0"/>
                </a:moveTo>
                <a:lnTo>
                  <a:pt x="195487" y="0"/>
                </a:lnTo>
                <a:lnTo>
                  <a:pt x="195487" y="151769"/>
                </a:lnTo>
                <a:lnTo>
                  <a:pt x="0" y="1517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0800000">
            <a:off x="16503541" y="0"/>
            <a:ext cx="1120543" cy="3123465"/>
          </a:xfrm>
          <a:custGeom>
            <a:avLst/>
            <a:gdLst/>
            <a:ahLst/>
            <a:cxnLst/>
            <a:rect r="r" b="b" t="t" l="l"/>
            <a:pathLst>
              <a:path h="3123465" w="1120543">
                <a:moveTo>
                  <a:pt x="0" y="0"/>
                </a:moveTo>
                <a:lnTo>
                  <a:pt x="1120543" y="0"/>
                </a:lnTo>
                <a:lnTo>
                  <a:pt x="1120543" y="3123465"/>
                </a:lnTo>
                <a:lnTo>
                  <a:pt x="0" y="31234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144000" y="3676007"/>
            <a:ext cx="8480084" cy="5194052"/>
          </a:xfrm>
          <a:custGeom>
            <a:avLst/>
            <a:gdLst/>
            <a:ahLst/>
            <a:cxnLst/>
            <a:rect r="r" b="b" t="t" l="l"/>
            <a:pathLst>
              <a:path h="5194052" w="8480084">
                <a:moveTo>
                  <a:pt x="0" y="0"/>
                </a:moveTo>
                <a:lnTo>
                  <a:pt x="8480084" y="0"/>
                </a:lnTo>
                <a:lnTo>
                  <a:pt x="8480084" y="5194051"/>
                </a:lnTo>
                <a:lnTo>
                  <a:pt x="0" y="519405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447657" y="1061453"/>
            <a:ext cx="14830238" cy="2369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98"/>
              </a:lnSpc>
            </a:pPr>
            <a:r>
              <a:rPr lang="en-US" sz="9098" spc="-454">
                <a:solidFill>
                  <a:srgbClr val="F9F4FF"/>
                </a:solidFill>
                <a:latin typeface="Bicubik"/>
                <a:ea typeface="Bicubik"/>
                <a:cs typeface="Bicubik"/>
                <a:sym typeface="Bicubik"/>
              </a:rPr>
              <a:t>NUMERICAL</a:t>
            </a:r>
            <a:r>
              <a:rPr lang="en-US" sz="9098" spc="-454">
                <a:solidFill>
                  <a:srgbClr val="F9F4FF"/>
                </a:solidFill>
                <a:latin typeface="Bicubik"/>
                <a:ea typeface="Bicubik"/>
                <a:cs typeface="Bicubik"/>
                <a:sym typeface="Bicubik"/>
              </a:rPr>
              <a:t> FEATURE DISTRIBUTIONS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835408" y="3888560"/>
            <a:ext cx="7027369" cy="4402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2"/>
              </a:lnSpc>
            </a:pPr>
            <a:r>
              <a:rPr lang="en-US" sz="2759">
                <a:solidFill>
                  <a:srgbClr val="EAE5DD"/>
                </a:solidFill>
                <a:latin typeface="Inter Light"/>
                <a:ea typeface="Inter Light"/>
                <a:cs typeface="Inter Light"/>
                <a:sym typeface="Inter Light"/>
              </a:rPr>
              <a:t>Ob</a:t>
            </a:r>
            <a:r>
              <a:rPr lang="en-US" sz="2759">
                <a:solidFill>
                  <a:srgbClr val="EAE5DD"/>
                </a:solidFill>
                <a:latin typeface="Inter Light"/>
                <a:ea typeface="Inter Light"/>
                <a:cs typeface="Inter Light"/>
                <a:sym typeface="Inter Light"/>
              </a:rPr>
              <a:t>servations:</a:t>
            </a:r>
          </a:p>
          <a:p>
            <a:pPr algn="l" marL="595691" indent="-297845" lvl="1">
              <a:lnSpc>
                <a:spcPts val="3862"/>
              </a:lnSpc>
              <a:buFont typeface="Arial"/>
              <a:buChar char="•"/>
            </a:pPr>
            <a:r>
              <a:rPr lang="en-US" sz="2759">
                <a:solidFill>
                  <a:srgbClr val="EAE5DD"/>
                </a:solidFill>
                <a:latin typeface="Inter Light"/>
                <a:ea typeface="Inter Light"/>
                <a:cs typeface="Inter Light"/>
                <a:sym typeface="Inter Light"/>
              </a:rPr>
              <a:t>A</a:t>
            </a:r>
            <a:r>
              <a:rPr lang="en-US" sz="2759">
                <a:solidFill>
                  <a:srgbClr val="EAE5DD"/>
                </a:solidFill>
                <a:latin typeface="Inter Light"/>
                <a:ea typeface="Inter Light"/>
                <a:cs typeface="Inter Light"/>
                <a:sym typeface="Inter Light"/>
              </a:rPr>
              <a:t>ge follows normal distribution</a:t>
            </a:r>
          </a:p>
          <a:p>
            <a:pPr algn="l" marL="595691" indent="-297845" lvl="1">
              <a:lnSpc>
                <a:spcPts val="3862"/>
              </a:lnSpc>
              <a:buFont typeface="Arial"/>
              <a:buChar char="•"/>
            </a:pPr>
            <a:r>
              <a:rPr lang="en-US" sz="2759">
                <a:solidFill>
                  <a:srgbClr val="EAE5DD"/>
                </a:solidFill>
                <a:latin typeface="Inter Light"/>
                <a:ea typeface="Inter Light"/>
                <a:cs typeface="Inter Light"/>
                <a:sym typeface="Inter Light"/>
              </a:rPr>
              <a:t>H</a:t>
            </a:r>
            <a:r>
              <a:rPr lang="en-US" sz="2759">
                <a:solidFill>
                  <a:srgbClr val="EAE5DD"/>
                </a:solidFill>
                <a:latin typeface="Inter Light"/>
                <a:ea typeface="Inter Light"/>
                <a:cs typeface="Inter Light"/>
                <a:sym typeface="Inter Light"/>
              </a:rPr>
              <a:t>eight approximately symmetric</a:t>
            </a:r>
          </a:p>
          <a:p>
            <a:pPr algn="l" marL="595691" indent="-297845" lvl="1">
              <a:lnSpc>
                <a:spcPts val="3862"/>
              </a:lnSpc>
              <a:buFont typeface="Arial"/>
              <a:buChar char="•"/>
            </a:pPr>
            <a:r>
              <a:rPr lang="en-US" sz="2759">
                <a:solidFill>
                  <a:srgbClr val="EAE5DD"/>
                </a:solidFill>
                <a:latin typeface="Inter Light"/>
                <a:ea typeface="Inter Light"/>
                <a:cs typeface="Inter Light"/>
                <a:sym typeface="Inter Light"/>
              </a:rPr>
              <a:t>Activity m</a:t>
            </a:r>
            <a:r>
              <a:rPr lang="en-US" sz="2759">
                <a:solidFill>
                  <a:srgbClr val="EAE5DD"/>
                </a:solidFill>
                <a:latin typeface="Inter Light"/>
                <a:ea typeface="Inter Light"/>
                <a:cs typeface="Inter Light"/>
                <a:sym typeface="Inter Light"/>
              </a:rPr>
              <a:t>etrics highly skewed</a:t>
            </a:r>
          </a:p>
          <a:p>
            <a:pPr algn="l" marL="595691" indent="-297845" lvl="1">
              <a:lnSpc>
                <a:spcPts val="3862"/>
              </a:lnSpc>
              <a:buFont typeface="Arial"/>
              <a:buChar char="•"/>
            </a:pPr>
            <a:r>
              <a:rPr lang="en-US" sz="2759">
                <a:solidFill>
                  <a:srgbClr val="EAE5DD"/>
                </a:solidFill>
                <a:latin typeface="Inter Light"/>
                <a:ea typeface="Inter Light"/>
                <a:cs typeface="Inter Light"/>
                <a:sym typeface="Inter Light"/>
              </a:rPr>
              <a:t>Likes and messages contain heavy tails</a:t>
            </a:r>
          </a:p>
          <a:p>
            <a:pPr algn="l">
              <a:lnSpc>
                <a:spcPts val="3862"/>
              </a:lnSpc>
            </a:pPr>
          </a:p>
          <a:p>
            <a:pPr algn="l">
              <a:lnSpc>
                <a:spcPts val="3862"/>
              </a:lnSpc>
            </a:pPr>
            <a:r>
              <a:rPr lang="en-US" sz="2759">
                <a:solidFill>
                  <a:srgbClr val="EAE5DD"/>
                </a:solidFill>
                <a:latin typeface="Inter Light"/>
                <a:ea typeface="Inter Light"/>
                <a:cs typeface="Inter Light"/>
                <a:sym typeface="Inter Light"/>
              </a:rPr>
              <a:t>Implication:</a:t>
            </a:r>
          </a:p>
          <a:p>
            <a:pPr algn="l">
              <a:lnSpc>
                <a:spcPts val="3862"/>
              </a:lnSpc>
            </a:pPr>
            <a:r>
              <a:rPr lang="en-US" sz="2759">
                <a:solidFill>
                  <a:srgbClr val="EAE5DD"/>
                </a:solidFill>
                <a:latin typeface="Inter Light"/>
                <a:ea typeface="Inter Light"/>
                <a:cs typeface="Inter Light"/>
                <a:sym typeface="Inter Light"/>
              </a:rPr>
              <a:t>Standard scaling unsuitable.</a:t>
            </a:r>
          </a:p>
          <a:p>
            <a:pPr algn="l">
              <a:lnSpc>
                <a:spcPts val="3862"/>
              </a:lnSpc>
            </a:pPr>
            <a:r>
              <a:rPr lang="en-US" sz="2759">
                <a:solidFill>
                  <a:srgbClr val="EAE5DD"/>
                </a:solidFill>
                <a:latin typeface="Inter Light"/>
                <a:ea typeface="Inter Light"/>
                <a:cs typeface="Inter Light"/>
                <a:sym typeface="Inter Light"/>
              </a:rPr>
              <a:t>RobustScaler selected.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7283F">
                <a:alpha val="100000"/>
              </a:srgbClr>
            </a:gs>
            <a:gs pos="100000">
              <a:srgbClr val="121019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1050" y="3297894"/>
            <a:ext cx="9188642" cy="5506409"/>
            <a:chOff x="0" y="0"/>
            <a:chExt cx="9058653" cy="54285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058653" cy="5428511"/>
            </a:xfrm>
            <a:custGeom>
              <a:avLst/>
              <a:gdLst/>
              <a:ahLst/>
              <a:cxnLst/>
              <a:rect r="r" b="b" t="t" l="l"/>
              <a:pathLst>
                <a:path h="5428511" w="9058653">
                  <a:moveTo>
                    <a:pt x="8820528" y="0"/>
                  </a:moveTo>
                  <a:lnTo>
                    <a:pt x="9058653" y="238125"/>
                  </a:lnTo>
                  <a:lnTo>
                    <a:pt x="9058653" y="5190386"/>
                  </a:lnTo>
                  <a:lnTo>
                    <a:pt x="8820528" y="5428511"/>
                  </a:lnTo>
                  <a:lnTo>
                    <a:pt x="238125" y="5428511"/>
                  </a:lnTo>
                  <a:lnTo>
                    <a:pt x="0" y="5190386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8820528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27283F">
                    <a:alpha val="100000"/>
                  </a:srgbClr>
                </a:gs>
                <a:gs pos="100000">
                  <a:srgbClr val="121019">
                    <a:alpha val="100000"/>
                  </a:srgbClr>
                </a:gs>
              </a:gsLst>
              <a:lin ang="5400000"/>
            </a:gradFill>
            <a:ln w="9525" cap="sq">
              <a:gradFill>
                <a:gsLst>
                  <a:gs pos="0">
                    <a:srgbClr val="F9F4FF">
                      <a:alpha val="100000"/>
                    </a:srgbClr>
                  </a:gs>
                  <a:gs pos="100000">
                    <a:srgbClr val="F9F4FF">
                      <a:alpha val="245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63500" y="15875"/>
              <a:ext cx="8931653" cy="53491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true" rot="0">
            <a:off x="17063813" y="1563913"/>
            <a:ext cx="195487" cy="151769"/>
          </a:xfrm>
          <a:custGeom>
            <a:avLst/>
            <a:gdLst/>
            <a:ahLst/>
            <a:cxnLst/>
            <a:rect r="r" b="b" t="t" l="l"/>
            <a:pathLst>
              <a:path h="151769" w="195487">
                <a:moveTo>
                  <a:pt x="195487" y="151769"/>
                </a:moveTo>
                <a:lnTo>
                  <a:pt x="0" y="151769"/>
                </a:lnTo>
                <a:lnTo>
                  <a:pt x="0" y="0"/>
                </a:lnTo>
                <a:lnTo>
                  <a:pt x="195487" y="0"/>
                </a:lnTo>
                <a:lnTo>
                  <a:pt x="195487" y="15176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7673227" y="-514350"/>
            <a:ext cx="2941547" cy="1028700"/>
            <a:chOff x="0" y="0"/>
            <a:chExt cx="1997346" cy="6985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97346" cy="698500"/>
            </a:xfrm>
            <a:custGeom>
              <a:avLst/>
              <a:gdLst/>
              <a:ahLst/>
              <a:cxnLst/>
              <a:rect r="r" b="b" t="t" l="l"/>
              <a:pathLst>
                <a:path h="698500" w="1997346">
                  <a:moveTo>
                    <a:pt x="1997346" y="349250"/>
                  </a:moveTo>
                  <a:lnTo>
                    <a:pt x="1794146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1794146" y="0"/>
                  </a:lnTo>
                  <a:lnTo>
                    <a:pt x="1997346" y="349250"/>
                  </a:lnTo>
                  <a:close/>
                </a:path>
              </a:pathLst>
            </a:custGeom>
            <a:gradFill rotWithShape="true">
              <a:gsLst>
                <a:gs pos="0">
                  <a:srgbClr val="C04AFF">
                    <a:alpha val="100000"/>
                  </a:srgbClr>
                </a:gs>
                <a:gs pos="100000">
                  <a:srgbClr val="DFBAFF">
                    <a:alpha val="100000"/>
                  </a:srgbClr>
                </a:gs>
              </a:gsLst>
              <a:lin ang="2700000"/>
            </a:gradFill>
            <a:ln w="19050" cap="sq">
              <a:gradFill>
                <a:gsLst>
                  <a:gs pos="0">
                    <a:srgbClr val="C04AFF">
                      <a:alpha val="100000"/>
                    </a:srgbClr>
                  </a:gs>
                  <a:gs pos="100000">
                    <a:srgbClr val="DFBAFF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14300" y="-47625"/>
              <a:ext cx="1768746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026525" y="9106531"/>
            <a:ext cx="195487" cy="151769"/>
          </a:xfrm>
          <a:custGeom>
            <a:avLst/>
            <a:gdLst/>
            <a:ahLst/>
            <a:cxnLst/>
            <a:rect r="r" b="b" t="t" l="l"/>
            <a:pathLst>
              <a:path h="151769" w="195487">
                <a:moveTo>
                  <a:pt x="0" y="0"/>
                </a:moveTo>
                <a:lnTo>
                  <a:pt x="195487" y="0"/>
                </a:lnTo>
                <a:lnTo>
                  <a:pt x="195487" y="151769"/>
                </a:lnTo>
                <a:lnTo>
                  <a:pt x="0" y="1517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0800000">
            <a:off x="16503541" y="0"/>
            <a:ext cx="1120543" cy="3123465"/>
          </a:xfrm>
          <a:custGeom>
            <a:avLst/>
            <a:gdLst/>
            <a:ahLst/>
            <a:cxnLst/>
            <a:rect r="r" b="b" t="t" l="l"/>
            <a:pathLst>
              <a:path h="3123465" w="1120543">
                <a:moveTo>
                  <a:pt x="0" y="0"/>
                </a:moveTo>
                <a:lnTo>
                  <a:pt x="1120543" y="0"/>
                </a:lnTo>
                <a:lnTo>
                  <a:pt x="1120543" y="3123465"/>
                </a:lnTo>
                <a:lnTo>
                  <a:pt x="0" y="31234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735589" y="3360099"/>
            <a:ext cx="8888495" cy="5444203"/>
          </a:xfrm>
          <a:custGeom>
            <a:avLst/>
            <a:gdLst/>
            <a:ahLst/>
            <a:cxnLst/>
            <a:rect r="r" b="b" t="t" l="l"/>
            <a:pathLst>
              <a:path h="5444203" w="8888495">
                <a:moveTo>
                  <a:pt x="0" y="0"/>
                </a:moveTo>
                <a:lnTo>
                  <a:pt x="8888495" y="0"/>
                </a:lnTo>
                <a:lnTo>
                  <a:pt x="8888495" y="5444203"/>
                </a:lnTo>
                <a:lnTo>
                  <a:pt x="0" y="54442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231050" y="1563998"/>
            <a:ext cx="14830238" cy="1219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98"/>
              </a:lnSpc>
            </a:pPr>
            <a:r>
              <a:rPr lang="en-US" sz="9098" spc="-454">
                <a:solidFill>
                  <a:srgbClr val="F9F4FF"/>
                </a:solidFill>
                <a:latin typeface="Bicubik"/>
                <a:ea typeface="Bicubik"/>
                <a:cs typeface="Bicubik"/>
                <a:sym typeface="Bicubik"/>
              </a:rPr>
              <a:t>OUTLIER</a:t>
            </a:r>
            <a:r>
              <a:rPr lang="en-US" sz="9098" spc="-454">
                <a:solidFill>
                  <a:srgbClr val="F9F4FF"/>
                </a:solidFill>
                <a:latin typeface="Bicubik"/>
                <a:ea typeface="Bicubik"/>
                <a:cs typeface="Bicubik"/>
                <a:sym typeface="Bicubik"/>
              </a:rPr>
              <a:t> ANALYSIS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18800" y="3510446"/>
            <a:ext cx="8800892" cy="4402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2"/>
              </a:lnSpc>
            </a:pPr>
            <a:r>
              <a:rPr lang="en-US" sz="2759">
                <a:solidFill>
                  <a:srgbClr val="EAE5DD"/>
                </a:solidFill>
                <a:latin typeface="Inter Light"/>
                <a:ea typeface="Inter Light"/>
                <a:cs typeface="Inter Light"/>
                <a:sym typeface="Inter Light"/>
              </a:rPr>
              <a:t>Pow</a:t>
            </a:r>
            <a:r>
              <a:rPr lang="en-US" sz="2759">
                <a:solidFill>
                  <a:srgbClr val="EAE5DD"/>
                </a:solidFill>
                <a:latin typeface="Inter Light"/>
                <a:ea typeface="Inter Light"/>
                <a:cs typeface="Inter Light"/>
                <a:sym typeface="Inter Light"/>
              </a:rPr>
              <a:t>er users produce extreme valu</a:t>
            </a:r>
            <a:r>
              <a:rPr lang="en-US" sz="2759">
                <a:solidFill>
                  <a:srgbClr val="EAE5DD"/>
                </a:solidFill>
                <a:latin typeface="Inter Light"/>
                <a:ea typeface="Inter Light"/>
                <a:cs typeface="Inter Light"/>
                <a:sym typeface="Inter Light"/>
              </a:rPr>
              <a:t>es in:</a:t>
            </a:r>
          </a:p>
          <a:p>
            <a:pPr algn="l" marL="595691" indent="-297845" lvl="1">
              <a:lnSpc>
                <a:spcPts val="3862"/>
              </a:lnSpc>
              <a:buFont typeface="Arial"/>
              <a:buChar char="•"/>
            </a:pPr>
            <a:r>
              <a:rPr lang="en-US" sz="2759">
                <a:solidFill>
                  <a:srgbClr val="EAE5DD"/>
                </a:solidFill>
                <a:latin typeface="Inter Light"/>
                <a:ea typeface="Inter Light"/>
                <a:cs typeface="Inter Light"/>
                <a:sym typeface="Inter Light"/>
              </a:rPr>
              <a:t>Likes received</a:t>
            </a:r>
          </a:p>
          <a:p>
            <a:pPr algn="l" marL="595691" indent="-297845" lvl="1">
              <a:lnSpc>
                <a:spcPts val="3862"/>
              </a:lnSpc>
              <a:buFont typeface="Arial"/>
              <a:buChar char="•"/>
            </a:pPr>
            <a:r>
              <a:rPr lang="en-US" sz="2759">
                <a:solidFill>
                  <a:srgbClr val="EAE5DD"/>
                </a:solidFill>
                <a:latin typeface="Inter Light"/>
                <a:ea typeface="Inter Light"/>
                <a:cs typeface="Inter Light"/>
                <a:sym typeface="Inter Light"/>
              </a:rPr>
              <a:t>Mutual matches</a:t>
            </a:r>
          </a:p>
          <a:p>
            <a:pPr algn="l" marL="595691" indent="-297845" lvl="1">
              <a:lnSpc>
                <a:spcPts val="3862"/>
              </a:lnSpc>
              <a:buFont typeface="Arial"/>
              <a:buChar char="•"/>
            </a:pPr>
            <a:r>
              <a:rPr lang="en-US" sz="2759">
                <a:solidFill>
                  <a:srgbClr val="EAE5DD"/>
                </a:solidFill>
                <a:latin typeface="Inter Light"/>
                <a:ea typeface="Inter Light"/>
                <a:cs typeface="Inter Light"/>
                <a:sym typeface="Inter Light"/>
              </a:rPr>
              <a:t>Messages sent</a:t>
            </a:r>
          </a:p>
          <a:p>
            <a:pPr algn="l">
              <a:lnSpc>
                <a:spcPts val="3862"/>
              </a:lnSpc>
            </a:pPr>
            <a:r>
              <a:rPr lang="en-US" sz="2759">
                <a:solidFill>
                  <a:srgbClr val="EAE5DD"/>
                </a:solidFill>
                <a:latin typeface="Inter Light"/>
                <a:ea typeface="Inter Light"/>
                <a:cs typeface="Inter Light"/>
                <a:sym typeface="Inter Light"/>
              </a:rPr>
              <a:t>These outliers may distort model behaviour.</a:t>
            </a:r>
          </a:p>
          <a:p>
            <a:pPr algn="l">
              <a:lnSpc>
                <a:spcPts val="3862"/>
              </a:lnSpc>
            </a:pPr>
          </a:p>
          <a:p>
            <a:pPr algn="l">
              <a:lnSpc>
                <a:spcPts val="3862"/>
              </a:lnSpc>
            </a:pPr>
            <a:r>
              <a:rPr lang="en-US" sz="2759">
                <a:solidFill>
                  <a:srgbClr val="EAE5DD"/>
                </a:solidFill>
                <a:latin typeface="Inter Light"/>
                <a:ea typeface="Inter Light"/>
                <a:cs typeface="Inter Light"/>
                <a:sym typeface="Inter Light"/>
              </a:rPr>
              <a:t>Solution:</a:t>
            </a:r>
          </a:p>
          <a:p>
            <a:pPr algn="l">
              <a:lnSpc>
                <a:spcPts val="3862"/>
              </a:lnSpc>
            </a:pPr>
            <a:r>
              <a:rPr lang="en-US" sz="2759">
                <a:solidFill>
                  <a:srgbClr val="EAE5DD"/>
                </a:solidFill>
                <a:latin typeface="Inter Light"/>
                <a:ea typeface="Inter Light"/>
                <a:cs typeface="Inter Light"/>
                <a:sym typeface="Inter Light"/>
              </a:rPr>
              <a:t>Isolation Forest OOD Detection</a:t>
            </a:r>
          </a:p>
          <a:p>
            <a:pPr algn="l">
              <a:lnSpc>
                <a:spcPts val="3862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7283F">
                <a:alpha val="100000"/>
              </a:srgbClr>
            </a:gs>
            <a:gs pos="100000">
              <a:srgbClr val="121019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7222005" y="1028700"/>
            <a:ext cx="195487" cy="151769"/>
          </a:xfrm>
          <a:custGeom>
            <a:avLst/>
            <a:gdLst/>
            <a:ahLst/>
            <a:cxnLst/>
            <a:rect r="r" b="b" t="t" l="l"/>
            <a:pathLst>
              <a:path h="151769" w="195487">
                <a:moveTo>
                  <a:pt x="195487" y="151769"/>
                </a:moveTo>
                <a:lnTo>
                  <a:pt x="0" y="151769"/>
                </a:lnTo>
                <a:lnTo>
                  <a:pt x="0" y="0"/>
                </a:lnTo>
                <a:lnTo>
                  <a:pt x="195487" y="0"/>
                </a:lnTo>
                <a:lnTo>
                  <a:pt x="195487" y="15176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673227" y="-514350"/>
            <a:ext cx="2941547" cy="1028700"/>
            <a:chOff x="0" y="0"/>
            <a:chExt cx="1997346" cy="6985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97346" cy="698500"/>
            </a:xfrm>
            <a:custGeom>
              <a:avLst/>
              <a:gdLst/>
              <a:ahLst/>
              <a:cxnLst/>
              <a:rect r="r" b="b" t="t" l="l"/>
              <a:pathLst>
                <a:path h="698500" w="1997346">
                  <a:moveTo>
                    <a:pt x="1997346" y="349250"/>
                  </a:moveTo>
                  <a:lnTo>
                    <a:pt x="1794146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1794146" y="0"/>
                  </a:lnTo>
                  <a:lnTo>
                    <a:pt x="1997346" y="349250"/>
                  </a:lnTo>
                  <a:close/>
                </a:path>
              </a:pathLst>
            </a:custGeom>
            <a:gradFill rotWithShape="true">
              <a:gsLst>
                <a:gs pos="0">
                  <a:srgbClr val="C04AFF">
                    <a:alpha val="100000"/>
                  </a:srgbClr>
                </a:gs>
                <a:gs pos="100000">
                  <a:srgbClr val="DFBAFF">
                    <a:alpha val="100000"/>
                  </a:srgbClr>
                </a:gs>
              </a:gsLst>
              <a:lin ang="2700000"/>
            </a:gradFill>
            <a:ln w="19050" cap="sq">
              <a:gradFill>
                <a:gsLst>
                  <a:gs pos="0">
                    <a:srgbClr val="C04AFF">
                      <a:alpha val="100000"/>
                    </a:srgbClr>
                  </a:gs>
                  <a:gs pos="100000">
                    <a:srgbClr val="DFBAFF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114300" y="-47625"/>
              <a:ext cx="1768746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86406" y="3827526"/>
            <a:ext cx="8192450" cy="4462797"/>
            <a:chOff x="0" y="0"/>
            <a:chExt cx="2188209" cy="119201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88209" cy="1192016"/>
            </a:xfrm>
            <a:custGeom>
              <a:avLst/>
              <a:gdLst/>
              <a:ahLst/>
              <a:cxnLst/>
              <a:rect r="r" b="b" t="t" l="l"/>
              <a:pathLst>
                <a:path h="1192016" w="2188209">
                  <a:moveTo>
                    <a:pt x="0" y="0"/>
                  </a:moveTo>
                  <a:lnTo>
                    <a:pt x="2188209" y="0"/>
                  </a:lnTo>
                  <a:lnTo>
                    <a:pt x="2188209" y="1192016"/>
                  </a:lnTo>
                  <a:lnTo>
                    <a:pt x="0" y="1192016"/>
                  </a:lnTo>
                  <a:close/>
                </a:path>
              </a:pathLst>
            </a:custGeom>
            <a:gradFill rotWithShape="true">
              <a:gsLst>
                <a:gs pos="0">
                  <a:srgbClr val="C04AFF">
                    <a:alpha val="35000"/>
                  </a:srgbClr>
                </a:gs>
                <a:gs pos="100000">
                  <a:srgbClr val="C04A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188209" cy="12396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86406" y="3827526"/>
            <a:ext cx="157625" cy="4462797"/>
            <a:chOff x="0" y="0"/>
            <a:chExt cx="42102" cy="119201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2102" cy="1192016"/>
            </a:xfrm>
            <a:custGeom>
              <a:avLst/>
              <a:gdLst/>
              <a:ahLst/>
              <a:cxnLst/>
              <a:rect r="r" b="b" t="t" l="l"/>
              <a:pathLst>
                <a:path h="1192016" w="42102">
                  <a:moveTo>
                    <a:pt x="0" y="0"/>
                  </a:moveTo>
                  <a:lnTo>
                    <a:pt x="42102" y="0"/>
                  </a:lnTo>
                  <a:lnTo>
                    <a:pt x="42102" y="1192016"/>
                  </a:lnTo>
                  <a:lnTo>
                    <a:pt x="0" y="1192016"/>
                  </a:lnTo>
                  <a:close/>
                </a:path>
              </a:pathLst>
            </a:custGeom>
            <a:gradFill rotWithShape="true">
              <a:gsLst>
                <a:gs pos="0">
                  <a:srgbClr val="C04AFF">
                    <a:alpha val="100000"/>
                  </a:srgbClr>
                </a:gs>
                <a:gs pos="100000">
                  <a:srgbClr val="DFBA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42102" cy="12396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086406" y="9550038"/>
            <a:ext cx="195487" cy="151769"/>
          </a:xfrm>
          <a:custGeom>
            <a:avLst/>
            <a:gdLst/>
            <a:ahLst/>
            <a:cxnLst/>
            <a:rect r="r" b="b" t="t" l="l"/>
            <a:pathLst>
              <a:path h="151769" w="195487">
                <a:moveTo>
                  <a:pt x="0" y="0"/>
                </a:moveTo>
                <a:lnTo>
                  <a:pt x="195487" y="0"/>
                </a:lnTo>
                <a:lnTo>
                  <a:pt x="195487" y="151769"/>
                </a:lnTo>
                <a:lnTo>
                  <a:pt x="0" y="1517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574729" y="7560399"/>
            <a:ext cx="978168" cy="2726601"/>
          </a:xfrm>
          <a:custGeom>
            <a:avLst/>
            <a:gdLst/>
            <a:ahLst/>
            <a:cxnLst/>
            <a:rect r="r" b="b" t="t" l="l"/>
            <a:pathLst>
              <a:path h="2726601" w="978168">
                <a:moveTo>
                  <a:pt x="0" y="0"/>
                </a:moveTo>
                <a:lnTo>
                  <a:pt x="978168" y="0"/>
                </a:lnTo>
                <a:lnTo>
                  <a:pt x="978168" y="2726601"/>
                </a:lnTo>
                <a:lnTo>
                  <a:pt x="0" y="27266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493356" y="3931280"/>
            <a:ext cx="11812230" cy="4359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2"/>
              </a:lnSpc>
            </a:pPr>
            <a:r>
              <a:rPr lang="en-US" sz="2759">
                <a:solidFill>
                  <a:srgbClr val="DFE6E9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Appl</a:t>
            </a:r>
            <a:r>
              <a:rPr lang="en-US" sz="2759">
                <a:solidFill>
                  <a:srgbClr val="DFE6E9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ie</a:t>
            </a:r>
            <a:r>
              <a:rPr lang="en-US" sz="2759">
                <a:solidFill>
                  <a:srgbClr val="DFE6E9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</a:t>
            </a:r>
            <a:r>
              <a:rPr lang="en-US" sz="2759">
                <a:solidFill>
                  <a:srgbClr val="DFE6E9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:</a:t>
            </a:r>
          </a:p>
          <a:p>
            <a:pPr algn="l" marL="595691" indent="-297846" lvl="1">
              <a:lnSpc>
                <a:spcPts val="3862"/>
              </a:lnSpc>
              <a:buFont typeface="Arial"/>
              <a:buChar char="•"/>
            </a:pPr>
            <a:r>
              <a:rPr lang="en-US" sz="2759">
                <a:solidFill>
                  <a:srgbClr val="DFE6E9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Ta</a:t>
            </a:r>
            <a:r>
              <a:rPr lang="en-US" sz="2759">
                <a:solidFill>
                  <a:srgbClr val="DFE6E9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rget Binarization</a:t>
            </a:r>
          </a:p>
          <a:p>
            <a:pPr algn="l" marL="595691" indent="-297846" lvl="1">
              <a:lnSpc>
                <a:spcPts val="3862"/>
              </a:lnSpc>
              <a:buFont typeface="Arial"/>
              <a:buChar char="•"/>
            </a:pPr>
            <a:r>
              <a:rPr lang="en-US" sz="2759">
                <a:solidFill>
                  <a:srgbClr val="DFE6E9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Ordinal Encoding</a:t>
            </a:r>
          </a:p>
          <a:p>
            <a:pPr algn="l" marL="595691" indent="-297846" lvl="1">
              <a:lnSpc>
                <a:spcPts val="3862"/>
              </a:lnSpc>
              <a:buFont typeface="Arial"/>
              <a:buChar char="•"/>
            </a:pPr>
            <a:r>
              <a:rPr lang="en-US" sz="2759">
                <a:solidFill>
                  <a:srgbClr val="DFE6E9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One-Hot Encoding</a:t>
            </a:r>
          </a:p>
          <a:p>
            <a:pPr algn="l" marL="595691" indent="-297846" lvl="1">
              <a:lnSpc>
                <a:spcPts val="3862"/>
              </a:lnSpc>
              <a:buFont typeface="Arial"/>
              <a:buChar char="•"/>
            </a:pPr>
            <a:r>
              <a:rPr lang="en-US" sz="2759">
                <a:solidFill>
                  <a:srgbClr val="DFE6E9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Mul</a:t>
            </a:r>
            <a:r>
              <a:rPr lang="en-US" sz="2759">
                <a:solidFill>
                  <a:srgbClr val="DFE6E9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</a:t>
            </a:r>
            <a:r>
              <a:rPr lang="en-US" sz="2759">
                <a:solidFill>
                  <a:srgbClr val="DFE6E9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</a:t>
            </a:r>
            <a:r>
              <a:rPr lang="en-US" sz="2759">
                <a:solidFill>
                  <a:srgbClr val="DFE6E9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-H</a:t>
            </a:r>
            <a:r>
              <a:rPr lang="en-US" sz="2759">
                <a:solidFill>
                  <a:srgbClr val="DFE6E9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</a:t>
            </a:r>
            <a:r>
              <a:rPr lang="en-US" sz="2759">
                <a:solidFill>
                  <a:srgbClr val="DFE6E9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</a:t>
            </a:r>
            <a:r>
              <a:rPr lang="en-US" sz="2759">
                <a:solidFill>
                  <a:srgbClr val="DFE6E9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2759">
                <a:solidFill>
                  <a:srgbClr val="DFE6E9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</a:t>
            </a:r>
            <a:r>
              <a:rPr lang="en-US" sz="2759">
                <a:solidFill>
                  <a:srgbClr val="DFE6E9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nc</a:t>
            </a:r>
            <a:r>
              <a:rPr lang="en-US" sz="2759">
                <a:solidFill>
                  <a:srgbClr val="DFE6E9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od</a:t>
            </a:r>
            <a:r>
              <a:rPr lang="en-US" sz="2759">
                <a:solidFill>
                  <a:srgbClr val="DFE6E9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</a:t>
            </a:r>
            <a:r>
              <a:rPr lang="en-US" sz="2759">
                <a:solidFill>
                  <a:srgbClr val="DFE6E9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g</a:t>
            </a:r>
          </a:p>
          <a:p>
            <a:pPr algn="l" marL="595691" indent="-297846" lvl="1">
              <a:lnSpc>
                <a:spcPts val="3862"/>
              </a:lnSpc>
              <a:buFont typeface="Arial"/>
              <a:buChar char="•"/>
            </a:pPr>
            <a:r>
              <a:rPr lang="en-US" sz="2759">
                <a:solidFill>
                  <a:srgbClr val="DFE6E9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</a:t>
            </a:r>
            <a:r>
              <a:rPr lang="en-US" sz="2759">
                <a:solidFill>
                  <a:srgbClr val="DFE6E9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obust Scaling</a:t>
            </a:r>
          </a:p>
          <a:p>
            <a:pPr algn="l">
              <a:lnSpc>
                <a:spcPts val="3862"/>
              </a:lnSpc>
            </a:pPr>
            <a:r>
              <a:rPr lang="en-US" sz="2759">
                <a:solidFill>
                  <a:srgbClr val="DFE6E9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Generated:</a:t>
            </a:r>
          </a:p>
          <a:p>
            <a:pPr algn="l">
              <a:lnSpc>
                <a:spcPts val="3862"/>
              </a:lnSpc>
            </a:pPr>
            <a:r>
              <a:rPr lang="en-US" sz="2759">
                <a:solidFill>
                  <a:srgbClr val="DFE6E9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67 Machine Learning Features</a:t>
            </a:r>
          </a:p>
          <a:p>
            <a:pPr algn="l">
              <a:lnSpc>
                <a:spcPts val="3862"/>
              </a:lnSpc>
            </a:pPr>
          </a:p>
        </p:txBody>
      </p:sp>
      <p:grpSp>
        <p:nvGrpSpPr>
          <p:cNvPr name="Group 15" id="15"/>
          <p:cNvGrpSpPr/>
          <p:nvPr/>
        </p:nvGrpSpPr>
        <p:grpSpPr>
          <a:xfrm rot="0">
            <a:off x="12887851" y="5433312"/>
            <a:ext cx="1252761" cy="493709"/>
            <a:chOff x="0" y="0"/>
            <a:chExt cx="2062438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62438" cy="812800"/>
            </a:xfrm>
            <a:custGeom>
              <a:avLst/>
              <a:gdLst/>
              <a:ahLst/>
              <a:cxnLst/>
              <a:rect r="r" b="b" t="t" l="l"/>
              <a:pathLst>
                <a:path h="812800" w="2062438">
                  <a:moveTo>
                    <a:pt x="1031219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1859238" y="0"/>
                  </a:lnTo>
                  <a:lnTo>
                    <a:pt x="1859238" y="406400"/>
                  </a:lnTo>
                  <a:lnTo>
                    <a:pt x="2062438" y="406400"/>
                  </a:lnTo>
                  <a:lnTo>
                    <a:pt x="1031219" y="812800"/>
                  </a:lnTo>
                  <a:close/>
                </a:path>
              </a:pathLst>
            </a:custGeom>
            <a:solidFill>
              <a:srgbClr val="F1EFEC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203200" y="-47625"/>
              <a:ext cx="1656038" cy="758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281893" y="1190625"/>
            <a:ext cx="14799244" cy="2369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98"/>
              </a:lnSpc>
            </a:pPr>
            <a:r>
              <a:rPr lang="en-US" sz="9098" spc="-454">
                <a:solidFill>
                  <a:srgbClr val="F9F4FF"/>
                </a:solidFill>
                <a:latin typeface="Bicubik"/>
                <a:ea typeface="Bicubik"/>
                <a:cs typeface="Bicubik"/>
                <a:sym typeface="Bicubik"/>
              </a:rPr>
              <a:t>DATA PR</a:t>
            </a:r>
            <a:r>
              <a:rPr lang="en-US" sz="9098" spc="-454">
                <a:solidFill>
                  <a:srgbClr val="F9F4FF"/>
                </a:solidFill>
                <a:latin typeface="Bicubik"/>
                <a:ea typeface="Bicubik"/>
                <a:cs typeface="Bicubik"/>
                <a:sym typeface="Bicubik"/>
              </a:rPr>
              <a:t>EPROCESSING PIPELINE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1135928" y="3290578"/>
            <a:ext cx="4756607" cy="715740"/>
            <a:chOff x="0" y="0"/>
            <a:chExt cx="2785219" cy="4191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785219" cy="419100"/>
            </a:xfrm>
            <a:custGeom>
              <a:avLst/>
              <a:gdLst/>
              <a:ahLst/>
              <a:cxnLst/>
              <a:rect r="r" b="b" t="t" l="l"/>
              <a:pathLst>
                <a:path h="419100" w="2785219">
                  <a:moveTo>
                    <a:pt x="31789" y="0"/>
                  </a:moveTo>
                  <a:lnTo>
                    <a:pt x="2753430" y="0"/>
                  </a:lnTo>
                  <a:cubicBezTo>
                    <a:pt x="2761861" y="0"/>
                    <a:pt x="2769947" y="3349"/>
                    <a:pt x="2775908" y="9311"/>
                  </a:cubicBezTo>
                  <a:cubicBezTo>
                    <a:pt x="2781870" y="15273"/>
                    <a:pt x="2785219" y="23358"/>
                    <a:pt x="2785219" y="31789"/>
                  </a:cubicBezTo>
                  <a:lnTo>
                    <a:pt x="2785219" y="387311"/>
                  </a:lnTo>
                  <a:cubicBezTo>
                    <a:pt x="2785219" y="395742"/>
                    <a:pt x="2781870" y="403827"/>
                    <a:pt x="2775908" y="409789"/>
                  </a:cubicBezTo>
                  <a:cubicBezTo>
                    <a:pt x="2769947" y="415751"/>
                    <a:pt x="2761861" y="419100"/>
                    <a:pt x="2753430" y="419100"/>
                  </a:cubicBezTo>
                  <a:lnTo>
                    <a:pt x="31789" y="419100"/>
                  </a:lnTo>
                  <a:cubicBezTo>
                    <a:pt x="23358" y="419100"/>
                    <a:pt x="15273" y="415751"/>
                    <a:pt x="9311" y="409789"/>
                  </a:cubicBezTo>
                  <a:cubicBezTo>
                    <a:pt x="3349" y="403827"/>
                    <a:pt x="0" y="395742"/>
                    <a:pt x="0" y="387311"/>
                  </a:cubicBezTo>
                  <a:lnTo>
                    <a:pt x="0" y="31789"/>
                  </a:lnTo>
                  <a:cubicBezTo>
                    <a:pt x="0" y="23358"/>
                    <a:pt x="3349" y="15273"/>
                    <a:pt x="9311" y="9311"/>
                  </a:cubicBezTo>
                  <a:cubicBezTo>
                    <a:pt x="15273" y="3349"/>
                    <a:pt x="23358" y="0"/>
                    <a:pt x="31789" y="0"/>
                  </a:cubicBezTo>
                  <a:close/>
                </a:path>
              </a:pathLst>
            </a:custGeom>
            <a:solidFill>
              <a:srgbClr val="594E50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2785219" cy="466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1769407" y="3360579"/>
            <a:ext cx="3601184" cy="518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53"/>
              </a:lnSpc>
              <a:spcBef>
                <a:spcPct val="0"/>
              </a:spcBef>
            </a:pPr>
            <a:r>
              <a:rPr lang="en-US" sz="303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Raw Data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1135928" y="4645221"/>
            <a:ext cx="4756607" cy="715740"/>
            <a:chOff x="0" y="0"/>
            <a:chExt cx="2785219" cy="4191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785219" cy="419100"/>
            </a:xfrm>
            <a:custGeom>
              <a:avLst/>
              <a:gdLst/>
              <a:ahLst/>
              <a:cxnLst/>
              <a:rect r="r" b="b" t="t" l="l"/>
              <a:pathLst>
                <a:path h="419100" w="2785219">
                  <a:moveTo>
                    <a:pt x="31789" y="0"/>
                  </a:moveTo>
                  <a:lnTo>
                    <a:pt x="2753430" y="0"/>
                  </a:lnTo>
                  <a:cubicBezTo>
                    <a:pt x="2761861" y="0"/>
                    <a:pt x="2769947" y="3349"/>
                    <a:pt x="2775908" y="9311"/>
                  </a:cubicBezTo>
                  <a:cubicBezTo>
                    <a:pt x="2781870" y="15273"/>
                    <a:pt x="2785219" y="23358"/>
                    <a:pt x="2785219" y="31789"/>
                  </a:cubicBezTo>
                  <a:lnTo>
                    <a:pt x="2785219" y="387311"/>
                  </a:lnTo>
                  <a:cubicBezTo>
                    <a:pt x="2785219" y="395742"/>
                    <a:pt x="2781870" y="403827"/>
                    <a:pt x="2775908" y="409789"/>
                  </a:cubicBezTo>
                  <a:cubicBezTo>
                    <a:pt x="2769947" y="415751"/>
                    <a:pt x="2761861" y="419100"/>
                    <a:pt x="2753430" y="419100"/>
                  </a:cubicBezTo>
                  <a:lnTo>
                    <a:pt x="31789" y="419100"/>
                  </a:lnTo>
                  <a:cubicBezTo>
                    <a:pt x="23358" y="419100"/>
                    <a:pt x="15273" y="415751"/>
                    <a:pt x="9311" y="409789"/>
                  </a:cubicBezTo>
                  <a:cubicBezTo>
                    <a:pt x="3349" y="403827"/>
                    <a:pt x="0" y="395742"/>
                    <a:pt x="0" y="387311"/>
                  </a:cubicBezTo>
                  <a:lnTo>
                    <a:pt x="0" y="31789"/>
                  </a:lnTo>
                  <a:cubicBezTo>
                    <a:pt x="0" y="23358"/>
                    <a:pt x="3349" y="15273"/>
                    <a:pt x="9311" y="9311"/>
                  </a:cubicBezTo>
                  <a:cubicBezTo>
                    <a:pt x="15273" y="3349"/>
                    <a:pt x="23358" y="0"/>
                    <a:pt x="31789" y="0"/>
                  </a:cubicBezTo>
                  <a:close/>
                </a:path>
              </a:pathLst>
            </a:custGeom>
            <a:solidFill>
              <a:srgbClr val="594E50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2785219" cy="466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1135928" y="6010347"/>
            <a:ext cx="4756607" cy="715740"/>
            <a:chOff x="0" y="0"/>
            <a:chExt cx="2785219" cy="4191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785219" cy="419100"/>
            </a:xfrm>
            <a:custGeom>
              <a:avLst/>
              <a:gdLst/>
              <a:ahLst/>
              <a:cxnLst/>
              <a:rect r="r" b="b" t="t" l="l"/>
              <a:pathLst>
                <a:path h="419100" w="2785219">
                  <a:moveTo>
                    <a:pt x="31789" y="0"/>
                  </a:moveTo>
                  <a:lnTo>
                    <a:pt x="2753430" y="0"/>
                  </a:lnTo>
                  <a:cubicBezTo>
                    <a:pt x="2761861" y="0"/>
                    <a:pt x="2769947" y="3349"/>
                    <a:pt x="2775908" y="9311"/>
                  </a:cubicBezTo>
                  <a:cubicBezTo>
                    <a:pt x="2781870" y="15273"/>
                    <a:pt x="2785219" y="23358"/>
                    <a:pt x="2785219" y="31789"/>
                  </a:cubicBezTo>
                  <a:lnTo>
                    <a:pt x="2785219" y="387311"/>
                  </a:lnTo>
                  <a:cubicBezTo>
                    <a:pt x="2785219" y="395742"/>
                    <a:pt x="2781870" y="403827"/>
                    <a:pt x="2775908" y="409789"/>
                  </a:cubicBezTo>
                  <a:cubicBezTo>
                    <a:pt x="2769947" y="415751"/>
                    <a:pt x="2761861" y="419100"/>
                    <a:pt x="2753430" y="419100"/>
                  </a:cubicBezTo>
                  <a:lnTo>
                    <a:pt x="31789" y="419100"/>
                  </a:lnTo>
                  <a:cubicBezTo>
                    <a:pt x="23358" y="419100"/>
                    <a:pt x="15273" y="415751"/>
                    <a:pt x="9311" y="409789"/>
                  </a:cubicBezTo>
                  <a:cubicBezTo>
                    <a:pt x="3349" y="403827"/>
                    <a:pt x="0" y="395742"/>
                    <a:pt x="0" y="387311"/>
                  </a:cubicBezTo>
                  <a:lnTo>
                    <a:pt x="0" y="31789"/>
                  </a:lnTo>
                  <a:cubicBezTo>
                    <a:pt x="0" y="23358"/>
                    <a:pt x="3349" y="15273"/>
                    <a:pt x="9311" y="9311"/>
                  </a:cubicBezTo>
                  <a:cubicBezTo>
                    <a:pt x="15273" y="3349"/>
                    <a:pt x="23358" y="0"/>
                    <a:pt x="31789" y="0"/>
                  </a:cubicBezTo>
                  <a:close/>
                </a:path>
              </a:pathLst>
            </a:custGeom>
            <a:solidFill>
              <a:srgbClr val="594E50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2785219" cy="466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2887851" y="4079161"/>
            <a:ext cx="1252761" cy="493709"/>
            <a:chOff x="0" y="0"/>
            <a:chExt cx="2062438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062438" cy="812800"/>
            </a:xfrm>
            <a:custGeom>
              <a:avLst/>
              <a:gdLst/>
              <a:ahLst/>
              <a:cxnLst/>
              <a:rect r="r" b="b" t="t" l="l"/>
              <a:pathLst>
                <a:path h="812800" w="2062438">
                  <a:moveTo>
                    <a:pt x="1031219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1859238" y="0"/>
                  </a:lnTo>
                  <a:lnTo>
                    <a:pt x="1859238" y="406400"/>
                  </a:lnTo>
                  <a:lnTo>
                    <a:pt x="2062438" y="406400"/>
                  </a:lnTo>
                  <a:lnTo>
                    <a:pt x="1031219" y="812800"/>
                  </a:lnTo>
                  <a:close/>
                </a:path>
              </a:pathLst>
            </a:custGeom>
            <a:solidFill>
              <a:srgbClr val="F1EFEC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203200" y="-47625"/>
              <a:ext cx="1656038" cy="758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2887851" y="8076625"/>
            <a:ext cx="1252761" cy="456436"/>
            <a:chOff x="0" y="0"/>
            <a:chExt cx="2230858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230858" cy="812800"/>
            </a:xfrm>
            <a:custGeom>
              <a:avLst/>
              <a:gdLst/>
              <a:ahLst/>
              <a:cxnLst/>
              <a:rect r="r" b="b" t="t" l="l"/>
              <a:pathLst>
                <a:path h="812800" w="2230858">
                  <a:moveTo>
                    <a:pt x="1115429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2027658" y="0"/>
                  </a:lnTo>
                  <a:lnTo>
                    <a:pt x="2027658" y="406400"/>
                  </a:lnTo>
                  <a:lnTo>
                    <a:pt x="2230858" y="406400"/>
                  </a:lnTo>
                  <a:lnTo>
                    <a:pt x="1115429" y="812800"/>
                  </a:lnTo>
                  <a:close/>
                </a:path>
              </a:pathLst>
            </a:custGeom>
            <a:solidFill>
              <a:srgbClr val="F1EFEC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203200" y="-47625"/>
              <a:ext cx="1824458" cy="758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1135928" y="7334530"/>
            <a:ext cx="4756607" cy="661705"/>
            <a:chOff x="0" y="0"/>
            <a:chExt cx="3012662" cy="4191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012662" cy="419100"/>
            </a:xfrm>
            <a:custGeom>
              <a:avLst/>
              <a:gdLst/>
              <a:ahLst/>
              <a:cxnLst/>
              <a:rect r="r" b="b" t="t" l="l"/>
              <a:pathLst>
                <a:path h="419100" w="3012662">
                  <a:moveTo>
                    <a:pt x="31789" y="0"/>
                  </a:moveTo>
                  <a:lnTo>
                    <a:pt x="2980873" y="0"/>
                  </a:lnTo>
                  <a:cubicBezTo>
                    <a:pt x="2989304" y="0"/>
                    <a:pt x="2997390" y="3349"/>
                    <a:pt x="3003351" y="9311"/>
                  </a:cubicBezTo>
                  <a:cubicBezTo>
                    <a:pt x="3009313" y="15273"/>
                    <a:pt x="3012662" y="23358"/>
                    <a:pt x="3012662" y="31789"/>
                  </a:cubicBezTo>
                  <a:lnTo>
                    <a:pt x="3012662" y="387311"/>
                  </a:lnTo>
                  <a:cubicBezTo>
                    <a:pt x="3012662" y="395742"/>
                    <a:pt x="3009313" y="403827"/>
                    <a:pt x="3003351" y="409789"/>
                  </a:cubicBezTo>
                  <a:cubicBezTo>
                    <a:pt x="2997390" y="415751"/>
                    <a:pt x="2989304" y="419100"/>
                    <a:pt x="2980873" y="419100"/>
                  </a:cubicBezTo>
                  <a:lnTo>
                    <a:pt x="31789" y="419100"/>
                  </a:lnTo>
                  <a:cubicBezTo>
                    <a:pt x="23358" y="419100"/>
                    <a:pt x="15273" y="415751"/>
                    <a:pt x="9311" y="409789"/>
                  </a:cubicBezTo>
                  <a:cubicBezTo>
                    <a:pt x="3349" y="403827"/>
                    <a:pt x="0" y="395742"/>
                    <a:pt x="0" y="387311"/>
                  </a:cubicBezTo>
                  <a:lnTo>
                    <a:pt x="0" y="31789"/>
                  </a:lnTo>
                  <a:cubicBezTo>
                    <a:pt x="0" y="23358"/>
                    <a:pt x="3349" y="15273"/>
                    <a:pt x="9311" y="9311"/>
                  </a:cubicBezTo>
                  <a:cubicBezTo>
                    <a:pt x="15273" y="3349"/>
                    <a:pt x="23358" y="0"/>
                    <a:pt x="31789" y="0"/>
                  </a:cubicBezTo>
                  <a:close/>
                </a:path>
              </a:pathLst>
            </a:custGeom>
            <a:solidFill>
              <a:srgbClr val="594E50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3012662" cy="466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1135928" y="8596595"/>
            <a:ext cx="4756607" cy="661705"/>
            <a:chOff x="0" y="0"/>
            <a:chExt cx="3012662" cy="4191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012662" cy="419100"/>
            </a:xfrm>
            <a:custGeom>
              <a:avLst/>
              <a:gdLst/>
              <a:ahLst/>
              <a:cxnLst/>
              <a:rect r="r" b="b" t="t" l="l"/>
              <a:pathLst>
                <a:path h="419100" w="3012662">
                  <a:moveTo>
                    <a:pt x="31789" y="0"/>
                  </a:moveTo>
                  <a:lnTo>
                    <a:pt x="2980873" y="0"/>
                  </a:lnTo>
                  <a:cubicBezTo>
                    <a:pt x="2989304" y="0"/>
                    <a:pt x="2997390" y="3349"/>
                    <a:pt x="3003351" y="9311"/>
                  </a:cubicBezTo>
                  <a:cubicBezTo>
                    <a:pt x="3009313" y="15273"/>
                    <a:pt x="3012662" y="23358"/>
                    <a:pt x="3012662" y="31789"/>
                  </a:cubicBezTo>
                  <a:lnTo>
                    <a:pt x="3012662" y="387311"/>
                  </a:lnTo>
                  <a:cubicBezTo>
                    <a:pt x="3012662" y="395742"/>
                    <a:pt x="3009313" y="403827"/>
                    <a:pt x="3003351" y="409789"/>
                  </a:cubicBezTo>
                  <a:cubicBezTo>
                    <a:pt x="2997390" y="415751"/>
                    <a:pt x="2989304" y="419100"/>
                    <a:pt x="2980873" y="419100"/>
                  </a:cubicBezTo>
                  <a:lnTo>
                    <a:pt x="31789" y="419100"/>
                  </a:lnTo>
                  <a:cubicBezTo>
                    <a:pt x="23358" y="419100"/>
                    <a:pt x="15273" y="415751"/>
                    <a:pt x="9311" y="409789"/>
                  </a:cubicBezTo>
                  <a:cubicBezTo>
                    <a:pt x="3349" y="403827"/>
                    <a:pt x="0" y="395742"/>
                    <a:pt x="0" y="387311"/>
                  </a:cubicBezTo>
                  <a:lnTo>
                    <a:pt x="0" y="31789"/>
                  </a:lnTo>
                  <a:cubicBezTo>
                    <a:pt x="0" y="23358"/>
                    <a:pt x="3349" y="15273"/>
                    <a:pt x="9311" y="9311"/>
                  </a:cubicBezTo>
                  <a:cubicBezTo>
                    <a:pt x="15273" y="3349"/>
                    <a:pt x="23358" y="0"/>
                    <a:pt x="31789" y="0"/>
                  </a:cubicBezTo>
                  <a:close/>
                </a:path>
              </a:pathLst>
            </a:custGeom>
            <a:solidFill>
              <a:srgbClr val="594E50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3012662" cy="466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2887851" y="6798438"/>
            <a:ext cx="1252761" cy="456436"/>
            <a:chOff x="0" y="0"/>
            <a:chExt cx="2230858" cy="812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230858" cy="812800"/>
            </a:xfrm>
            <a:custGeom>
              <a:avLst/>
              <a:gdLst/>
              <a:ahLst/>
              <a:cxnLst/>
              <a:rect r="r" b="b" t="t" l="l"/>
              <a:pathLst>
                <a:path h="812800" w="2230858">
                  <a:moveTo>
                    <a:pt x="1115429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2027658" y="0"/>
                  </a:lnTo>
                  <a:lnTo>
                    <a:pt x="2027658" y="406400"/>
                  </a:lnTo>
                  <a:lnTo>
                    <a:pt x="2230858" y="406400"/>
                  </a:lnTo>
                  <a:lnTo>
                    <a:pt x="1115429" y="812800"/>
                  </a:lnTo>
                  <a:close/>
                </a:path>
              </a:pathLst>
            </a:custGeom>
            <a:solidFill>
              <a:srgbClr val="F1EFEC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203200" y="-47625"/>
              <a:ext cx="1824458" cy="758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11713639" y="4716695"/>
            <a:ext cx="3601184" cy="518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53"/>
              </a:lnSpc>
              <a:spcBef>
                <a:spcPct val="0"/>
              </a:spcBef>
            </a:pPr>
            <a:r>
              <a:rPr lang="en-US" sz="303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Encoding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1769407" y="6091866"/>
            <a:ext cx="3601184" cy="518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53"/>
              </a:lnSpc>
              <a:spcBef>
                <a:spcPct val="0"/>
              </a:spcBef>
            </a:pPr>
            <a:r>
              <a:rPr lang="en-US" sz="303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Scaling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1769407" y="7382621"/>
            <a:ext cx="3601184" cy="518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53"/>
              </a:lnSpc>
              <a:spcBef>
                <a:spcPct val="0"/>
              </a:spcBef>
            </a:pPr>
            <a:r>
              <a:rPr lang="en-US" sz="303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Feature Engineering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1769407" y="8639578"/>
            <a:ext cx="3601184" cy="518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53"/>
              </a:lnSpc>
              <a:spcBef>
                <a:spcPct val="0"/>
              </a:spcBef>
            </a:pPr>
            <a:r>
              <a:rPr lang="en-US" sz="303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ML Features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1135928" y="2498099"/>
            <a:ext cx="3314700" cy="573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C5ABDD"/>
                </a:solidFill>
                <a:latin typeface="Handelson Six"/>
                <a:ea typeface="Handelson Six"/>
                <a:cs typeface="Handelson Six"/>
                <a:sym typeface="Handelson Six"/>
              </a:rPr>
              <a:t>SmartArt pipeline: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7283F">
                <a:alpha val="100000"/>
              </a:srgbClr>
            </a:gs>
            <a:gs pos="100000">
              <a:srgbClr val="121019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1050" y="3297894"/>
            <a:ext cx="15272491" cy="5506409"/>
            <a:chOff x="0" y="0"/>
            <a:chExt cx="15056436" cy="54285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056436" cy="5428511"/>
            </a:xfrm>
            <a:custGeom>
              <a:avLst/>
              <a:gdLst/>
              <a:ahLst/>
              <a:cxnLst/>
              <a:rect r="r" b="b" t="t" l="l"/>
              <a:pathLst>
                <a:path h="5428511" w="15056436">
                  <a:moveTo>
                    <a:pt x="14818311" y="0"/>
                  </a:moveTo>
                  <a:lnTo>
                    <a:pt x="15056436" y="238125"/>
                  </a:lnTo>
                  <a:lnTo>
                    <a:pt x="15056436" y="5190386"/>
                  </a:lnTo>
                  <a:lnTo>
                    <a:pt x="14818311" y="5428511"/>
                  </a:lnTo>
                  <a:lnTo>
                    <a:pt x="238125" y="5428511"/>
                  </a:lnTo>
                  <a:lnTo>
                    <a:pt x="0" y="5190386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14818311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27283F">
                    <a:alpha val="100000"/>
                  </a:srgbClr>
                </a:gs>
                <a:gs pos="100000">
                  <a:srgbClr val="121019">
                    <a:alpha val="100000"/>
                  </a:srgbClr>
                </a:gs>
              </a:gsLst>
              <a:lin ang="5400000"/>
            </a:gradFill>
            <a:ln w="9525" cap="sq">
              <a:gradFill>
                <a:gsLst>
                  <a:gs pos="0">
                    <a:srgbClr val="F9F4FF">
                      <a:alpha val="100000"/>
                    </a:srgbClr>
                  </a:gs>
                  <a:gs pos="100000">
                    <a:srgbClr val="F9F4FF">
                      <a:alpha val="245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63500" y="15875"/>
              <a:ext cx="14929436" cy="53491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true" rot="0">
            <a:off x="17063813" y="1563913"/>
            <a:ext cx="195487" cy="151769"/>
          </a:xfrm>
          <a:custGeom>
            <a:avLst/>
            <a:gdLst/>
            <a:ahLst/>
            <a:cxnLst/>
            <a:rect r="r" b="b" t="t" l="l"/>
            <a:pathLst>
              <a:path h="151769" w="195487">
                <a:moveTo>
                  <a:pt x="195487" y="151769"/>
                </a:moveTo>
                <a:lnTo>
                  <a:pt x="0" y="151769"/>
                </a:lnTo>
                <a:lnTo>
                  <a:pt x="0" y="0"/>
                </a:lnTo>
                <a:lnTo>
                  <a:pt x="195487" y="0"/>
                </a:lnTo>
                <a:lnTo>
                  <a:pt x="195487" y="15176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7673227" y="-514350"/>
            <a:ext cx="2941547" cy="1028700"/>
            <a:chOff x="0" y="0"/>
            <a:chExt cx="1997346" cy="6985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97346" cy="698500"/>
            </a:xfrm>
            <a:custGeom>
              <a:avLst/>
              <a:gdLst/>
              <a:ahLst/>
              <a:cxnLst/>
              <a:rect r="r" b="b" t="t" l="l"/>
              <a:pathLst>
                <a:path h="698500" w="1997346">
                  <a:moveTo>
                    <a:pt x="1997346" y="349250"/>
                  </a:moveTo>
                  <a:lnTo>
                    <a:pt x="1794146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1794146" y="0"/>
                  </a:lnTo>
                  <a:lnTo>
                    <a:pt x="1997346" y="349250"/>
                  </a:lnTo>
                  <a:close/>
                </a:path>
              </a:pathLst>
            </a:custGeom>
            <a:gradFill rotWithShape="true">
              <a:gsLst>
                <a:gs pos="0">
                  <a:srgbClr val="C04AFF">
                    <a:alpha val="100000"/>
                  </a:srgbClr>
                </a:gs>
                <a:gs pos="100000">
                  <a:srgbClr val="DFBAFF">
                    <a:alpha val="100000"/>
                  </a:srgbClr>
                </a:gs>
              </a:gsLst>
              <a:lin ang="2700000"/>
            </a:gradFill>
            <a:ln w="19050" cap="sq">
              <a:gradFill>
                <a:gsLst>
                  <a:gs pos="0">
                    <a:srgbClr val="C04AFF">
                      <a:alpha val="100000"/>
                    </a:srgbClr>
                  </a:gs>
                  <a:gs pos="100000">
                    <a:srgbClr val="DFBAFF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14300" y="-47625"/>
              <a:ext cx="1768746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026525" y="9106531"/>
            <a:ext cx="195487" cy="151769"/>
          </a:xfrm>
          <a:custGeom>
            <a:avLst/>
            <a:gdLst/>
            <a:ahLst/>
            <a:cxnLst/>
            <a:rect r="r" b="b" t="t" l="l"/>
            <a:pathLst>
              <a:path h="151769" w="195487">
                <a:moveTo>
                  <a:pt x="0" y="0"/>
                </a:moveTo>
                <a:lnTo>
                  <a:pt x="195487" y="0"/>
                </a:lnTo>
                <a:lnTo>
                  <a:pt x="195487" y="151769"/>
                </a:lnTo>
                <a:lnTo>
                  <a:pt x="0" y="1517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0800000">
            <a:off x="16503541" y="0"/>
            <a:ext cx="1120543" cy="3123465"/>
          </a:xfrm>
          <a:custGeom>
            <a:avLst/>
            <a:gdLst/>
            <a:ahLst/>
            <a:cxnLst/>
            <a:rect r="r" b="b" t="t" l="l"/>
            <a:pathLst>
              <a:path h="3123465" w="1120543">
                <a:moveTo>
                  <a:pt x="0" y="0"/>
                </a:moveTo>
                <a:lnTo>
                  <a:pt x="1120543" y="0"/>
                </a:lnTo>
                <a:lnTo>
                  <a:pt x="1120543" y="3123465"/>
                </a:lnTo>
                <a:lnTo>
                  <a:pt x="0" y="31234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231050" y="1563998"/>
            <a:ext cx="14830238" cy="1219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98"/>
              </a:lnSpc>
            </a:pPr>
            <a:r>
              <a:rPr lang="en-US" sz="9098" spc="-454">
                <a:solidFill>
                  <a:srgbClr val="F9F4FF"/>
                </a:solidFill>
                <a:latin typeface="Bicubik"/>
                <a:ea typeface="Bicubik"/>
                <a:cs typeface="Bicubik"/>
                <a:sym typeface="Bicubik"/>
              </a:rPr>
              <a:t>FEATURE ENGINEER</a:t>
            </a:r>
            <a:r>
              <a:rPr lang="en-US" sz="9098" spc="-454">
                <a:solidFill>
                  <a:srgbClr val="F9F4FF"/>
                </a:solidFill>
                <a:latin typeface="Bicubik"/>
                <a:ea typeface="Bicubik"/>
                <a:cs typeface="Bicubik"/>
                <a:sym typeface="Bicubik"/>
              </a:rPr>
              <a:t>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18800" y="3612219"/>
            <a:ext cx="14338518" cy="4892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2"/>
              </a:lnSpc>
            </a:pPr>
            <a:r>
              <a:rPr lang="en-US" sz="2759">
                <a:solidFill>
                  <a:srgbClr val="EAE5DD"/>
                </a:solidFill>
                <a:latin typeface="Inter Light"/>
                <a:ea typeface="Inter Light"/>
                <a:cs typeface="Inter Light"/>
                <a:sym typeface="Inter Light"/>
              </a:rPr>
              <a:t>Creat</a:t>
            </a:r>
            <a:r>
              <a:rPr lang="en-US" sz="2759">
                <a:solidFill>
                  <a:srgbClr val="EAE5DD"/>
                </a:solidFill>
                <a:latin typeface="Inter Light"/>
                <a:ea typeface="Inter Light"/>
                <a:cs typeface="Inter Light"/>
                <a:sym typeface="Inter Light"/>
              </a:rPr>
              <a:t>ed behavioural interaction features:</a:t>
            </a:r>
          </a:p>
          <a:p>
            <a:pPr algn="l" marL="595691" indent="-297845" lvl="1">
              <a:lnSpc>
                <a:spcPts val="3862"/>
              </a:lnSpc>
              <a:buAutoNum type="arabicPeriod" startAt="1"/>
            </a:pPr>
            <a:r>
              <a:rPr lang="en-US" sz="2759">
                <a:solidFill>
                  <a:srgbClr val="EAE5DD"/>
                </a:solidFill>
                <a:latin typeface="Inter Light"/>
                <a:ea typeface="Inter Light"/>
                <a:cs typeface="Inter Light"/>
                <a:sym typeface="Inter Light"/>
              </a:rPr>
              <a:t>Popularity D</a:t>
            </a:r>
            <a:r>
              <a:rPr lang="en-US" sz="2759">
                <a:solidFill>
                  <a:srgbClr val="EAE5DD"/>
                </a:solidFill>
                <a:latin typeface="Inter Light"/>
                <a:ea typeface="Inter Light"/>
                <a:cs typeface="Inter Light"/>
                <a:sym typeface="Inter Light"/>
              </a:rPr>
              <a:t>ensity</a:t>
            </a:r>
          </a:p>
          <a:p>
            <a:pPr algn="l">
              <a:lnSpc>
                <a:spcPts val="3862"/>
              </a:lnSpc>
            </a:pPr>
            <a:r>
              <a:rPr lang="en-US" sz="2759">
                <a:solidFill>
                  <a:srgbClr val="EAE5DD"/>
                </a:solidFill>
                <a:latin typeface="Inter Light"/>
                <a:ea typeface="Inter Light"/>
                <a:cs typeface="Inter Light"/>
                <a:sym typeface="Inter Light"/>
              </a:rPr>
              <a:t>Likes Received / Usage Duration</a:t>
            </a:r>
          </a:p>
          <a:p>
            <a:pPr algn="l" marL="595691" indent="-297845" lvl="1">
              <a:lnSpc>
                <a:spcPts val="3862"/>
              </a:lnSpc>
              <a:buAutoNum type="arabicPeriod" startAt="1"/>
            </a:pPr>
            <a:r>
              <a:rPr lang="en-US" sz="2759">
                <a:solidFill>
                  <a:srgbClr val="EAE5DD"/>
                </a:solidFill>
                <a:latin typeface="Inter Light"/>
                <a:ea typeface="Inter Light"/>
                <a:cs typeface="Inter Light"/>
                <a:sym typeface="Inter Light"/>
              </a:rPr>
              <a:t>Bio Message Interaction</a:t>
            </a:r>
          </a:p>
          <a:p>
            <a:pPr algn="l">
              <a:lnSpc>
                <a:spcPts val="3862"/>
              </a:lnSpc>
            </a:pPr>
            <a:r>
              <a:rPr lang="en-US" sz="2759">
                <a:solidFill>
                  <a:srgbClr val="EAE5DD"/>
                </a:solidFill>
                <a:latin typeface="Inter Light"/>
                <a:ea typeface="Inter Light"/>
                <a:cs typeface="Inter Light"/>
                <a:sym typeface="Inter Light"/>
              </a:rPr>
              <a:t>Bio Length × Message Count</a:t>
            </a:r>
          </a:p>
          <a:p>
            <a:pPr algn="l" marL="595691" indent="-297845" lvl="1">
              <a:lnSpc>
                <a:spcPts val="3862"/>
              </a:lnSpc>
              <a:buAutoNum type="arabicPeriod" startAt="1"/>
            </a:pPr>
            <a:r>
              <a:rPr lang="en-US" sz="2759">
                <a:solidFill>
                  <a:srgbClr val="EAE5DD"/>
                </a:solidFill>
                <a:latin typeface="Inter Light"/>
                <a:ea typeface="Inter Light"/>
                <a:cs typeface="Inter Light"/>
                <a:sym typeface="Inter Light"/>
              </a:rPr>
              <a:t>Selective Emoji Swiper</a:t>
            </a:r>
          </a:p>
          <a:p>
            <a:pPr algn="l">
              <a:lnSpc>
                <a:spcPts val="3862"/>
              </a:lnSpc>
            </a:pPr>
            <a:r>
              <a:rPr lang="en-US" sz="2759">
                <a:solidFill>
                  <a:srgbClr val="EAE5DD"/>
                </a:solidFill>
                <a:latin typeface="Inter Light"/>
                <a:ea typeface="Inter Light"/>
                <a:cs typeface="Inter Light"/>
                <a:sym typeface="Inter Light"/>
              </a:rPr>
              <a:t>Emoji Usage × Swipe Behaviour</a:t>
            </a:r>
          </a:p>
          <a:p>
            <a:pPr algn="l">
              <a:lnSpc>
                <a:spcPts val="3862"/>
              </a:lnSpc>
            </a:pPr>
            <a:r>
              <a:rPr lang="en-US" sz="2759">
                <a:solidFill>
                  <a:srgbClr val="EAE5DD"/>
                </a:solidFill>
                <a:latin typeface="Inter Light"/>
                <a:ea typeface="Inter Light"/>
                <a:cs typeface="Inter Light"/>
                <a:sym typeface="Inter Light"/>
              </a:rPr>
              <a:t>P</a:t>
            </a:r>
            <a:r>
              <a:rPr lang="en-US" sz="2759">
                <a:solidFill>
                  <a:srgbClr val="EAE5DD"/>
                </a:solidFill>
                <a:latin typeface="Inter Light"/>
                <a:ea typeface="Inter Light"/>
                <a:cs typeface="Inter Light"/>
                <a:sym typeface="Inter Light"/>
              </a:rPr>
              <a:t>urpose:</a:t>
            </a:r>
          </a:p>
          <a:p>
            <a:pPr algn="l">
              <a:lnSpc>
                <a:spcPts val="3862"/>
              </a:lnSpc>
            </a:pPr>
            <a:r>
              <a:rPr lang="en-US" sz="2759">
                <a:solidFill>
                  <a:srgbClr val="EAE5DD"/>
                </a:solidFill>
                <a:latin typeface="Inter Light"/>
                <a:ea typeface="Inter Light"/>
                <a:cs typeface="Inter Light"/>
                <a:sym typeface="Inter Light"/>
              </a:rPr>
              <a:t>C</a:t>
            </a:r>
            <a:r>
              <a:rPr lang="en-US" sz="2759">
                <a:solidFill>
                  <a:srgbClr val="EAE5DD"/>
                </a:solidFill>
                <a:latin typeface="Inter Light"/>
                <a:ea typeface="Inter Light"/>
                <a:cs typeface="Inter Light"/>
                <a:sym typeface="Inter Light"/>
              </a:rPr>
              <a:t>apture hidden behavioural patterns.</a:t>
            </a:r>
          </a:p>
          <a:p>
            <a:pPr algn="l">
              <a:lnSpc>
                <a:spcPts val="3862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7283F">
                <a:alpha val="100000"/>
              </a:srgbClr>
            </a:gs>
            <a:gs pos="100000">
              <a:srgbClr val="121019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3547587" y="1380994"/>
            <a:ext cx="195487" cy="151769"/>
          </a:xfrm>
          <a:custGeom>
            <a:avLst/>
            <a:gdLst/>
            <a:ahLst/>
            <a:cxnLst/>
            <a:rect r="r" b="b" t="t" l="l"/>
            <a:pathLst>
              <a:path h="151769" w="195487">
                <a:moveTo>
                  <a:pt x="195487" y="151769"/>
                </a:moveTo>
                <a:lnTo>
                  <a:pt x="0" y="151769"/>
                </a:lnTo>
                <a:lnTo>
                  <a:pt x="0" y="0"/>
                </a:lnTo>
                <a:lnTo>
                  <a:pt x="195487" y="0"/>
                </a:lnTo>
                <a:lnTo>
                  <a:pt x="195487" y="15176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673227" y="-514350"/>
            <a:ext cx="2941547" cy="1028700"/>
            <a:chOff x="0" y="0"/>
            <a:chExt cx="1997346" cy="6985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97346" cy="698500"/>
            </a:xfrm>
            <a:custGeom>
              <a:avLst/>
              <a:gdLst/>
              <a:ahLst/>
              <a:cxnLst/>
              <a:rect r="r" b="b" t="t" l="l"/>
              <a:pathLst>
                <a:path h="698500" w="1997346">
                  <a:moveTo>
                    <a:pt x="1997346" y="349250"/>
                  </a:moveTo>
                  <a:lnTo>
                    <a:pt x="1794146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1794146" y="0"/>
                  </a:lnTo>
                  <a:lnTo>
                    <a:pt x="1997346" y="349250"/>
                  </a:lnTo>
                  <a:close/>
                </a:path>
              </a:pathLst>
            </a:custGeom>
            <a:gradFill rotWithShape="true">
              <a:gsLst>
                <a:gs pos="0">
                  <a:srgbClr val="C04AFF">
                    <a:alpha val="100000"/>
                  </a:srgbClr>
                </a:gs>
                <a:gs pos="100000">
                  <a:srgbClr val="DFBAFF">
                    <a:alpha val="100000"/>
                  </a:srgbClr>
                </a:gs>
              </a:gsLst>
              <a:lin ang="2700000"/>
            </a:gradFill>
            <a:ln w="19050" cap="sq">
              <a:gradFill>
                <a:gsLst>
                  <a:gs pos="0">
                    <a:srgbClr val="C04AFF">
                      <a:alpha val="100000"/>
                    </a:srgbClr>
                  </a:gs>
                  <a:gs pos="100000">
                    <a:srgbClr val="DFBAFF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114300" y="-47625"/>
              <a:ext cx="1768746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281893" y="3905690"/>
            <a:ext cx="6781132" cy="3950067"/>
            <a:chOff x="0" y="0"/>
            <a:chExt cx="1811245" cy="105506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11245" cy="1055066"/>
            </a:xfrm>
            <a:custGeom>
              <a:avLst/>
              <a:gdLst/>
              <a:ahLst/>
              <a:cxnLst/>
              <a:rect r="r" b="b" t="t" l="l"/>
              <a:pathLst>
                <a:path h="1055066" w="1811245">
                  <a:moveTo>
                    <a:pt x="0" y="0"/>
                  </a:moveTo>
                  <a:lnTo>
                    <a:pt x="1811245" y="0"/>
                  </a:lnTo>
                  <a:lnTo>
                    <a:pt x="1811245" y="1055066"/>
                  </a:lnTo>
                  <a:lnTo>
                    <a:pt x="0" y="1055066"/>
                  </a:lnTo>
                  <a:close/>
                </a:path>
              </a:pathLst>
            </a:custGeom>
            <a:gradFill rotWithShape="true">
              <a:gsLst>
                <a:gs pos="0">
                  <a:srgbClr val="C04AFF">
                    <a:alpha val="35000"/>
                  </a:srgbClr>
                </a:gs>
                <a:gs pos="100000">
                  <a:srgbClr val="C04A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811245" cy="11026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81893" y="3905690"/>
            <a:ext cx="130471" cy="3950067"/>
            <a:chOff x="0" y="0"/>
            <a:chExt cx="34849" cy="105506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4849" cy="1055066"/>
            </a:xfrm>
            <a:custGeom>
              <a:avLst/>
              <a:gdLst/>
              <a:ahLst/>
              <a:cxnLst/>
              <a:rect r="r" b="b" t="t" l="l"/>
              <a:pathLst>
                <a:path h="1055066" w="34849">
                  <a:moveTo>
                    <a:pt x="0" y="0"/>
                  </a:moveTo>
                  <a:lnTo>
                    <a:pt x="34849" y="0"/>
                  </a:lnTo>
                  <a:lnTo>
                    <a:pt x="34849" y="1055066"/>
                  </a:lnTo>
                  <a:lnTo>
                    <a:pt x="0" y="1055066"/>
                  </a:lnTo>
                  <a:close/>
                </a:path>
              </a:pathLst>
            </a:custGeom>
            <a:gradFill rotWithShape="true">
              <a:gsLst>
                <a:gs pos="0">
                  <a:srgbClr val="C04AFF">
                    <a:alpha val="100000"/>
                  </a:srgbClr>
                </a:gs>
                <a:gs pos="100000">
                  <a:srgbClr val="DFBA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34849" cy="11026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086406" y="9550038"/>
            <a:ext cx="195487" cy="151769"/>
          </a:xfrm>
          <a:custGeom>
            <a:avLst/>
            <a:gdLst/>
            <a:ahLst/>
            <a:cxnLst/>
            <a:rect r="r" b="b" t="t" l="l"/>
            <a:pathLst>
              <a:path h="151769" w="195487">
                <a:moveTo>
                  <a:pt x="0" y="0"/>
                </a:moveTo>
                <a:lnTo>
                  <a:pt x="195487" y="0"/>
                </a:lnTo>
                <a:lnTo>
                  <a:pt x="195487" y="151769"/>
                </a:lnTo>
                <a:lnTo>
                  <a:pt x="0" y="1517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574729" y="7560399"/>
            <a:ext cx="978168" cy="2726601"/>
          </a:xfrm>
          <a:custGeom>
            <a:avLst/>
            <a:gdLst/>
            <a:ahLst/>
            <a:cxnLst/>
            <a:rect r="r" b="b" t="t" l="l"/>
            <a:pathLst>
              <a:path h="2726601" w="978168">
                <a:moveTo>
                  <a:pt x="0" y="0"/>
                </a:moveTo>
                <a:lnTo>
                  <a:pt x="978168" y="0"/>
                </a:lnTo>
                <a:lnTo>
                  <a:pt x="978168" y="2726601"/>
                </a:lnTo>
                <a:lnTo>
                  <a:pt x="0" y="27266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738144" y="4030295"/>
            <a:ext cx="9777331" cy="3892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2"/>
              </a:lnSpc>
            </a:pPr>
            <a:r>
              <a:rPr lang="en-US" sz="2759">
                <a:solidFill>
                  <a:srgbClr val="DFE6E9"/>
                </a:solidFill>
                <a:latin typeface="Arimo"/>
                <a:ea typeface="Arimo"/>
                <a:cs typeface="Arimo"/>
                <a:sym typeface="Arimo"/>
              </a:rPr>
              <a:t>Isolat</a:t>
            </a:r>
            <a:r>
              <a:rPr lang="en-US" sz="2759">
                <a:solidFill>
                  <a:srgbClr val="DFE6E9"/>
                </a:solidFill>
                <a:latin typeface="Arimo"/>
                <a:ea typeface="Arimo"/>
                <a:cs typeface="Arimo"/>
                <a:sym typeface="Arimo"/>
              </a:rPr>
              <a:t>ion Forest was deployed before classification.</a:t>
            </a:r>
          </a:p>
          <a:p>
            <a:pPr algn="l">
              <a:lnSpc>
                <a:spcPts val="3862"/>
              </a:lnSpc>
            </a:pPr>
            <a:r>
              <a:rPr lang="en-US" sz="2759">
                <a:solidFill>
                  <a:srgbClr val="DFE6E9"/>
                </a:solidFill>
                <a:latin typeface="Arimo"/>
                <a:ea typeface="Arimo"/>
                <a:cs typeface="Arimo"/>
                <a:sym typeface="Arimo"/>
              </a:rPr>
              <a:t>Purpose:</a:t>
            </a:r>
          </a:p>
          <a:p>
            <a:pPr algn="l" marL="595691" indent="-297846" lvl="1">
              <a:lnSpc>
                <a:spcPts val="3862"/>
              </a:lnSpc>
              <a:buFont typeface="Arial"/>
              <a:buChar char="•"/>
            </a:pPr>
            <a:r>
              <a:rPr lang="en-US" sz="2759">
                <a:solidFill>
                  <a:srgbClr val="DFE6E9"/>
                </a:solidFill>
                <a:latin typeface="Arimo"/>
                <a:ea typeface="Arimo"/>
                <a:cs typeface="Arimo"/>
                <a:sym typeface="Arimo"/>
              </a:rPr>
              <a:t>Detect abnormal profiles</a:t>
            </a:r>
          </a:p>
          <a:p>
            <a:pPr algn="l" marL="595691" indent="-297846" lvl="1">
              <a:lnSpc>
                <a:spcPts val="3862"/>
              </a:lnSpc>
              <a:buFont typeface="Arial"/>
              <a:buChar char="•"/>
            </a:pPr>
            <a:r>
              <a:rPr lang="en-US" sz="2759">
                <a:solidFill>
                  <a:srgbClr val="DFE6E9"/>
                </a:solidFill>
                <a:latin typeface="Arimo"/>
                <a:ea typeface="Arimo"/>
                <a:cs typeface="Arimo"/>
                <a:sym typeface="Arimo"/>
              </a:rPr>
              <a:t>Rejec</a:t>
            </a:r>
            <a:r>
              <a:rPr lang="en-US" sz="2759">
                <a:solidFill>
                  <a:srgbClr val="DFE6E9"/>
                </a:solidFill>
                <a:latin typeface="Arimo"/>
                <a:ea typeface="Arimo"/>
                <a:cs typeface="Arimo"/>
                <a:sym typeface="Arimo"/>
              </a:rPr>
              <a:t>t anomalous inputs</a:t>
            </a:r>
          </a:p>
          <a:p>
            <a:pPr algn="l" marL="595691" indent="-297846" lvl="1">
              <a:lnSpc>
                <a:spcPts val="3862"/>
              </a:lnSpc>
              <a:buFont typeface="Arial"/>
              <a:buChar char="•"/>
            </a:pPr>
            <a:r>
              <a:rPr lang="en-US" sz="2759">
                <a:solidFill>
                  <a:srgbClr val="DFE6E9"/>
                </a:solidFill>
                <a:latin typeface="Arimo"/>
                <a:ea typeface="Arimo"/>
                <a:cs typeface="Arimo"/>
                <a:sym typeface="Arimo"/>
              </a:rPr>
              <a:t>Im</a:t>
            </a:r>
            <a:r>
              <a:rPr lang="en-US" sz="2759">
                <a:solidFill>
                  <a:srgbClr val="DFE6E9"/>
                </a:solidFill>
                <a:latin typeface="Arimo"/>
                <a:ea typeface="Arimo"/>
                <a:cs typeface="Arimo"/>
                <a:sym typeface="Arimo"/>
              </a:rPr>
              <a:t>prove r</a:t>
            </a:r>
            <a:r>
              <a:rPr lang="en-US" sz="2759">
                <a:solidFill>
                  <a:srgbClr val="DFE6E9"/>
                </a:solidFill>
                <a:latin typeface="Arimo"/>
                <a:ea typeface="Arimo"/>
                <a:cs typeface="Arimo"/>
                <a:sym typeface="Arimo"/>
              </a:rPr>
              <a:t>eliability</a:t>
            </a:r>
          </a:p>
          <a:p>
            <a:pPr algn="l">
              <a:lnSpc>
                <a:spcPts val="3862"/>
              </a:lnSpc>
            </a:pPr>
            <a:r>
              <a:rPr lang="en-US" sz="2759">
                <a:solidFill>
                  <a:srgbClr val="DFE6E9"/>
                </a:solidFill>
                <a:latin typeface="Arimo"/>
                <a:ea typeface="Arimo"/>
                <a:cs typeface="Arimo"/>
                <a:sym typeface="Arimo"/>
              </a:rPr>
              <a:t>Profiles exceeding anomaly threshold are excluded from prediction.</a:t>
            </a:r>
          </a:p>
          <a:p>
            <a:pPr algn="l">
              <a:lnSpc>
                <a:spcPts val="3862"/>
              </a:lnSpc>
            </a:pPr>
          </a:p>
        </p:txBody>
      </p:sp>
      <p:grpSp>
        <p:nvGrpSpPr>
          <p:cNvPr name="Group 15" id="15"/>
          <p:cNvGrpSpPr/>
          <p:nvPr/>
        </p:nvGrpSpPr>
        <p:grpSpPr>
          <a:xfrm rot="0">
            <a:off x="12507831" y="6807980"/>
            <a:ext cx="1353683" cy="905082"/>
            <a:chOff x="0" y="0"/>
            <a:chExt cx="1215662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15662" cy="812800"/>
            </a:xfrm>
            <a:custGeom>
              <a:avLst/>
              <a:gdLst/>
              <a:ahLst/>
              <a:cxnLst/>
              <a:rect r="r" b="b" t="t" l="l"/>
              <a:pathLst>
                <a:path h="812800" w="1215662">
                  <a:moveTo>
                    <a:pt x="607831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1012462" y="0"/>
                  </a:lnTo>
                  <a:lnTo>
                    <a:pt x="1012462" y="406400"/>
                  </a:lnTo>
                  <a:lnTo>
                    <a:pt x="1215662" y="406400"/>
                  </a:lnTo>
                  <a:lnTo>
                    <a:pt x="607831" y="812800"/>
                  </a:lnTo>
                  <a:close/>
                </a:path>
              </a:pathLst>
            </a:custGeom>
            <a:solidFill>
              <a:srgbClr val="F1EFEC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203200" y="-47625"/>
              <a:ext cx="809262" cy="758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281893" y="1258453"/>
            <a:ext cx="14584686" cy="2369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98"/>
              </a:lnSpc>
            </a:pPr>
            <a:r>
              <a:rPr lang="en-US" sz="9098" spc="-454">
                <a:solidFill>
                  <a:srgbClr val="F9F4FF"/>
                </a:solidFill>
                <a:latin typeface="Bicubik"/>
                <a:ea typeface="Bicubik"/>
                <a:cs typeface="Bicubik"/>
                <a:sym typeface="Bicubik"/>
              </a:rPr>
              <a:t>OUT-OF-DISTRIBU</a:t>
            </a:r>
            <a:r>
              <a:rPr lang="en-US" sz="9098" spc="-454">
                <a:solidFill>
                  <a:srgbClr val="F9F4FF"/>
                </a:solidFill>
                <a:latin typeface="Bicubik"/>
                <a:ea typeface="Bicubik"/>
                <a:cs typeface="Bicubik"/>
                <a:sym typeface="Bicubik"/>
              </a:rPr>
              <a:t>TION DETECTION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0614773" y="2869796"/>
            <a:ext cx="5139799" cy="1312117"/>
            <a:chOff x="0" y="0"/>
            <a:chExt cx="1641691" cy="4191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641690" cy="419100"/>
            </a:xfrm>
            <a:custGeom>
              <a:avLst/>
              <a:gdLst/>
              <a:ahLst/>
              <a:cxnLst/>
              <a:rect r="r" b="b" t="t" l="l"/>
              <a:pathLst>
                <a:path h="419100" w="1641690">
                  <a:moveTo>
                    <a:pt x="29419" y="0"/>
                  </a:moveTo>
                  <a:lnTo>
                    <a:pt x="1612271" y="0"/>
                  </a:lnTo>
                  <a:cubicBezTo>
                    <a:pt x="1628519" y="0"/>
                    <a:pt x="1641690" y="13171"/>
                    <a:pt x="1641690" y="29419"/>
                  </a:cubicBezTo>
                  <a:lnTo>
                    <a:pt x="1641690" y="389681"/>
                  </a:lnTo>
                  <a:cubicBezTo>
                    <a:pt x="1641690" y="405929"/>
                    <a:pt x="1628519" y="419100"/>
                    <a:pt x="1612271" y="419100"/>
                  </a:cubicBezTo>
                  <a:lnTo>
                    <a:pt x="29419" y="419100"/>
                  </a:lnTo>
                  <a:cubicBezTo>
                    <a:pt x="13171" y="419100"/>
                    <a:pt x="0" y="405929"/>
                    <a:pt x="0" y="389681"/>
                  </a:cubicBezTo>
                  <a:lnTo>
                    <a:pt x="0" y="29419"/>
                  </a:lnTo>
                  <a:cubicBezTo>
                    <a:pt x="0" y="13171"/>
                    <a:pt x="13171" y="0"/>
                    <a:pt x="29419" y="0"/>
                  </a:cubicBezTo>
                  <a:close/>
                </a:path>
              </a:pathLst>
            </a:custGeom>
            <a:solidFill>
              <a:srgbClr val="594E50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1641691" cy="466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0652180" y="3256615"/>
            <a:ext cx="4959031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User</a:t>
            </a:r>
            <a:r>
              <a:rPr lang="en-US" sz="2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Profile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0614773" y="5353167"/>
            <a:ext cx="5139799" cy="1312117"/>
            <a:chOff x="0" y="0"/>
            <a:chExt cx="1641691" cy="4191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641690" cy="419100"/>
            </a:xfrm>
            <a:custGeom>
              <a:avLst/>
              <a:gdLst/>
              <a:ahLst/>
              <a:cxnLst/>
              <a:rect r="r" b="b" t="t" l="l"/>
              <a:pathLst>
                <a:path h="419100" w="1641690">
                  <a:moveTo>
                    <a:pt x="29419" y="0"/>
                  </a:moveTo>
                  <a:lnTo>
                    <a:pt x="1612271" y="0"/>
                  </a:lnTo>
                  <a:cubicBezTo>
                    <a:pt x="1628519" y="0"/>
                    <a:pt x="1641690" y="13171"/>
                    <a:pt x="1641690" y="29419"/>
                  </a:cubicBezTo>
                  <a:lnTo>
                    <a:pt x="1641690" y="389681"/>
                  </a:lnTo>
                  <a:cubicBezTo>
                    <a:pt x="1641690" y="405929"/>
                    <a:pt x="1628519" y="419100"/>
                    <a:pt x="1612271" y="419100"/>
                  </a:cubicBezTo>
                  <a:lnTo>
                    <a:pt x="29419" y="419100"/>
                  </a:lnTo>
                  <a:cubicBezTo>
                    <a:pt x="13171" y="419100"/>
                    <a:pt x="0" y="405929"/>
                    <a:pt x="0" y="389681"/>
                  </a:cubicBezTo>
                  <a:lnTo>
                    <a:pt x="0" y="29419"/>
                  </a:lnTo>
                  <a:cubicBezTo>
                    <a:pt x="0" y="13171"/>
                    <a:pt x="13171" y="0"/>
                    <a:pt x="29419" y="0"/>
                  </a:cubicBezTo>
                  <a:close/>
                </a:path>
              </a:pathLst>
            </a:custGeom>
            <a:solidFill>
              <a:srgbClr val="594E50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1641691" cy="466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0614773" y="5771969"/>
            <a:ext cx="4959031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Isol</a:t>
            </a:r>
            <a:r>
              <a:rPr lang="en-US" sz="2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ation Forest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0614773" y="7855758"/>
            <a:ext cx="5139799" cy="1312117"/>
            <a:chOff x="0" y="0"/>
            <a:chExt cx="1641691" cy="4191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641690" cy="419100"/>
            </a:xfrm>
            <a:custGeom>
              <a:avLst/>
              <a:gdLst/>
              <a:ahLst/>
              <a:cxnLst/>
              <a:rect r="r" b="b" t="t" l="l"/>
              <a:pathLst>
                <a:path h="419100" w="1641690">
                  <a:moveTo>
                    <a:pt x="29419" y="0"/>
                  </a:moveTo>
                  <a:lnTo>
                    <a:pt x="1612271" y="0"/>
                  </a:lnTo>
                  <a:cubicBezTo>
                    <a:pt x="1628519" y="0"/>
                    <a:pt x="1641690" y="13171"/>
                    <a:pt x="1641690" y="29419"/>
                  </a:cubicBezTo>
                  <a:lnTo>
                    <a:pt x="1641690" y="389681"/>
                  </a:lnTo>
                  <a:cubicBezTo>
                    <a:pt x="1641690" y="405929"/>
                    <a:pt x="1628519" y="419100"/>
                    <a:pt x="1612271" y="419100"/>
                  </a:cubicBezTo>
                  <a:lnTo>
                    <a:pt x="29419" y="419100"/>
                  </a:lnTo>
                  <a:cubicBezTo>
                    <a:pt x="13171" y="419100"/>
                    <a:pt x="0" y="405929"/>
                    <a:pt x="0" y="389681"/>
                  </a:cubicBezTo>
                  <a:lnTo>
                    <a:pt x="0" y="29419"/>
                  </a:lnTo>
                  <a:cubicBezTo>
                    <a:pt x="0" y="13171"/>
                    <a:pt x="13171" y="0"/>
                    <a:pt x="29419" y="0"/>
                  </a:cubicBezTo>
                  <a:close/>
                </a:path>
              </a:pathLst>
            </a:custGeom>
            <a:solidFill>
              <a:srgbClr val="594E50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1641691" cy="466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0808310" y="7994926"/>
            <a:ext cx="4873247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</a:t>
            </a:r>
            <a:r>
              <a:rPr lang="en-US" sz="2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ormal → Model</a:t>
            </a:r>
          </a:p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Anomaly → Reject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2568092" y="4306075"/>
            <a:ext cx="1353683" cy="905082"/>
            <a:chOff x="0" y="0"/>
            <a:chExt cx="1215662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215662" cy="812800"/>
            </a:xfrm>
            <a:custGeom>
              <a:avLst/>
              <a:gdLst/>
              <a:ahLst/>
              <a:cxnLst/>
              <a:rect r="r" b="b" t="t" l="l"/>
              <a:pathLst>
                <a:path h="812800" w="1215662">
                  <a:moveTo>
                    <a:pt x="607831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1012462" y="0"/>
                  </a:lnTo>
                  <a:lnTo>
                    <a:pt x="1012462" y="406400"/>
                  </a:lnTo>
                  <a:lnTo>
                    <a:pt x="1215662" y="406400"/>
                  </a:lnTo>
                  <a:lnTo>
                    <a:pt x="607831" y="812800"/>
                  </a:lnTo>
                  <a:close/>
                </a:path>
              </a:pathLst>
            </a:custGeom>
            <a:solidFill>
              <a:srgbClr val="F1EFEC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203200" y="-47625"/>
              <a:ext cx="809262" cy="758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7283F">
                <a:alpha val="100000"/>
              </a:srgbClr>
            </a:gs>
            <a:gs pos="100000">
              <a:srgbClr val="121019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1050" y="3751891"/>
            <a:ext cx="15272491" cy="5506409"/>
            <a:chOff x="0" y="0"/>
            <a:chExt cx="15056436" cy="54285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056436" cy="5428511"/>
            </a:xfrm>
            <a:custGeom>
              <a:avLst/>
              <a:gdLst/>
              <a:ahLst/>
              <a:cxnLst/>
              <a:rect r="r" b="b" t="t" l="l"/>
              <a:pathLst>
                <a:path h="5428511" w="15056436">
                  <a:moveTo>
                    <a:pt x="14818311" y="0"/>
                  </a:moveTo>
                  <a:lnTo>
                    <a:pt x="15056436" y="238125"/>
                  </a:lnTo>
                  <a:lnTo>
                    <a:pt x="15056436" y="5190386"/>
                  </a:lnTo>
                  <a:lnTo>
                    <a:pt x="14818311" y="5428511"/>
                  </a:lnTo>
                  <a:lnTo>
                    <a:pt x="238125" y="5428511"/>
                  </a:lnTo>
                  <a:lnTo>
                    <a:pt x="0" y="5190386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14818311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27283F">
                    <a:alpha val="100000"/>
                  </a:srgbClr>
                </a:gs>
                <a:gs pos="100000">
                  <a:srgbClr val="121019">
                    <a:alpha val="100000"/>
                  </a:srgbClr>
                </a:gs>
              </a:gsLst>
              <a:lin ang="5400000"/>
            </a:gradFill>
            <a:ln w="9525" cap="sq">
              <a:gradFill>
                <a:gsLst>
                  <a:gs pos="0">
                    <a:srgbClr val="F9F4FF">
                      <a:alpha val="100000"/>
                    </a:srgbClr>
                  </a:gs>
                  <a:gs pos="100000">
                    <a:srgbClr val="F9F4FF">
                      <a:alpha val="245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63500" y="15875"/>
              <a:ext cx="14929436" cy="53491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true" rot="0">
            <a:off x="17063813" y="1563913"/>
            <a:ext cx="195487" cy="151769"/>
          </a:xfrm>
          <a:custGeom>
            <a:avLst/>
            <a:gdLst/>
            <a:ahLst/>
            <a:cxnLst/>
            <a:rect r="r" b="b" t="t" l="l"/>
            <a:pathLst>
              <a:path h="151769" w="195487">
                <a:moveTo>
                  <a:pt x="195487" y="151769"/>
                </a:moveTo>
                <a:lnTo>
                  <a:pt x="0" y="151769"/>
                </a:lnTo>
                <a:lnTo>
                  <a:pt x="0" y="0"/>
                </a:lnTo>
                <a:lnTo>
                  <a:pt x="195487" y="0"/>
                </a:lnTo>
                <a:lnTo>
                  <a:pt x="195487" y="15176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7673227" y="-514350"/>
            <a:ext cx="2941547" cy="1028700"/>
            <a:chOff x="0" y="0"/>
            <a:chExt cx="1997346" cy="6985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97346" cy="698500"/>
            </a:xfrm>
            <a:custGeom>
              <a:avLst/>
              <a:gdLst/>
              <a:ahLst/>
              <a:cxnLst/>
              <a:rect r="r" b="b" t="t" l="l"/>
              <a:pathLst>
                <a:path h="698500" w="1997346">
                  <a:moveTo>
                    <a:pt x="1997346" y="349250"/>
                  </a:moveTo>
                  <a:lnTo>
                    <a:pt x="1794146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1794146" y="0"/>
                  </a:lnTo>
                  <a:lnTo>
                    <a:pt x="1997346" y="349250"/>
                  </a:lnTo>
                  <a:close/>
                </a:path>
              </a:pathLst>
            </a:custGeom>
            <a:gradFill rotWithShape="true">
              <a:gsLst>
                <a:gs pos="0">
                  <a:srgbClr val="C04AFF">
                    <a:alpha val="100000"/>
                  </a:srgbClr>
                </a:gs>
                <a:gs pos="100000">
                  <a:srgbClr val="DFBAFF">
                    <a:alpha val="100000"/>
                  </a:srgbClr>
                </a:gs>
              </a:gsLst>
              <a:lin ang="2700000"/>
            </a:gradFill>
            <a:ln w="19050" cap="sq">
              <a:gradFill>
                <a:gsLst>
                  <a:gs pos="0">
                    <a:srgbClr val="C04AFF">
                      <a:alpha val="100000"/>
                    </a:srgbClr>
                  </a:gs>
                  <a:gs pos="100000">
                    <a:srgbClr val="DFBAFF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14300" y="-47625"/>
              <a:ext cx="1768746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026525" y="9106531"/>
            <a:ext cx="195487" cy="151769"/>
          </a:xfrm>
          <a:custGeom>
            <a:avLst/>
            <a:gdLst/>
            <a:ahLst/>
            <a:cxnLst/>
            <a:rect r="r" b="b" t="t" l="l"/>
            <a:pathLst>
              <a:path h="151769" w="195487">
                <a:moveTo>
                  <a:pt x="0" y="0"/>
                </a:moveTo>
                <a:lnTo>
                  <a:pt x="195487" y="0"/>
                </a:lnTo>
                <a:lnTo>
                  <a:pt x="195487" y="151769"/>
                </a:lnTo>
                <a:lnTo>
                  <a:pt x="0" y="1517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0800000">
            <a:off x="16503541" y="0"/>
            <a:ext cx="1120543" cy="3123465"/>
          </a:xfrm>
          <a:custGeom>
            <a:avLst/>
            <a:gdLst/>
            <a:ahLst/>
            <a:cxnLst/>
            <a:rect r="r" b="b" t="t" l="l"/>
            <a:pathLst>
              <a:path h="3123465" w="1120543">
                <a:moveTo>
                  <a:pt x="0" y="0"/>
                </a:moveTo>
                <a:lnTo>
                  <a:pt x="1120543" y="0"/>
                </a:lnTo>
                <a:lnTo>
                  <a:pt x="1120543" y="3123465"/>
                </a:lnTo>
                <a:lnTo>
                  <a:pt x="0" y="31234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728881" y="1190625"/>
            <a:ext cx="14830238" cy="2369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98"/>
              </a:lnSpc>
            </a:pPr>
            <a:r>
              <a:rPr lang="en-US" sz="9098" spc="-454">
                <a:solidFill>
                  <a:srgbClr val="F9F4FF"/>
                </a:solidFill>
                <a:latin typeface="Bicubik"/>
                <a:ea typeface="Bicubik"/>
                <a:cs typeface="Bicubik"/>
                <a:sym typeface="Bicubik"/>
              </a:rPr>
              <a:t>FEATURE SELECT</a:t>
            </a:r>
            <a:r>
              <a:rPr lang="en-US" sz="9098" spc="-454">
                <a:solidFill>
                  <a:srgbClr val="F9F4FF"/>
                </a:solidFill>
                <a:latin typeface="Bicubik"/>
                <a:ea typeface="Bicubik"/>
                <a:cs typeface="Bicubik"/>
                <a:sym typeface="Bicubik"/>
              </a:rPr>
              <a:t>ION STRATEGY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98036" y="4017732"/>
            <a:ext cx="14338518" cy="4892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2"/>
              </a:lnSpc>
            </a:pPr>
            <a:r>
              <a:rPr lang="en-US" sz="2759">
                <a:solidFill>
                  <a:srgbClr val="EAE5DD"/>
                </a:solidFill>
                <a:latin typeface="Inter Light"/>
                <a:ea typeface="Inter Light"/>
                <a:cs typeface="Inter Light"/>
                <a:sym typeface="Inter Light"/>
              </a:rPr>
              <a:t>Thre</a:t>
            </a:r>
            <a:r>
              <a:rPr lang="en-US" sz="2759">
                <a:solidFill>
                  <a:srgbClr val="EAE5DD"/>
                </a:solidFill>
                <a:latin typeface="Inter Light"/>
                <a:ea typeface="Inter Light"/>
                <a:cs typeface="Inter Light"/>
                <a:sym typeface="Inter Light"/>
              </a:rPr>
              <a:t>e complementary m</a:t>
            </a:r>
            <a:r>
              <a:rPr lang="en-US" sz="2759">
                <a:solidFill>
                  <a:srgbClr val="EAE5DD"/>
                </a:solidFill>
                <a:latin typeface="Inter Light"/>
                <a:ea typeface="Inter Light"/>
                <a:cs typeface="Inter Light"/>
                <a:sym typeface="Inter Light"/>
              </a:rPr>
              <a:t>ethods used:</a:t>
            </a:r>
          </a:p>
          <a:p>
            <a:pPr algn="l" marL="595691" indent="-297845" lvl="1">
              <a:lnSpc>
                <a:spcPts val="3862"/>
              </a:lnSpc>
              <a:buFont typeface="Arial"/>
              <a:buChar char="•"/>
            </a:pPr>
            <a:r>
              <a:rPr lang="en-US" sz="2759">
                <a:solidFill>
                  <a:srgbClr val="EAE5DD"/>
                </a:solidFill>
                <a:latin typeface="Inter Light"/>
                <a:ea typeface="Inter Light"/>
                <a:cs typeface="Inter Light"/>
                <a:sym typeface="Inter Light"/>
              </a:rPr>
              <a:t>ANOVA F-Test</a:t>
            </a:r>
          </a:p>
          <a:p>
            <a:pPr algn="l" marL="595691" indent="-297845" lvl="1">
              <a:lnSpc>
                <a:spcPts val="3862"/>
              </a:lnSpc>
              <a:buFont typeface="Arial"/>
              <a:buChar char="•"/>
            </a:pPr>
            <a:r>
              <a:rPr lang="en-US" sz="2759">
                <a:solidFill>
                  <a:srgbClr val="EAE5DD"/>
                </a:solidFill>
                <a:latin typeface="Inter Light"/>
                <a:ea typeface="Inter Light"/>
                <a:cs typeface="Inter Light"/>
                <a:sym typeface="Inter Light"/>
              </a:rPr>
              <a:t>Mutual Information</a:t>
            </a:r>
          </a:p>
          <a:p>
            <a:pPr algn="l" marL="595691" indent="-297845" lvl="1">
              <a:lnSpc>
                <a:spcPts val="3862"/>
              </a:lnSpc>
              <a:buFont typeface="Arial"/>
              <a:buChar char="•"/>
            </a:pPr>
            <a:r>
              <a:rPr lang="en-US" sz="2759">
                <a:solidFill>
                  <a:srgbClr val="EAE5DD"/>
                </a:solidFill>
                <a:latin typeface="Inter Light"/>
                <a:ea typeface="Inter Light"/>
                <a:cs typeface="Inter Light"/>
                <a:sym typeface="Inter Light"/>
              </a:rPr>
              <a:t>Boruta</a:t>
            </a:r>
          </a:p>
          <a:p>
            <a:pPr algn="l">
              <a:lnSpc>
                <a:spcPts val="3862"/>
              </a:lnSpc>
            </a:pPr>
            <a:r>
              <a:rPr lang="en-US" sz="2759">
                <a:solidFill>
                  <a:srgbClr val="EAE5DD"/>
                </a:solidFill>
                <a:latin typeface="Inter Light"/>
                <a:ea typeface="Inter Light"/>
                <a:cs typeface="Inter Light"/>
                <a:sym typeface="Inter Light"/>
              </a:rPr>
              <a:t>Final Features:</a:t>
            </a:r>
          </a:p>
          <a:p>
            <a:pPr algn="l">
              <a:lnSpc>
                <a:spcPts val="3862"/>
              </a:lnSpc>
            </a:pPr>
            <a:r>
              <a:rPr lang="en-US" sz="2759">
                <a:solidFill>
                  <a:srgbClr val="EAE5DD"/>
                </a:solidFill>
                <a:latin typeface="Inter Light"/>
                <a:ea typeface="Inter Light"/>
                <a:cs typeface="Inter Light"/>
                <a:sym typeface="Inter Light"/>
              </a:rPr>
              <a:t>67 selected variables</a:t>
            </a:r>
          </a:p>
          <a:p>
            <a:pPr algn="l">
              <a:lnSpc>
                <a:spcPts val="3862"/>
              </a:lnSpc>
            </a:pPr>
            <a:r>
              <a:rPr lang="en-US" sz="2759">
                <a:solidFill>
                  <a:srgbClr val="EAE5DD"/>
                </a:solidFill>
                <a:latin typeface="Inter Light"/>
                <a:ea typeface="Inter Light"/>
                <a:cs typeface="Inter Light"/>
                <a:sym typeface="Inter Light"/>
              </a:rPr>
              <a:t>Benefits:</a:t>
            </a:r>
          </a:p>
          <a:p>
            <a:pPr algn="l" marL="595691" indent="-297845" lvl="1">
              <a:lnSpc>
                <a:spcPts val="3862"/>
              </a:lnSpc>
              <a:buFont typeface="Arial"/>
              <a:buChar char="•"/>
            </a:pPr>
            <a:r>
              <a:rPr lang="en-US" sz="2759">
                <a:solidFill>
                  <a:srgbClr val="EAE5DD"/>
                </a:solidFill>
                <a:latin typeface="Inter Light"/>
                <a:ea typeface="Inter Light"/>
                <a:cs typeface="Inter Light"/>
                <a:sym typeface="Inter Light"/>
              </a:rPr>
              <a:t>Red</a:t>
            </a:r>
            <a:r>
              <a:rPr lang="en-US" sz="2759">
                <a:solidFill>
                  <a:srgbClr val="EAE5DD"/>
                </a:solidFill>
                <a:latin typeface="Inter Light"/>
                <a:ea typeface="Inter Light"/>
                <a:cs typeface="Inter Light"/>
                <a:sym typeface="Inter Light"/>
              </a:rPr>
              <a:t>uce noise</a:t>
            </a:r>
          </a:p>
          <a:p>
            <a:pPr algn="l" marL="595691" indent="-297845" lvl="1">
              <a:lnSpc>
                <a:spcPts val="3862"/>
              </a:lnSpc>
              <a:buFont typeface="Arial"/>
              <a:buChar char="•"/>
            </a:pPr>
            <a:r>
              <a:rPr lang="en-US" sz="2759">
                <a:solidFill>
                  <a:srgbClr val="EAE5DD"/>
                </a:solidFill>
                <a:latin typeface="Inter Light"/>
                <a:ea typeface="Inter Light"/>
                <a:cs typeface="Inter Light"/>
                <a:sym typeface="Inter Light"/>
              </a:rPr>
              <a:t>Im</a:t>
            </a:r>
            <a:r>
              <a:rPr lang="en-US" sz="2759">
                <a:solidFill>
                  <a:srgbClr val="EAE5DD"/>
                </a:solidFill>
                <a:latin typeface="Inter Light"/>
                <a:ea typeface="Inter Light"/>
                <a:cs typeface="Inter Light"/>
                <a:sym typeface="Inter Light"/>
              </a:rPr>
              <a:t>prove efficiency</a:t>
            </a:r>
          </a:p>
          <a:p>
            <a:pPr algn="l" marL="595691" indent="-297845" lvl="1">
              <a:lnSpc>
                <a:spcPts val="3862"/>
              </a:lnSpc>
              <a:buFont typeface="Arial"/>
              <a:buChar char="•"/>
            </a:pPr>
            <a:r>
              <a:rPr lang="en-US" sz="2759">
                <a:solidFill>
                  <a:srgbClr val="EAE5DD"/>
                </a:solidFill>
                <a:latin typeface="Inter Light"/>
                <a:ea typeface="Inter Light"/>
                <a:cs typeface="Inter Light"/>
                <a:sym typeface="Inter Light"/>
              </a:rPr>
              <a:t>Retain useful information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7283F">
                <a:alpha val="100000"/>
              </a:srgbClr>
            </a:gs>
            <a:gs pos="100000">
              <a:srgbClr val="121019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361473" y="3610192"/>
            <a:ext cx="5193465" cy="974885"/>
            <a:chOff x="0" y="0"/>
            <a:chExt cx="3721091" cy="698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721091" cy="698500"/>
            </a:xfrm>
            <a:custGeom>
              <a:avLst/>
              <a:gdLst/>
              <a:ahLst/>
              <a:cxnLst/>
              <a:rect r="r" b="b" t="t" l="l"/>
              <a:pathLst>
                <a:path h="698500" w="3721091">
                  <a:moveTo>
                    <a:pt x="3721091" y="349250"/>
                  </a:moveTo>
                  <a:lnTo>
                    <a:pt x="3517891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3517891" y="0"/>
                  </a:lnTo>
                  <a:lnTo>
                    <a:pt x="3721091" y="349250"/>
                  </a:lnTo>
                  <a:close/>
                </a:path>
              </a:pathLst>
            </a:custGeom>
            <a:solidFill>
              <a:srgbClr val="121019"/>
            </a:solidFill>
            <a:ln w="19050" cap="sq">
              <a:gradFill>
                <a:gsLst>
                  <a:gs pos="0">
                    <a:srgbClr val="C04AFF">
                      <a:alpha val="100000"/>
                    </a:srgbClr>
                  </a:gs>
                  <a:gs pos="100000">
                    <a:srgbClr val="DFBAFF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114300" y="-47625"/>
              <a:ext cx="3492491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730236" y="0"/>
            <a:ext cx="4314825" cy="10287000"/>
            <a:chOff x="0" y="0"/>
            <a:chExt cx="1136415" cy="2709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36415" cy="2709333"/>
            </a:xfrm>
            <a:custGeom>
              <a:avLst/>
              <a:gdLst/>
              <a:ahLst/>
              <a:cxnLst/>
              <a:rect r="r" b="b" t="t" l="l"/>
              <a:pathLst>
                <a:path h="2709333" w="1136415">
                  <a:moveTo>
                    <a:pt x="0" y="0"/>
                  </a:moveTo>
                  <a:lnTo>
                    <a:pt x="1136415" y="0"/>
                  </a:lnTo>
                  <a:lnTo>
                    <a:pt x="113641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D1C2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13641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5400000">
            <a:off x="2994354" y="-1851899"/>
            <a:ext cx="1180469" cy="4884268"/>
            <a:chOff x="0" y="0"/>
            <a:chExt cx="310905" cy="128639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10905" cy="1286391"/>
            </a:xfrm>
            <a:custGeom>
              <a:avLst/>
              <a:gdLst/>
              <a:ahLst/>
              <a:cxnLst/>
              <a:rect r="r" b="b" t="t" l="l"/>
              <a:pathLst>
                <a:path h="1286391" w="310905">
                  <a:moveTo>
                    <a:pt x="0" y="0"/>
                  </a:moveTo>
                  <a:lnTo>
                    <a:pt x="310905" y="0"/>
                  </a:lnTo>
                  <a:lnTo>
                    <a:pt x="310905" y="1286391"/>
                  </a:lnTo>
                  <a:lnTo>
                    <a:pt x="0" y="1286391"/>
                  </a:lnTo>
                  <a:close/>
                </a:path>
              </a:pathLst>
            </a:custGeom>
            <a:gradFill rotWithShape="true">
              <a:gsLst>
                <a:gs pos="0">
                  <a:srgbClr val="C04AFF">
                    <a:alpha val="35000"/>
                  </a:srgbClr>
                </a:gs>
                <a:gs pos="100000">
                  <a:srgbClr val="C04A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310905" cy="13340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true" flipV="true" rot="0">
            <a:off x="628105" y="1028700"/>
            <a:ext cx="5912968" cy="4613099"/>
          </a:xfrm>
          <a:custGeom>
            <a:avLst/>
            <a:gdLst/>
            <a:ahLst/>
            <a:cxnLst/>
            <a:rect r="r" b="b" t="t" l="l"/>
            <a:pathLst>
              <a:path h="4613099" w="5912968">
                <a:moveTo>
                  <a:pt x="5912967" y="4613099"/>
                </a:moveTo>
                <a:lnTo>
                  <a:pt x="0" y="4613099"/>
                </a:lnTo>
                <a:lnTo>
                  <a:pt x="0" y="0"/>
                </a:lnTo>
                <a:lnTo>
                  <a:pt x="5912967" y="0"/>
                </a:lnTo>
                <a:lnTo>
                  <a:pt x="5912967" y="4613099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7673227" y="-514350"/>
            <a:ext cx="2941547" cy="1028700"/>
            <a:chOff x="0" y="0"/>
            <a:chExt cx="1997346" cy="6985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97346" cy="698500"/>
            </a:xfrm>
            <a:custGeom>
              <a:avLst/>
              <a:gdLst/>
              <a:ahLst/>
              <a:cxnLst/>
              <a:rect r="r" b="b" t="t" l="l"/>
              <a:pathLst>
                <a:path h="698500" w="1997346">
                  <a:moveTo>
                    <a:pt x="1997346" y="349250"/>
                  </a:moveTo>
                  <a:lnTo>
                    <a:pt x="1794146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1794146" y="0"/>
                  </a:lnTo>
                  <a:lnTo>
                    <a:pt x="1997346" y="349250"/>
                  </a:lnTo>
                  <a:close/>
                </a:path>
              </a:pathLst>
            </a:custGeom>
            <a:gradFill rotWithShape="true">
              <a:gsLst>
                <a:gs pos="0">
                  <a:srgbClr val="C04AFF">
                    <a:alpha val="100000"/>
                  </a:srgbClr>
                </a:gs>
                <a:gs pos="100000">
                  <a:srgbClr val="DFBAFF">
                    <a:alpha val="100000"/>
                  </a:srgbClr>
                </a:gs>
              </a:gsLst>
              <a:lin ang="2700000"/>
            </a:gradFill>
            <a:ln w="19050" cap="sq">
              <a:gradFill>
                <a:gsLst>
                  <a:gs pos="0">
                    <a:srgbClr val="C04AFF">
                      <a:alpha val="100000"/>
                    </a:srgbClr>
                  </a:gs>
                  <a:gs pos="100000">
                    <a:srgbClr val="DFBAFF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114300" y="-47625"/>
              <a:ext cx="1768746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true" rot="0">
            <a:off x="298464" y="1028700"/>
            <a:ext cx="195487" cy="151769"/>
          </a:xfrm>
          <a:custGeom>
            <a:avLst/>
            <a:gdLst/>
            <a:ahLst/>
            <a:cxnLst/>
            <a:rect r="r" b="b" t="t" l="l"/>
            <a:pathLst>
              <a:path h="151769" w="195487">
                <a:moveTo>
                  <a:pt x="0" y="151769"/>
                </a:moveTo>
                <a:lnTo>
                  <a:pt x="195487" y="151769"/>
                </a:lnTo>
                <a:lnTo>
                  <a:pt x="195487" y="0"/>
                </a:lnTo>
                <a:lnTo>
                  <a:pt x="0" y="0"/>
                </a:lnTo>
                <a:lnTo>
                  <a:pt x="0" y="151769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true" flipV="false" rot="0">
            <a:off x="6345585" y="5490030"/>
            <a:ext cx="195487" cy="151769"/>
          </a:xfrm>
          <a:custGeom>
            <a:avLst/>
            <a:gdLst/>
            <a:ahLst/>
            <a:cxnLst/>
            <a:rect r="r" b="b" t="t" l="l"/>
            <a:pathLst>
              <a:path h="151769" w="195487">
                <a:moveTo>
                  <a:pt x="195487" y="0"/>
                </a:moveTo>
                <a:lnTo>
                  <a:pt x="0" y="0"/>
                </a:lnTo>
                <a:lnTo>
                  <a:pt x="0" y="151769"/>
                </a:lnTo>
                <a:lnTo>
                  <a:pt x="195487" y="151769"/>
                </a:lnTo>
                <a:lnTo>
                  <a:pt x="19548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7361473" y="4889877"/>
            <a:ext cx="4181455" cy="2142878"/>
            <a:chOff x="0" y="0"/>
            <a:chExt cx="1101288" cy="56437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01288" cy="564379"/>
            </a:xfrm>
            <a:custGeom>
              <a:avLst/>
              <a:gdLst/>
              <a:ahLst/>
              <a:cxnLst/>
              <a:rect r="r" b="b" t="t" l="l"/>
              <a:pathLst>
                <a:path h="564379" w="1101288">
                  <a:moveTo>
                    <a:pt x="0" y="0"/>
                  </a:moveTo>
                  <a:lnTo>
                    <a:pt x="1101288" y="0"/>
                  </a:lnTo>
                  <a:lnTo>
                    <a:pt x="1101288" y="564379"/>
                  </a:lnTo>
                  <a:lnTo>
                    <a:pt x="0" y="564379"/>
                  </a:lnTo>
                  <a:close/>
                </a:path>
              </a:pathLst>
            </a:custGeom>
            <a:solidFill>
              <a:srgbClr val="B3D6DC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101288" cy="6120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7474623" y="1181100"/>
            <a:ext cx="8785872" cy="2429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77"/>
              </a:lnSpc>
            </a:pPr>
            <a:r>
              <a:rPr lang="en-US" sz="9277" spc="-463">
                <a:solidFill>
                  <a:srgbClr val="F9F4FF"/>
                </a:solidFill>
                <a:latin typeface="Bicubik"/>
                <a:ea typeface="Bicubik"/>
                <a:cs typeface="Bicubik"/>
                <a:sym typeface="Bicubik"/>
              </a:rPr>
              <a:t>MODEL</a:t>
            </a:r>
            <a:r>
              <a:rPr lang="en-US" sz="9277" spc="-463">
                <a:solidFill>
                  <a:srgbClr val="F9F4FF"/>
                </a:solidFill>
                <a:latin typeface="Bicubik"/>
                <a:ea typeface="Bicubik"/>
                <a:cs typeface="Bicubik"/>
                <a:sym typeface="Bicubik"/>
              </a:rPr>
              <a:t>S EVALUATED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674422" y="3952855"/>
            <a:ext cx="6567566" cy="327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b="true" sz="2400" spc="-60">
                <a:solidFill>
                  <a:srgbClr val="F9F4FF"/>
                </a:solidFill>
                <a:latin typeface="Inter Bold"/>
                <a:ea typeface="Inter Bold"/>
                <a:cs typeface="Inter Bold"/>
                <a:sym typeface="Inter Bold"/>
              </a:rPr>
              <a:t>14 MODELS TESTED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673227" y="4965319"/>
            <a:ext cx="3505091" cy="1944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594E50"/>
                </a:solidFill>
                <a:latin typeface="Handelson Six"/>
                <a:ea typeface="Handelson Six"/>
                <a:cs typeface="Handelson Six"/>
                <a:sym typeface="Handelson Six"/>
              </a:rPr>
              <a:t>Traditional:</a:t>
            </a:r>
          </a:p>
          <a:p>
            <a:pPr algn="l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594E50"/>
                </a:solidFill>
                <a:latin typeface="Handelson Six"/>
                <a:ea typeface="Handelson Six"/>
                <a:cs typeface="Handelson Six"/>
                <a:sym typeface="Handelson Six"/>
              </a:rPr>
              <a:t>Logistic Regression</a:t>
            </a:r>
          </a:p>
          <a:p>
            <a:pPr algn="l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594E50"/>
                </a:solidFill>
                <a:latin typeface="Handelson Six"/>
                <a:ea typeface="Handelson Six"/>
                <a:cs typeface="Handelson Six"/>
                <a:sym typeface="Handelson Six"/>
              </a:rPr>
              <a:t>KNN</a:t>
            </a:r>
          </a:p>
          <a:p>
            <a:pPr algn="l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594E50"/>
                </a:solidFill>
                <a:latin typeface="Handelson Six"/>
                <a:ea typeface="Handelson Six"/>
                <a:cs typeface="Handelson Six"/>
                <a:sym typeface="Handelson Six"/>
              </a:rPr>
              <a:t>Decision Tree</a:t>
            </a:r>
          </a:p>
          <a:p>
            <a:pPr algn="l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594E50"/>
                </a:solidFill>
                <a:latin typeface="Handelson Six"/>
                <a:ea typeface="Handelson Six"/>
                <a:cs typeface="Handelson Six"/>
                <a:sym typeface="Handelson Six"/>
              </a:rPr>
              <a:t>Random Forest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1867560" y="4889877"/>
            <a:ext cx="4181455" cy="2142878"/>
            <a:chOff x="0" y="0"/>
            <a:chExt cx="1101288" cy="56437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01288" cy="564379"/>
            </a:xfrm>
            <a:custGeom>
              <a:avLst/>
              <a:gdLst/>
              <a:ahLst/>
              <a:cxnLst/>
              <a:rect r="r" b="b" t="t" l="l"/>
              <a:pathLst>
                <a:path h="564379" w="1101288">
                  <a:moveTo>
                    <a:pt x="0" y="0"/>
                  </a:moveTo>
                  <a:lnTo>
                    <a:pt x="1101288" y="0"/>
                  </a:lnTo>
                  <a:lnTo>
                    <a:pt x="1101288" y="564379"/>
                  </a:lnTo>
                  <a:lnTo>
                    <a:pt x="0" y="564379"/>
                  </a:lnTo>
                  <a:close/>
                </a:path>
              </a:pathLst>
            </a:custGeom>
            <a:solidFill>
              <a:srgbClr val="B3D6DC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1101288" cy="6120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2205741" y="4965319"/>
            <a:ext cx="3505091" cy="155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594E50"/>
                </a:solidFill>
                <a:latin typeface="Handelson Six"/>
                <a:ea typeface="Handelson Six"/>
                <a:cs typeface="Handelson Six"/>
                <a:sym typeface="Handelson Six"/>
              </a:rPr>
              <a:t>E</a:t>
            </a:r>
            <a:r>
              <a:rPr lang="en-US" sz="2200">
                <a:solidFill>
                  <a:srgbClr val="594E50"/>
                </a:solidFill>
                <a:latin typeface="Handelson Six"/>
                <a:ea typeface="Handelson Six"/>
                <a:cs typeface="Handelson Six"/>
                <a:sym typeface="Handelson Six"/>
              </a:rPr>
              <a:t>nsemble:</a:t>
            </a:r>
          </a:p>
          <a:p>
            <a:pPr algn="l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594E50"/>
                </a:solidFill>
                <a:latin typeface="Handelson Six"/>
                <a:ea typeface="Handelson Six"/>
                <a:cs typeface="Handelson Six"/>
                <a:sym typeface="Handelson Six"/>
              </a:rPr>
              <a:t>XGBo</a:t>
            </a:r>
            <a:r>
              <a:rPr lang="en-US" sz="2200">
                <a:solidFill>
                  <a:srgbClr val="594E50"/>
                </a:solidFill>
                <a:latin typeface="Handelson Six"/>
                <a:ea typeface="Handelson Six"/>
                <a:cs typeface="Handelson Six"/>
                <a:sym typeface="Handelson Six"/>
              </a:rPr>
              <a:t>ost</a:t>
            </a:r>
          </a:p>
          <a:p>
            <a:pPr algn="l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594E50"/>
                </a:solidFill>
                <a:latin typeface="Handelson Six"/>
                <a:ea typeface="Handelson Six"/>
                <a:cs typeface="Handelson Six"/>
                <a:sym typeface="Handelson Six"/>
              </a:rPr>
              <a:t>LightGBM</a:t>
            </a:r>
          </a:p>
          <a:p>
            <a:pPr algn="l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594E50"/>
                </a:solidFill>
                <a:latin typeface="Handelson Six"/>
                <a:ea typeface="Handelson Six"/>
                <a:cs typeface="Handelson Six"/>
                <a:sym typeface="Handelson Six"/>
              </a:rPr>
              <a:t>CatBoost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7361473" y="7337555"/>
            <a:ext cx="4181455" cy="2142878"/>
            <a:chOff x="0" y="0"/>
            <a:chExt cx="1101288" cy="56437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101288" cy="564379"/>
            </a:xfrm>
            <a:custGeom>
              <a:avLst/>
              <a:gdLst/>
              <a:ahLst/>
              <a:cxnLst/>
              <a:rect r="r" b="b" t="t" l="l"/>
              <a:pathLst>
                <a:path h="564379" w="1101288">
                  <a:moveTo>
                    <a:pt x="0" y="0"/>
                  </a:moveTo>
                  <a:lnTo>
                    <a:pt x="1101288" y="0"/>
                  </a:lnTo>
                  <a:lnTo>
                    <a:pt x="1101288" y="564379"/>
                  </a:lnTo>
                  <a:lnTo>
                    <a:pt x="0" y="564379"/>
                  </a:lnTo>
                  <a:close/>
                </a:path>
              </a:pathLst>
            </a:custGeom>
            <a:solidFill>
              <a:srgbClr val="B3D6DC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1101288" cy="6120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7673227" y="7412997"/>
            <a:ext cx="3505091" cy="155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594E50"/>
                </a:solidFill>
                <a:latin typeface="Handelson Six"/>
                <a:ea typeface="Handelson Six"/>
                <a:cs typeface="Handelson Six"/>
                <a:sym typeface="Handelson Six"/>
              </a:rPr>
              <a:t>Deep Le</a:t>
            </a:r>
            <a:r>
              <a:rPr lang="en-US" sz="2200">
                <a:solidFill>
                  <a:srgbClr val="594E50"/>
                </a:solidFill>
                <a:latin typeface="Handelson Six"/>
                <a:ea typeface="Handelson Six"/>
                <a:cs typeface="Handelson Six"/>
                <a:sym typeface="Handelson Six"/>
              </a:rPr>
              <a:t>arning:</a:t>
            </a:r>
          </a:p>
          <a:p>
            <a:pPr algn="l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594E50"/>
                </a:solidFill>
                <a:latin typeface="Handelson Six"/>
                <a:ea typeface="Handelson Six"/>
                <a:cs typeface="Handelson Six"/>
                <a:sym typeface="Handelson Six"/>
              </a:rPr>
              <a:t>FT-Tran</a:t>
            </a:r>
            <a:r>
              <a:rPr lang="en-US" sz="2200">
                <a:solidFill>
                  <a:srgbClr val="594E50"/>
                </a:solidFill>
                <a:latin typeface="Handelson Six"/>
                <a:ea typeface="Handelson Six"/>
                <a:cs typeface="Handelson Six"/>
                <a:sym typeface="Handelson Six"/>
              </a:rPr>
              <a:t>sformer</a:t>
            </a:r>
          </a:p>
          <a:p>
            <a:pPr algn="l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594E50"/>
                </a:solidFill>
                <a:latin typeface="Handelson Six"/>
                <a:ea typeface="Handelson Six"/>
                <a:cs typeface="Handelson Six"/>
                <a:sym typeface="Handelson Six"/>
              </a:rPr>
              <a:t>SAINT</a:t>
            </a:r>
          </a:p>
          <a:p>
            <a:pPr algn="l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594E50"/>
                </a:solidFill>
                <a:latin typeface="Handelson Six"/>
                <a:ea typeface="Handelson Six"/>
                <a:cs typeface="Handelson Six"/>
                <a:sym typeface="Handelson Six"/>
              </a:rPr>
              <a:t>NODE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1841131" y="7337555"/>
            <a:ext cx="4181455" cy="2142878"/>
            <a:chOff x="0" y="0"/>
            <a:chExt cx="1101288" cy="56437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01288" cy="564379"/>
            </a:xfrm>
            <a:custGeom>
              <a:avLst/>
              <a:gdLst/>
              <a:ahLst/>
              <a:cxnLst/>
              <a:rect r="r" b="b" t="t" l="l"/>
              <a:pathLst>
                <a:path h="564379" w="1101288">
                  <a:moveTo>
                    <a:pt x="0" y="0"/>
                  </a:moveTo>
                  <a:lnTo>
                    <a:pt x="1101288" y="0"/>
                  </a:lnTo>
                  <a:lnTo>
                    <a:pt x="1101288" y="564379"/>
                  </a:lnTo>
                  <a:lnTo>
                    <a:pt x="0" y="564379"/>
                  </a:lnTo>
                  <a:close/>
                </a:path>
              </a:pathLst>
            </a:custGeom>
            <a:solidFill>
              <a:srgbClr val="B3D6DC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1101288" cy="6120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2152885" y="7412997"/>
            <a:ext cx="3505091" cy="1163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594E50"/>
                </a:solidFill>
                <a:latin typeface="Handelson Six"/>
                <a:ea typeface="Handelson Six"/>
                <a:cs typeface="Handelson Six"/>
                <a:sym typeface="Handelson Six"/>
              </a:rPr>
              <a:t>A</a:t>
            </a:r>
            <a:r>
              <a:rPr lang="en-US" sz="2200">
                <a:solidFill>
                  <a:srgbClr val="594E50"/>
                </a:solidFill>
                <a:latin typeface="Handelson Six"/>
                <a:ea typeface="Handelson Six"/>
                <a:cs typeface="Handelson Six"/>
                <a:sym typeface="Handelson Six"/>
              </a:rPr>
              <a:t>dvan</a:t>
            </a:r>
            <a:r>
              <a:rPr lang="en-US" sz="2200">
                <a:solidFill>
                  <a:srgbClr val="594E50"/>
                </a:solidFill>
                <a:latin typeface="Handelson Six"/>
                <a:ea typeface="Handelson Six"/>
                <a:cs typeface="Handelson Six"/>
                <a:sym typeface="Handelson Six"/>
              </a:rPr>
              <a:t>ced:</a:t>
            </a:r>
          </a:p>
          <a:p>
            <a:pPr algn="l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594E50"/>
                </a:solidFill>
                <a:latin typeface="Handelson Six"/>
                <a:ea typeface="Handelson Six"/>
                <a:cs typeface="Handelson Six"/>
                <a:sym typeface="Handelson Six"/>
              </a:rPr>
              <a:t>TabPFN</a:t>
            </a:r>
          </a:p>
          <a:p>
            <a:pPr algn="l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594E50"/>
                </a:solidFill>
                <a:latin typeface="Handelson Six"/>
                <a:ea typeface="Handelson Six"/>
                <a:cs typeface="Handelson Six"/>
                <a:sym typeface="Handelson Six"/>
              </a:rPr>
              <a:t>SVM Bagging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7283F">
                <a:alpha val="100000"/>
              </a:srgbClr>
            </a:gs>
            <a:gs pos="100000">
              <a:srgbClr val="121019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37261"/>
            <a:ext cx="9658350" cy="3162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00"/>
              </a:lnSpc>
            </a:pPr>
            <a:r>
              <a:rPr lang="en-US" sz="12000" spc="-600">
                <a:solidFill>
                  <a:srgbClr val="F9F4FF"/>
                </a:solidFill>
                <a:latin typeface="Bicubik"/>
                <a:ea typeface="Bicubik"/>
                <a:cs typeface="Bicubik"/>
                <a:sym typeface="Bicubik"/>
              </a:rPr>
              <a:t>TRAINING</a:t>
            </a:r>
            <a:r>
              <a:rPr lang="en-US" sz="12000" spc="-600">
                <a:solidFill>
                  <a:srgbClr val="F9F4FF"/>
                </a:solidFill>
                <a:latin typeface="Bicubik"/>
                <a:ea typeface="Bicubik"/>
                <a:cs typeface="Bicubik"/>
                <a:sym typeface="Bicubik"/>
              </a:rPr>
              <a:t> STRATEGY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28700" y="7903734"/>
            <a:ext cx="6894013" cy="1197404"/>
            <a:chOff x="0" y="0"/>
            <a:chExt cx="4021592" cy="6985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021592" cy="698500"/>
            </a:xfrm>
            <a:custGeom>
              <a:avLst/>
              <a:gdLst/>
              <a:ahLst/>
              <a:cxnLst/>
              <a:rect r="r" b="b" t="t" l="l"/>
              <a:pathLst>
                <a:path h="698500" w="4021592">
                  <a:moveTo>
                    <a:pt x="4021592" y="349250"/>
                  </a:moveTo>
                  <a:lnTo>
                    <a:pt x="3818392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3818392" y="0"/>
                  </a:lnTo>
                  <a:lnTo>
                    <a:pt x="4021592" y="349250"/>
                  </a:lnTo>
                  <a:close/>
                </a:path>
              </a:pathLst>
            </a:custGeom>
            <a:solidFill>
              <a:srgbClr val="121019"/>
            </a:solidFill>
            <a:ln w="19050" cap="sq">
              <a:gradFill>
                <a:gsLst>
                  <a:gs pos="0">
                    <a:srgbClr val="C04AFF">
                      <a:alpha val="100000"/>
                    </a:srgbClr>
                  </a:gs>
                  <a:gs pos="100000">
                    <a:srgbClr val="DFBAFF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114300" y="-47625"/>
              <a:ext cx="3792992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715750" y="3622516"/>
            <a:ext cx="5543550" cy="6923218"/>
            <a:chOff x="0" y="0"/>
            <a:chExt cx="5158962" cy="644291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58962" cy="6442914"/>
            </a:xfrm>
            <a:custGeom>
              <a:avLst/>
              <a:gdLst/>
              <a:ahLst/>
              <a:cxnLst/>
              <a:rect r="r" b="b" t="t" l="l"/>
              <a:pathLst>
                <a:path h="6442914" w="5158962">
                  <a:moveTo>
                    <a:pt x="4920837" y="0"/>
                  </a:moveTo>
                  <a:lnTo>
                    <a:pt x="5158962" y="238125"/>
                  </a:lnTo>
                  <a:lnTo>
                    <a:pt x="5158962" y="6204789"/>
                  </a:lnTo>
                  <a:lnTo>
                    <a:pt x="4920837" y="6442914"/>
                  </a:lnTo>
                  <a:lnTo>
                    <a:pt x="238125" y="6442914"/>
                  </a:lnTo>
                  <a:lnTo>
                    <a:pt x="0" y="6204789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4920837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27283F">
                    <a:alpha val="100000"/>
                  </a:srgbClr>
                </a:gs>
                <a:gs pos="100000">
                  <a:srgbClr val="121019">
                    <a:alpha val="100000"/>
                  </a:srgbClr>
                </a:gs>
              </a:gsLst>
              <a:lin ang="5400000"/>
            </a:gradFill>
            <a:ln w="9525" cap="sq">
              <a:gradFill>
                <a:gsLst>
                  <a:gs pos="0">
                    <a:srgbClr val="F9F4FF">
                      <a:alpha val="100000"/>
                    </a:srgbClr>
                  </a:gs>
                  <a:gs pos="100000">
                    <a:srgbClr val="F9F4FF">
                      <a:alpha val="245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63500" y="15875"/>
              <a:ext cx="5031962" cy="63635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5400000">
            <a:off x="10861842" y="4918242"/>
            <a:ext cx="4422441" cy="6315075"/>
            <a:chOff x="0" y="0"/>
            <a:chExt cx="1164758" cy="166323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64758" cy="1663230"/>
            </a:xfrm>
            <a:custGeom>
              <a:avLst/>
              <a:gdLst/>
              <a:ahLst/>
              <a:cxnLst/>
              <a:rect r="r" b="b" t="t" l="l"/>
              <a:pathLst>
                <a:path h="1663230" w="1164758">
                  <a:moveTo>
                    <a:pt x="0" y="0"/>
                  </a:moveTo>
                  <a:lnTo>
                    <a:pt x="1164758" y="0"/>
                  </a:lnTo>
                  <a:lnTo>
                    <a:pt x="1164758" y="1663230"/>
                  </a:lnTo>
                  <a:lnTo>
                    <a:pt x="0" y="1663230"/>
                  </a:lnTo>
                  <a:close/>
                </a:path>
              </a:pathLst>
            </a:custGeom>
            <a:gradFill rotWithShape="true">
              <a:gsLst>
                <a:gs pos="0">
                  <a:srgbClr val="C04AFF">
                    <a:alpha val="35000"/>
                  </a:srgbClr>
                </a:gs>
                <a:gs pos="100000">
                  <a:srgbClr val="C04A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164758" cy="17108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687050" y="2343785"/>
            <a:ext cx="5543550" cy="6893652"/>
            <a:chOff x="0" y="0"/>
            <a:chExt cx="858841" cy="106800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58841" cy="1068007"/>
            </a:xfrm>
            <a:custGeom>
              <a:avLst/>
              <a:gdLst/>
              <a:ahLst/>
              <a:cxnLst/>
              <a:rect r="r" b="b" t="t" l="l"/>
              <a:pathLst>
                <a:path h="1068007" w="858841">
                  <a:moveTo>
                    <a:pt x="0" y="0"/>
                  </a:moveTo>
                  <a:lnTo>
                    <a:pt x="858841" y="0"/>
                  </a:lnTo>
                  <a:lnTo>
                    <a:pt x="858841" y="1068007"/>
                  </a:lnTo>
                  <a:lnTo>
                    <a:pt x="0" y="1068007"/>
                  </a:lnTo>
                  <a:close/>
                </a:path>
              </a:pathLst>
            </a:custGeom>
            <a:blipFill>
              <a:blip r:embed="rId2"/>
              <a:stretch>
                <a:fillRect l="-43149" t="0" r="-43149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true" flipV="false" rot="0">
            <a:off x="8948513" y="9106531"/>
            <a:ext cx="195487" cy="151769"/>
          </a:xfrm>
          <a:custGeom>
            <a:avLst/>
            <a:gdLst/>
            <a:ahLst/>
            <a:cxnLst/>
            <a:rect r="r" b="b" t="t" l="l"/>
            <a:pathLst>
              <a:path h="151769" w="195487">
                <a:moveTo>
                  <a:pt x="195487" y="0"/>
                </a:moveTo>
                <a:lnTo>
                  <a:pt x="0" y="0"/>
                </a:lnTo>
                <a:lnTo>
                  <a:pt x="0" y="151769"/>
                </a:lnTo>
                <a:lnTo>
                  <a:pt x="195487" y="151769"/>
                </a:lnTo>
                <a:lnTo>
                  <a:pt x="19548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true" flipV="true" rot="0">
            <a:off x="8948513" y="1028700"/>
            <a:ext cx="195487" cy="151769"/>
          </a:xfrm>
          <a:custGeom>
            <a:avLst/>
            <a:gdLst/>
            <a:ahLst/>
            <a:cxnLst/>
            <a:rect r="r" b="b" t="t" l="l"/>
            <a:pathLst>
              <a:path h="151769" w="195487">
                <a:moveTo>
                  <a:pt x="195487" y="151769"/>
                </a:moveTo>
                <a:lnTo>
                  <a:pt x="0" y="151769"/>
                </a:lnTo>
                <a:lnTo>
                  <a:pt x="0" y="0"/>
                </a:lnTo>
                <a:lnTo>
                  <a:pt x="195487" y="0"/>
                </a:lnTo>
                <a:lnTo>
                  <a:pt x="195487" y="151769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7673227" y="-514350"/>
            <a:ext cx="2941547" cy="1028700"/>
            <a:chOff x="0" y="0"/>
            <a:chExt cx="1997346" cy="698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97346" cy="698500"/>
            </a:xfrm>
            <a:custGeom>
              <a:avLst/>
              <a:gdLst/>
              <a:ahLst/>
              <a:cxnLst/>
              <a:rect r="r" b="b" t="t" l="l"/>
              <a:pathLst>
                <a:path h="698500" w="1997346">
                  <a:moveTo>
                    <a:pt x="1997346" y="349250"/>
                  </a:moveTo>
                  <a:lnTo>
                    <a:pt x="1794146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1794146" y="0"/>
                  </a:lnTo>
                  <a:lnTo>
                    <a:pt x="1997346" y="349250"/>
                  </a:lnTo>
                  <a:close/>
                </a:path>
              </a:pathLst>
            </a:custGeom>
            <a:gradFill rotWithShape="true">
              <a:gsLst>
                <a:gs pos="0">
                  <a:srgbClr val="C04AFF">
                    <a:alpha val="100000"/>
                  </a:srgbClr>
                </a:gs>
                <a:gs pos="100000">
                  <a:srgbClr val="DFBAFF">
                    <a:alpha val="100000"/>
                  </a:srgbClr>
                </a:gs>
              </a:gsLst>
              <a:lin ang="2700000"/>
            </a:gradFill>
            <a:ln w="19050" cap="sq">
              <a:gradFill>
                <a:gsLst>
                  <a:gs pos="0">
                    <a:srgbClr val="C04AFF">
                      <a:alpha val="100000"/>
                    </a:srgbClr>
                  </a:gs>
                  <a:gs pos="100000">
                    <a:srgbClr val="DFBAFF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114300" y="-47625"/>
              <a:ext cx="1768746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495084" y="8224306"/>
            <a:ext cx="6178143" cy="603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b="true" sz="2399" spc="-59">
                <a:solidFill>
                  <a:srgbClr val="B3D6DC"/>
                </a:solidFill>
                <a:latin typeface="Inter Bold"/>
                <a:ea typeface="Inter Bold"/>
                <a:cs typeface="Inter Bold"/>
                <a:sym typeface="Inter Bold"/>
              </a:rPr>
              <a:t>GOAL:</a:t>
            </a:r>
          </a:p>
          <a:p>
            <a:pPr algn="l">
              <a:lnSpc>
                <a:spcPts val="2399"/>
              </a:lnSpc>
            </a:pPr>
            <a:r>
              <a:rPr lang="en-US" b="true" sz="2399" spc="-59">
                <a:solidFill>
                  <a:srgbClr val="B3D6DC"/>
                </a:solidFill>
                <a:latin typeface="Inter Bold"/>
                <a:ea typeface="Inter Bold"/>
                <a:cs typeface="Inter Bold"/>
                <a:sym typeface="Inter Bold"/>
              </a:rPr>
              <a:t>Ob</a:t>
            </a:r>
            <a:r>
              <a:rPr lang="en-US" b="true" sz="2399" spc="-59">
                <a:solidFill>
                  <a:srgbClr val="B3D6DC"/>
                </a:solidFill>
                <a:latin typeface="Inter Bold"/>
                <a:ea typeface="Inter Bold"/>
                <a:cs typeface="Inter Bold"/>
                <a:sym typeface="Inter Bold"/>
              </a:rPr>
              <a:t>TAIN FAIR AND ROBUST EVALUATION.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8700" y="4283121"/>
            <a:ext cx="6015387" cy="2957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EAE5DD"/>
                </a:solidFill>
                <a:latin typeface="Canva Sans"/>
                <a:ea typeface="Canva Sans"/>
                <a:cs typeface="Canva Sans"/>
                <a:sym typeface="Canva Sans"/>
              </a:rPr>
              <a:t>Training Process:</a:t>
            </a:r>
          </a:p>
          <a:p>
            <a:pPr algn="l" marL="604515" indent="-302257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EAE5DD"/>
                </a:solidFill>
                <a:latin typeface="Canva Sans"/>
                <a:ea typeface="Canva Sans"/>
                <a:cs typeface="Canva Sans"/>
                <a:sym typeface="Canva Sans"/>
              </a:rPr>
              <a:t>80/20 Train-Test Split</a:t>
            </a:r>
          </a:p>
          <a:p>
            <a:pPr algn="l" marL="604515" indent="-302257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EAE5DD"/>
                </a:solidFill>
                <a:latin typeface="Canva Sans"/>
                <a:ea typeface="Canva Sans"/>
                <a:cs typeface="Canva Sans"/>
                <a:sym typeface="Canva Sans"/>
              </a:rPr>
              <a:t>Stratified Sampling</a:t>
            </a:r>
          </a:p>
          <a:p>
            <a:pPr algn="l" marL="604515" indent="-302257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EAE5DD"/>
                </a:solidFill>
                <a:latin typeface="Canva Sans"/>
                <a:ea typeface="Canva Sans"/>
                <a:cs typeface="Canva Sans"/>
                <a:sym typeface="Canva Sans"/>
              </a:rPr>
              <a:t>SMOTE Balancing</a:t>
            </a:r>
          </a:p>
          <a:p>
            <a:pPr algn="l" marL="604515" indent="-302257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EAE5DD"/>
                </a:solidFill>
                <a:latin typeface="Canva Sans"/>
                <a:ea typeface="Canva Sans"/>
                <a:cs typeface="Canva Sans"/>
                <a:sym typeface="Canva Sans"/>
              </a:rPr>
              <a:t>RandomizedSearchCV</a:t>
            </a:r>
          </a:p>
          <a:p>
            <a:pPr algn="l" marL="604515" indent="-302257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EAE5DD"/>
                </a:solidFill>
                <a:latin typeface="Canva Sans"/>
                <a:ea typeface="Canva Sans"/>
                <a:cs typeface="Canva Sans"/>
                <a:sym typeface="Canva Sans"/>
              </a:rPr>
              <a:t>10-fold Cross Validation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7283F">
                <a:alpha val="100000"/>
              </a:srgbClr>
            </a:gs>
            <a:gs pos="100000">
              <a:srgbClr val="121019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673227" y="-514350"/>
            <a:ext cx="2941547" cy="1028700"/>
            <a:chOff x="0" y="0"/>
            <a:chExt cx="1997346" cy="698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97346" cy="698500"/>
            </a:xfrm>
            <a:custGeom>
              <a:avLst/>
              <a:gdLst/>
              <a:ahLst/>
              <a:cxnLst/>
              <a:rect r="r" b="b" t="t" l="l"/>
              <a:pathLst>
                <a:path h="698500" w="1997346">
                  <a:moveTo>
                    <a:pt x="1997346" y="349250"/>
                  </a:moveTo>
                  <a:lnTo>
                    <a:pt x="1794146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1794146" y="0"/>
                  </a:lnTo>
                  <a:lnTo>
                    <a:pt x="1997346" y="349250"/>
                  </a:lnTo>
                  <a:close/>
                </a:path>
              </a:pathLst>
            </a:custGeom>
            <a:gradFill rotWithShape="true">
              <a:gsLst>
                <a:gs pos="0">
                  <a:srgbClr val="C04AFF">
                    <a:alpha val="100000"/>
                  </a:srgbClr>
                </a:gs>
                <a:gs pos="100000">
                  <a:srgbClr val="DFBAFF">
                    <a:alpha val="100000"/>
                  </a:srgbClr>
                </a:gs>
              </a:gsLst>
              <a:lin ang="2700000"/>
            </a:gradFill>
            <a:ln w="19050" cap="sq">
              <a:gradFill>
                <a:gsLst>
                  <a:gs pos="0">
                    <a:srgbClr val="C04AFF">
                      <a:alpha val="100000"/>
                    </a:srgbClr>
                  </a:gs>
                  <a:gs pos="100000">
                    <a:srgbClr val="DFBAFF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114300" y="-47625"/>
              <a:ext cx="1768746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7148235"/>
            <a:ext cx="18288000" cy="3138765"/>
            <a:chOff x="0" y="0"/>
            <a:chExt cx="4816593" cy="8266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826671"/>
            </a:xfrm>
            <a:custGeom>
              <a:avLst/>
              <a:gdLst/>
              <a:ahLst/>
              <a:cxnLst/>
              <a:rect r="r" b="b" t="t" l="l"/>
              <a:pathLst>
                <a:path h="82667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826671"/>
                  </a:lnTo>
                  <a:lnTo>
                    <a:pt x="0" y="826671"/>
                  </a:lnTo>
                  <a:close/>
                </a:path>
              </a:pathLst>
            </a:custGeom>
            <a:solidFill>
              <a:srgbClr val="1D1C2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816593" cy="8742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4556628"/>
            <a:ext cx="16230600" cy="4160989"/>
            <a:chOff x="0" y="0"/>
            <a:chExt cx="15104589" cy="387231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104590" cy="3872318"/>
            </a:xfrm>
            <a:custGeom>
              <a:avLst/>
              <a:gdLst/>
              <a:ahLst/>
              <a:cxnLst/>
              <a:rect r="r" b="b" t="t" l="l"/>
              <a:pathLst>
                <a:path h="3872318" w="15104590">
                  <a:moveTo>
                    <a:pt x="14866465" y="0"/>
                  </a:moveTo>
                  <a:lnTo>
                    <a:pt x="15104590" y="238125"/>
                  </a:lnTo>
                  <a:lnTo>
                    <a:pt x="15104590" y="3634193"/>
                  </a:lnTo>
                  <a:lnTo>
                    <a:pt x="14866465" y="3872318"/>
                  </a:lnTo>
                  <a:lnTo>
                    <a:pt x="238125" y="3872318"/>
                  </a:lnTo>
                  <a:lnTo>
                    <a:pt x="0" y="3634193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14866465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27283F">
                    <a:alpha val="100000"/>
                  </a:srgbClr>
                </a:gs>
                <a:gs pos="100000">
                  <a:srgbClr val="121019">
                    <a:alpha val="100000"/>
                  </a:srgbClr>
                </a:gs>
              </a:gsLst>
              <a:lin ang="5400000"/>
            </a:gradFill>
            <a:ln w="9525" cap="sq">
              <a:gradFill>
                <a:gsLst>
                  <a:gs pos="0">
                    <a:srgbClr val="F9F4FF">
                      <a:alpha val="100000"/>
                    </a:srgbClr>
                  </a:gs>
                  <a:gs pos="100000">
                    <a:srgbClr val="F9F4FF">
                      <a:alpha val="245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63500" y="15875"/>
              <a:ext cx="14977589" cy="37929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81526" y="5125968"/>
            <a:ext cx="8933247" cy="3185558"/>
            <a:chOff x="0" y="0"/>
            <a:chExt cx="1471899" cy="52487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71899" cy="524873"/>
            </a:xfrm>
            <a:custGeom>
              <a:avLst/>
              <a:gdLst/>
              <a:ahLst/>
              <a:cxnLst/>
              <a:rect r="r" b="b" t="t" l="l"/>
              <a:pathLst>
                <a:path h="524873" w="1471899">
                  <a:moveTo>
                    <a:pt x="0" y="0"/>
                  </a:moveTo>
                  <a:lnTo>
                    <a:pt x="1471899" y="0"/>
                  </a:lnTo>
                  <a:lnTo>
                    <a:pt x="1471899" y="524873"/>
                  </a:lnTo>
                  <a:lnTo>
                    <a:pt x="0" y="524873"/>
                  </a:lnTo>
                  <a:close/>
                </a:path>
              </a:pathLst>
            </a:custGeom>
            <a:gradFill rotWithShape="true">
              <a:gsLst>
                <a:gs pos="0">
                  <a:srgbClr val="C04AFF">
                    <a:alpha val="35000"/>
                  </a:srgbClr>
                </a:gs>
                <a:gs pos="100000">
                  <a:srgbClr val="C04A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471899" cy="5724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605144" y="5125968"/>
            <a:ext cx="152764" cy="3185558"/>
            <a:chOff x="0" y="0"/>
            <a:chExt cx="25170" cy="52487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170" cy="524873"/>
            </a:xfrm>
            <a:custGeom>
              <a:avLst/>
              <a:gdLst/>
              <a:ahLst/>
              <a:cxnLst/>
              <a:rect r="r" b="b" t="t" l="l"/>
              <a:pathLst>
                <a:path h="524873" w="25170">
                  <a:moveTo>
                    <a:pt x="0" y="0"/>
                  </a:moveTo>
                  <a:lnTo>
                    <a:pt x="25170" y="0"/>
                  </a:lnTo>
                  <a:lnTo>
                    <a:pt x="25170" y="524873"/>
                  </a:lnTo>
                  <a:lnTo>
                    <a:pt x="0" y="524873"/>
                  </a:lnTo>
                  <a:close/>
                </a:path>
              </a:pathLst>
            </a:custGeom>
            <a:gradFill rotWithShape="true">
              <a:gsLst>
                <a:gs pos="0">
                  <a:srgbClr val="C04AFF">
                    <a:alpha val="100000"/>
                  </a:srgbClr>
                </a:gs>
                <a:gs pos="100000">
                  <a:srgbClr val="DFBA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25170" cy="5724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true" rot="0">
            <a:off x="1028700" y="1028700"/>
            <a:ext cx="195487" cy="151769"/>
          </a:xfrm>
          <a:custGeom>
            <a:avLst/>
            <a:gdLst/>
            <a:ahLst/>
            <a:cxnLst/>
            <a:rect r="r" b="b" t="t" l="l"/>
            <a:pathLst>
              <a:path h="151769" w="195487">
                <a:moveTo>
                  <a:pt x="0" y="151769"/>
                </a:moveTo>
                <a:lnTo>
                  <a:pt x="195487" y="151769"/>
                </a:lnTo>
                <a:lnTo>
                  <a:pt x="195487" y="0"/>
                </a:lnTo>
                <a:lnTo>
                  <a:pt x="0" y="0"/>
                </a:lnTo>
                <a:lnTo>
                  <a:pt x="0" y="15176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true" flipV="true" rot="0">
            <a:off x="17063813" y="1028700"/>
            <a:ext cx="195487" cy="151769"/>
          </a:xfrm>
          <a:custGeom>
            <a:avLst/>
            <a:gdLst/>
            <a:ahLst/>
            <a:cxnLst/>
            <a:rect r="r" b="b" t="t" l="l"/>
            <a:pathLst>
              <a:path h="151769" w="195487">
                <a:moveTo>
                  <a:pt x="195487" y="151769"/>
                </a:moveTo>
                <a:lnTo>
                  <a:pt x="0" y="151769"/>
                </a:lnTo>
                <a:lnTo>
                  <a:pt x="0" y="0"/>
                </a:lnTo>
                <a:lnTo>
                  <a:pt x="195487" y="0"/>
                </a:lnTo>
                <a:lnTo>
                  <a:pt x="195487" y="15176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19" id="19"/>
          <p:cNvGraphicFramePr/>
          <p:nvPr/>
        </p:nvGraphicFramePr>
        <p:xfrm>
          <a:off x="9491782" y="3728018"/>
          <a:ext cx="10165976" cy="8229600"/>
        </p:xfrm>
        <a:graphic>
          <a:graphicData uri="http://schemas.openxmlformats.org/presentationml/2006/ole">
            <p:oleObj imgW="12192000" imgH="102489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20" id="20"/>
          <p:cNvSpPr txBox="true"/>
          <p:nvPr/>
        </p:nvSpPr>
        <p:spPr>
          <a:xfrm rot="0">
            <a:off x="1605144" y="1209675"/>
            <a:ext cx="14739701" cy="2712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00"/>
              </a:lnSpc>
            </a:pPr>
            <a:r>
              <a:rPr lang="en-US" sz="10400" spc="-520">
                <a:solidFill>
                  <a:srgbClr val="F9F4FF"/>
                </a:solidFill>
                <a:latin typeface="Bicubik"/>
                <a:ea typeface="Bicubik"/>
                <a:cs typeface="Bicubik"/>
                <a:sym typeface="Bicubik"/>
              </a:rPr>
              <a:t>PERF</a:t>
            </a:r>
            <a:r>
              <a:rPr lang="en-US" sz="10400" spc="-520">
                <a:solidFill>
                  <a:srgbClr val="F9F4FF"/>
                </a:solidFill>
                <a:latin typeface="Bicubik"/>
                <a:ea typeface="Bicubik"/>
                <a:cs typeface="Bicubik"/>
                <a:sym typeface="Bicubik"/>
              </a:rPr>
              <a:t>ORMANCE COMPARISON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227749" y="5211228"/>
            <a:ext cx="7840801" cy="2957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6"/>
              </a:lnSpc>
            </a:pPr>
            <a:r>
              <a:rPr lang="en-US" sz="2797">
                <a:solidFill>
                  <a:srgbClr val="F9F4FF"/>
                </a:solidFill>
                <a:latin typeface="Canva Sans"/>
                <a:ea typeface="Canva Sans"/>
                <a:cs typeface="Canva Sans"/>
                <a:sym typeface="Canva Sans"/>
              </a:rPr>
              <a:t>Comparison based on:</a:t>
            </a:r>
          </a:p>
          <a:p>
            <a:pPr algn="l" marL="604026" indent="-302013" lvl="1">
              <a:lnSpc>
                <a:spcPts val="3916"/>
              </a:lnSpc>
              <a:buFont typeface="Arial"/>
              <a:buChar char="•"/>
            </a:pPr>
            <a:r>
              <a:rPr lang="en-US" sz="2797">
                <a:solidFill>
                  <a:srgbClr val="F9F4FF"/>
                </a:solidFill>
                <a:latin typeface="Canva Sans"/>
                <a:ea typeface="Canva Sans"/>
                <a:cs typeface="Canva Sans"/>
                <a:sym typeface="Canva Sans"/>
              </a:rPr>
              <a:t>Accuracy</a:t>
            </a:r>
          </a:p>
          <a:p>
            <a:pPr algn="l" marL="604026" indent="-302013" lvl="1">
              <a:lnSpc>
                <a:spcPts val="3916"/>
              </a:lnSpc>
              <a:buFont typeface="Arial"/>
              <a:buChar char="•"/>
            </a:pPr>
            <a:r>
              <a:rPr lang="en-US" sz="2797">
                <a:solidFill>
                  <a:srgbClr val="F9F4FF"/>
                </a:solidFill>
                <a:latin typeface="Canva Sans"/>
                <a:ea typeface="Canva Sans"/>
                <a:cs typeface="Canva Sans"/>
                <a:sym typeface="Canva Sans"/>
              </a:rPr>
              <a:t>Precision</a:t>
            </a:r>
          </a:p>
          <a:p>
            <a:pPr algn="l" marL="604026" indent="-302013" lvl="1">
              <a:lnSpc>
                <a:spcPts val="3916"/>
              </a:lnSpc>
              <a:buFont typeface="Arial"/>
              <a:buChar char="•"/>
            </a:pPr>
            <a:r>
              <a:rPr lang="en-US" sz="2797">
                <a:solidFill>
                  <a:srgbClr val="F9F4FF"/>
                </a:solidFill>
                <a:latin typeface="Canva Sans"/>
                <a:ea typeface="Canva Sans"/>
                <a:cs typeface="Canva Sans"/>
                <a:sym typeface="Canva Sans"/>
              </a:rPr>
              <a:t>Recall</a:t>
            </a:r>
          </a:p>
          <a:p>
            <a:pPr algn="l" marL="604026" indent="-302013" lvl="1">
              <a:lnSpc>
                <a:spcPts val="3916"/>
              </a:lnSpc>
              <a:buFont typeface="Arial"/>
              <a:buChar char="•"/>
            </a:pPr>
            <a:r>
              <a:rPr lang="en-US" sz="2797">
                <a:solidFill>
                  <a:srgbClr val="F9F4FF"/>
                </a:solidFill>
                <a:latin typeface="Canva Sans"/>
                <a:ea typeface="Canva Sans"/>
                <a:cs typeface="Canva Sans"/>
                <a:sym typeface="Canva Sans"/>
              </a:rPr>
              <a:t>F1 Score</a:t>
            </a:r>
          </a:p>
          <a:p>
            <a:pPr algn="l" marL="604026" indent="-302013" lvl="1">
              <a:lnSpc>
                <a:spcPts val="3916"/>
              </a:lnSpc>
              <a:buFont typeface="Arial"/>
              <a:buChar char="•"/>
            </a:pPr>
            <a:r>
              <a:rPr lang="en-US" sz="2797">
                <a:solidFill>
                  <a:srgbClr val="F9F4FF"/>
                </a:solidFill>
                <a:latin typeface="Canva Sans"/>
                <a:ea typeface="Canva Sans"/>
                <a:cs typeface="Canva Sans"/>
                <a:sym typeface="Canva Sans"/>
              </a:rPr>
              <a:t>ROC-AUC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7283F">
                <a:alpha val="100000"/>
              </a:srgbClr>
            </a:gs>
            <a:gs pos="100000">
              <a:srgbClr val="121019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673227" y="-514350"/>
            <a:ext cx="2941547" cy="1028700"/>
            <a:chOff x="0" y="0"/>
            <a:chExt cx="1997346" cy="698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97346" cy="698500"/>
            </a:xfrm>
            <a:custGeom>
              <a:avLst/>
              <a:gdLst/>
              <a:ahLst/>
              <a:cxnLst/>
              <a:rect r="r" b="b" t="t" l="l"/>
              <a:pathLst>
                <a:path h="698500" w="1997346">
                  <a:moveTo>
                    <a:pt x="1997346" y="349250"/>
                  </a:moveTo>
                  <a:lnTo>
                    <a:pt x="1794146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1794146" y="0"/>
                  </a:lnTo>
                  <a:lnTo>
                    <a:pt x="1997346" y="349250"/>
                  </a:lnTo>
                  <a:close/>
                </a:path>
              </a:pathLst>
            </a:custGeom>
            <a:gradFill rotWithShape="true">
              <a:gsLst>
                <a:gs pos="0">
                  <a:srgbClr val="C04AFF">
                    <a:alpha val="100000"/>
                  </a:srgbClr>
                </a:gs>
                <a:gs pos="100000">
                  <a:srgbClr val="DFBAFF">
                    <a:alpha val="100000"/>
                  </a:srgbClr>
                </a:gs>
              </a:gsLst>
              <a:lin ang="2700000"/>
            </a:gradFill>
            <a:ln w="19050" cap="sq">
              <a:gradFill>
                <a:gsLst>
                  <a:gs pos="0">
                    <a:srgbClr val="C04AFF">
                      <a:alpha val="100000"/>
                    </a:srgbClr>
                  </a:gs>
                  <a:gs pos="100000">
                    <a:srgbClr val="DFBAFF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114300" y="-47625"/>
              <a:ext cx="1768746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7148235"/>
            <a:ext cx="18288000" cy="3138765"/>
            <a:chOff x="0" y="0"/>
            <a:chExt cx="4816593" cy="8266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826671"/>
            </a:xfrm>
            <a:custGeom>
              <a:avLst/>
              <a:gdLst/>
              <a:ahLst/>
              <a:cxnLst/>
              <a:rect r="r" b="b" t="t" l="l"/>
              <a:pathLst>
                <a:path h="82667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826671"/>
                  </a:lnTo>
                  <a:lnTo>
                    <a:pt x="0" y="826671"/>
                  </a:lnTo>
                  <a:close/>
                </a:path>
              </a:pathLst>
            </a:custGeom>
            <a:solidFill>
              <a:srgbClr val="1D1C2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816593" cy="8742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4073530"/>
            <a:ext cx="16230600" cy="5503998"/>
            <a:chOff x="0" y="0"/>
            <a:chExt cx="15104589" cy="512215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104590" cy="5122154"/>
            </a:xfrm>
            <a:custGeom>
              <a:avLst/>
              <a:gdLst/>
              <a:ahLst/>
              <a:cxnLst/>
              <a:rect r="r" b="b" t="t" l="l"/>
              <a:pathLst>
                <a:path h="5122154" w="15104590">
                  <a:moveTo>
                    <a:pt x="14866465" y="0"/>
                  </a:moveTo>
                  <a:lnTo>
                    <a:pt x="15104590" y="238125"/>
                  </a:lnTo>
                  <a:lnTo>
                    <a:pt x="15104590" y="4884029"/>
                  </a:lnTo>
                  <a:lnTo>
                    <a:pt x="14866465" y="5122154"/>
                  </a:lnTo>
                  <a:lnTo>
                    <a:pt x="238125" y="5122154"/>
                  </a:lnTo>
                  <a:lnTo>
                    <a:pt x="0" y="4884029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14866465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27283F">
                    <a:alpha val="100000"/>
                  </a:srgbClr>
                </a:gs>
                <a:gs pos="100000">
                  <a:srgbClr val="121019">
                    <a:alpha val="100000"/>
                  </a:srgbClr>
                </a:gs>
              </a:gsLst>
              <a:lin ang="5400000"/>
            </a:gradFill>
            <a:ln w="9525" cap="sq">
              <a:gradFill>
                <a:gsLst>
                  <a:gs pos="0">
                    <a:srgbClr val="F9F4FF">
                      <a:alpha val="100000"/>
                    </a:srgbClr>
                  </a:gs>
                  <a:gs pos="100000">
                    <a:srgbClr val="F9F4FF">
                      <a:alpha val="245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63500" y="15875"/>
              <a:ext cx="14977589" cy="50427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240903" y="4529076"/>
            <a:ext cx="8933247" cy="4349498"/>
            <a:chOff x="0" y="0"/>
            <a:chExt cx="1471899" cy="71665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71899" cy="716651"/>
            </a:xfrm>
            <a:custGeom>
              <a:avLst/>
              <a:gdLst/>
              <a:ahLst/>
              <a:cxnLst/>
              <a:rect r="r" b="b" t="t" l="l"/>
              <a:pathLst>
                <a:path h="716651" w="1471899">
                  <a:moveTo>
                    <a:pt x="0" y="0"/>
                  </a:moveTo>
                  <a:lnTo>
                    <a:pt x="1471899" y="0"/>
                  </a:lnTo>
                  <a:lnTo>
                    <a:pt x="1471899" y="716651"/>
                  </a:lnTo>
                  <a:lnTo>
                    <a:pt x="0" y="716651"/>
                  </a:lnTo>
                  <a:close/>
                </a:path>
              </a:pathLst>
            </a:custGeom>
            <a:gradFill rotWithShape="true">
              <a:gsLst>
                <a:gs pos="0">
                  <a:srgbClr val="C04AFF">
                    <a:alpha val="35000"/>
                  </a:srgbClr>
                </a:gs>
                <a:gs pos="100000">
                  <a:srgbClr val="C04A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471899" cy="7642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164522" y="4529076"/>
            <a:ext cx="152764" cy="4349498"/>
            <a:chOff x="0" y="0"/>
            <a:chExt cx="25170" cy="71665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170" cy="716651"/>
            </a:xfrm>
            <a:custGeom>
              <a:avLst/>
              <a:gdLst/>
              <a:ahLst/>
              <a:cxnLst/>
              <a:rect r="r" b="b" t="t" l="l"/>
              <a:pathLst>
                <a:path h="716651" w="25170">
                  <a:moveTo>
                    <a:pt x="0" y="0"/>
                  </a:moveTo>
                  <a:lnTo>
                    <a:pt x="25170" y="0"/>
                  </a:lnTo>
                  <a:lnTo>
                    <a:pt x="25170" y="716651"/>
                  </a:lnTo>
                  <a:lnTo>
                    <a:pt x="0" y="716651"/>
                  </a:lnTo>
                  <a:close/>
                </a:path>
              </a:pathLst>
            </a:custGeom>
            <a:gradFill rotWithShape="true">
              <a:gsLst>
                <a:gs pos="0">
                  <a:srgbClr val="C04AFF">
                    <a:alpha val="100000"/>
                  </a:srgbClr>
                </a:gs>
                <a:gs pos="100000">
                  <a:srgbClr val="DFBA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25170" cy="7642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true" rot="0">
            <a:off x="1028700" y="1028700"/>
            <a:ext cx="195487" cy="151769"/>
          </a:xfrm>
          <a:custGeom>
            <a:avLst/>
            <a:gdLst/>
            <a:ahLst/>
            <a:cxnLst/>
            <a:rect r="r" b="b" t="t" l="l"/>
            <a:pathLst>
              <a:path h="151769" w="195487">
                <a:moveTo>
                  <a:pt x="0" y="151769"/>
                </a:moveTo>
                <a:lnTo>
                  <a:pt x="195487" y="151769"/>
                </a:lnTo>
                <a:lnTo>
                  <a:pt x="195487" y="0"/>
                </a:lnTo>
                <a:lnTo>
                  <a:pt x="0" y="0"/>
                </a:lnTo>
                <a:lnTo>
                  <a:pt x="0" y="15176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true" flipV="true" rot="0">
            <a:off x="17063813" y="1028700"/>
            <a:ext cx="195487" cy="151769"/>
          </a:xfrm>
          <a:custGeom>
            <a:avLst/>
            <a:gdLst/>
            <a:ahLst/>
            <a:cxnLst/>
            <a:rect r="r" b="b" t="t" l="l"/>
            <a:pathLst>
              <a:path h="151769" w="195487">
                <a:moveTo>
                  <a:pt x="195487" y="151769"/>
                </a:moveTo>
                <a:lnTo>
                  <a:pt x="0" y="151769"/>
                </a:lnTo>
                <a:lnTo>
                  <a:pt x="0" y="0"/>
                </a:lnTo>
                <a:lnTo>
                  <a:pt x="195487" y="0"/>
                </a:lnTo>
                <a:lnTo>
                  <a:pt x="195487" y="15176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605144" y="1361444"/>
            <a:ext cx="14739701" cy="2712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00"/>
              </a:lnSpc>
            </a:pPr>
            <a:r>
              <a:rPr lang="en-US" sz="10400" spc="-520">
                <a:solidFill>
                  <a:srgbClr val="F9F4FF"/>
                </a:solidFill>
                <a:latin typeface="Bicubik"/>
                <a:ea typeface="Bicubik"/>
                <a:cs typeface="Bicubik"/>
                <a:sym typeface="Bicubik"/>
              </a:rPr>
              <a:t>CH</a:t>
            </a:r>
            <a:r>
              <a:rPr lang="en-US" sz="10400" spc="-520">
                <a:solidFill>
                  <a:srgbClr val="F9F4FF"/>
                </a:solidFill>
                <a:latin typeface="Bicubik"/>
                <a:ea typeface="Bicubik"/>
                <a:cs typeface="Bicubik"/>
                <a:sym typeface="Bicubik"/>
              </a:rPr>
              <a:t>AMPION MODEL : LIGHTGBM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787127" y="4614335"/>
            <a:ext cx="7840801" cy="3948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6"/>
              </a:lnSpc>
            </a:pPr>
            <a:r>
              <a:rPr lang="en-US" sz="2797">
                <a:solidFill>
                  <a:srgbClr val="EAE5DD"/>
                </a:solidFill>
                <a:latin typeface="Canva Sans"/>
                <a:ea typeface="Canva Sans"/>
                <a:cs typeface="Canva Sans"/>
                <a:sym typeface="Canva Sans"/>
              </a:rPr>
              <a:t>Selected because:</a:t>
            </a:r>
          </a:p>
          <a:p>
            <a:pPr algn="l" marL="604026" indent="-302013" lvl="1">
              <a:lnSpc>
                <a:spcPts val="3916"/>
              </a:lnSpc>
              <a:buFont typeface="Arial"/>
              <a:buChar char="•"/>
            </a:pPr>
            <a:r>
              <a:rPr lang="en-US" sz="2797">
                <a:solidFill>
                  <a:srgbClr val="EAE5DD"/>
                </a:solidFill>
                <a:latin typeface="Canva Sans"/>
                <a:ea typeface="Canva Sans"/>
                <a:cs typeface="Canva Sans"/>
                <a:sym typeface="Canva Sans"/>
              </a:rPr>
              <a:t>Strong ROC-</a:t>
            </a:r>
            <a:r>
              <a:rPr lang="en-US" sz="2797">
                <a:solidFill>
                  <a:srgbClr val="EAE5DD"/>
                </a:solidFill>
                <a:latin typeface="Canva Sans"/>
                <a:ea typeface="Canva Sans"/>
                <a:cs typeface="Canva Sans"/>
                <a:sym typeface="Canva Sans"/>
              </a:rPr>
              <a:t>AUC performance</a:t>
            </a:r>
          </a:p>
          <a:p>
            <a:pPr algn="l" marL="604026" indent="-302013" lvl="1">
              <a:lnSpc>
                <a:spcPts val="3916"/>
              </a:lnSpc>
              <a:buFont typeface="Arial"/>
              <a:buChar char="•"/>
            </a:pPr>
            <a:r>
              <a:rPr lang="en-US" sz="2797">
                <a:solidFill>
                  <a:srgbClr val="EAE5DD"/>
                </a:solidFill>
                <a:latin typeface="Canva Sans"/>
                <a:ea typeface="Canva Sans"/>
                <a:cs typeface="Canva Sans"/>
                <a:sym typeface="Canva Sans"/>
              </a:rPr>
              <a:t>Fast training</a:t>
            </a:r>
          </a:p>
          <a:p>
            <a:pPr algn="l" marL="604026" indent="-302013" lvl="1">
              <a:lnSpc>
                <a:spcPts val="3916"/>
              </a:lnSpc>
              <a:buFont typeface="Arial"/>
              <a:buChar char="•"/>
            </a:pPr>
            <a:r>
              <a:rPr lang="en-US" sz="2797">
                <a:solidFill>
                  <a:srgbClr val="EAE5DD"/>
                </a:solidFill>
                <a:latin typeface="Canva Sans"/>
                <a:ea typeface="Canva Sans"/>
                <a:cs typeface="Canva Sans"/>
                <a:sym typeface="Canva Sans"/>
              </a:rPr>
              <a:t>Native SHAP support</a:t>
            </a:r>
          </a:p>
          <a:p>
            <a:pPr algn="l" marL="604026" indent="-302013" lvl="1">
              <a:lnSpc>
                <a:spcPts val="3916"/>
              </a:lnSpc>
              <a:buFont typeface="Arial"/>
              <a:buChar char="•"/>
            </a:pPr>
            <a:r>
              <a:rPr lang="en-US" sz="2797">
                <a:solidFill>
                  <a:srgbClr val="EAE5DD"/>
                </a:solidFill>
                <a:latin typeface="Canva Sans"/>
                <a:ea typeface="Canva Sans"/>
                <a:cs typeface="Canva Sans"/>
                <a:sym typeface="Canva Sans"/>
              </a:rPr>
              <a:t>Handles non-linear interactions</a:t>
            </a:r>
          </a:p>
          <a:p>
            <a:pPr algn="l">
              <a:lnSpc>
                <a:spcPts val="3916"/>
              </a:lnSpc>
            </a:pPr>
            <a:r>
              <a:rPr lang="en-US" sz="2797">
                <a:solidFill>
                  <a:srgbClr val="EAE5DD"/>
                </a:solidFill>
                <a:latin typeface="Canva Sans"/>
                <a:ea typeface="Canva Sans"/>
                <a:cs typeface="Canva Sans"/>
                <a:sym typeface="Canva Sans"/>
              </a:rPr>
              <a:t>Performance:</a:t>
            </a:r>
          </a:p>
          <a:p>
            <a:pPr algn="l" marL="604026" indent="-302013" lvl="1">
              <a:lnSpc>
                <a:spcPts val="3916"/>
              </a:lnSpc>
              <a:buFont typeface="Arial"/>
              <a:buChar char="•"/>
            </a:pPr>
            <a:r>
              <a:rPr lang="en-US" sz="2797">
                <a:solidFill>
                  <a:srgbClr val="EAE5DD"/>
                </a:solidFill>
                <a:latin typeface="Canva Sans"/>
                <a:ea typeface="Canva Sans"/>
                <a:cs typeface="Canva Sans"/>
                <a:sym typeface="Canva Sans"/>
              </a:rPr>
              <a:t>Accuracy: 57.81%</a:t>
            </a:r>
          </a:p>
          <a:p>
            <a:pPr algn="l" marL="604026" indent="-302013" lvl="1">
              <a:lnSpc>
                <a:spcPts val="3916"/>
              </a:lnSpc>
              <a:buFont typeface="Arial"/>
              <a:buChar char="•"/>
            </a:pPr>
            <a:r>
              <a:rPr lang="en-US" sz="2797">
                <a:solidFill>
                  <a:srgbClr val="EAE5DD"/>
                </a:solidFill>
                <a:latin typeface="Canva Sans"/>
                <a:ea typeface="Canva Sans"/>
                <a:cs typeface="Canva Sans"/>
                <a:sym typeface="Canva Sans"/>
              </a:rPr>
              <a:t>ROC-AUC: 0.5112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7283F">
                <a:alpha val="100000"/>
              </a:srgbClr>
            </a:gs>
            <a:gs pos="100000">
              <a:srgbClr val="121019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31241" y="4264489"/>
            <a:ext cx="10588030" cy="8201949"/>
            <a:chOff x="0" y="0"/>
            <a:chExt cx="9853477" cy="76329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853477" cy="7632933"/>
            </a:xfrm>
            <a:custGeom>
              <a:avLst/>
              <a:gdLst/>
              <a:ahLst/>
              <a:cxnLst/>
              <a:rect r="r" b="b" t="t" l="l"/>
              <a:pathLst>
                <a:path h="7632933" w="9853477">
                  <a:moveTo>
                    <a:pt x="9615352" y="0"/>
                  </a:moveTo>
                  <a:lnTo>
                    <a:pt x="9853477" y="238125"/>
                  </a:lnTo>
                  <a:lnTo>
                    <a:pt x="9853477" y="7394808"/>
                  </a:lnTo>
                  <a:lnTo>
                    <a:pt x="9615352" y="7632933"/>
                  </a:lnTo>
                  <a:lnTo>
                    <a:pt x="238125" y="7632933"/>
                  </a:lnTo>
                  <a:lnTo>
                    <a:pt x="0" y="7394808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9615352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27283F">
                    <a:alpha val="100000"/>
                  </a:srgbClr>
                </a:gs>
                <a:gs pos="100000">
                  <a:srgbClr val="121019">
                    <a:alpha val="100000"/>
                  </a:srgbClr>
                </a:gs>
              </a:gsLst>
              <a:lin ang="5400000"/>
            </a:gradFill>
            <a:ln w="9525" cap="sq">
              <a:gradFill>
                <a:gsLst>
                  <a:gs pos="0">
                    <a:srgbClr val="F9F4FF">
                      <a:alpha val="100000"/>
                    </a:srgbClr>
                  </a:gs>
                  <a:gs pos="100000">
                    <a:srgbClr val="F9F4FF">
                      <a:alpha val="245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63500" y="15875"/>
              <a:ext cx="9726477" cy="75535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4314825" cy="10287000"/>
            <a:chOff x="0" y="0"/>
            <a:chExt cx="1136415" cy="2709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36415" cy="2709333"/>
            </a:xfrm>
            <a:custGeom>
              <a:avLst/>
              <a:gdLst/>
              <a:ahLst/>
              <a:cxnLst/>
              <a:rect r="r" b="b" t="t" l="l"/>
              <a:pathLst>
                <a:path h="2709333" w="1136415">
                  <a:moveTo>
                    <a:pt x="0" y="0"/>
                  </a:moveTo>
                  <a:lnTo>
                    <a:pt x="1136415" y="0"/>
                  </a:lnTo>
                  <a:lnTo>
                    <a:pt x="113641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D1C2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13641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5400000">
            <a:off x="2243455" y="4415155"/>
            <a:ext cx="7943215" cy="3800475"/>
            <a:chOff x="0" y="0"/>
            <a:chExt cx="2092040" cy="100094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92040" cy="1000948"/>
            </a:xfrm>
            <a:custGeom>
              <a:avLst/>
              <a:gdLst/>
              <a:ahLst/>
              <a:cxnLst/>
              <a:rect r="r" b="b" t="t" l="l"/>
              <a:pathLst>
                <a:path h="1000948" w="2092040">
                  <a:moveTo>
                    <a:pt x="0" y="0"/>
                  </a:moveTo>
                  <a:lnTo>
                    <a:pt x="2092040" y="0"/>
                  </a:lnTo>
                  <a:lnTo>
                    <a:pt x="2092040" y="1000948"/>
                  </a:lnTo>
                  <a:lnTo>
                    <a:pt x="0" y="1000948"/>
                  </a:lnTo>
                  <a:close/>
                </a:path>
              </a:pathLst>
            </a:custGeom>
            <a:gradFill rotWithShape="true">
              <a:gsLst>
                <a:gs pos="0">
                  <a:srgbClr val="C04AFF">
                    <a:alpha val="35000"/>
                  </a:srgbClr>
                </a:gs>
                <a:gs pos="100000">
                  <a:srgbClr val="C04A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092040" cy="10485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true" flipV="true" rot="0">
            <a:off x="17571171" y="546096"/>
            <a:ext cx="195487" cy="151769"/>
          </a:xfrm>
          <a:custGeom>
            <a:avLst/>
            <a:gdLst/>
            <a:ahLst/>
            <a:cxnLst/>
            <a:rect r="r" b="b" t="t" l="l"/>
            <a:pathLst>
              <a:path h="151769" w="195487">
                <a:moveTo>
                  <a:pt x="195488" y="151769"/>
                </a:moveTo>
                <a:lnTo>
                  <a:pt x="0" y="151769"/>
                </a:lnTo>
                <a:lnTo>
                  <a:pt x="0" y="0"/>
                </a:lnTo>
                <a:lnTo>
                  <a:pt x="195488" y="0"/>
                </a:lnTo>
                <a:lnTo>
                  <a:pt x="195488" y="15176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5400000">
            <a:off x="343030" y="9613364"/>
            <a:ext cx="195487" cy="151769"/>
          </a:xfrm>
          <a:custGeom>
            <a:avLst/>
            <a:gdLst/>
            <a:ahLst/>
            <a:cxnLst/>
            <a:rect r="r" b="b" t="t" l="l"/>
            <a:pathLst>
              <a:path h="151769" w="195487">
                <a:moveTo>
                  <a:pt x="195487" y="0"/>
                </a:moveTo>
                <a:lnTo>
                  <a:pt x="0" y="0"/>
                </a:lnTo>
                <a:lnTo>
                  <a:pt x="0" y="151770"/>
                </a:lnTo>
                <a:lnTo>
                  <a:pt x="195487" y="151770"/>
                </a:lnTo>
                <a:lnTo>
                  <a:pt x="19548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7673227" y="-514350"/>
            <a:ext cx="2941547" cy="1028700"/>
            <a:chOff x="0" y="0"/>
            <a:chExt cx="1997346" cy="6985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97346" cy="698500"/>
            </a:xfrm>
            <a:custGeom>
              <a:avLst/>
              <a:gdLst/>
              <a:ahLst/>
              <a:cxnLst/>
              <a:rect r="r" b="b" t="t" l="l"/>
              <a:pathLst>
                <a:path h="698500" w="1997346">
                  <a:moveTo>
                    <a:pt x="1997346" y="349250"/>
                  </a:moveTo>
                  <a:lnTo>
                    <a:pt x="1794146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1794146" y="0"/>
                  </a:lnTo>
                  <a:lnTo>
                    <a:pt x="1997346" y="349250"/>
                  </a:lnTo>
                  <a:close/>
                </a:path>
              </a:pathLst>
            </a:custGeom>
            <a:gradFill rotWithShape="true">
              <a:gsLst>
                <a:gs pos="0">
                  <a:srgbClr val="C04AFF">
                    <a:alpha val="100000"/>
                  </a:srgbClr>
                </a:gs>
                <a:gs pos="100000">
                  <a:srgbClr val="DFBAFF">
                    <a:alpha val="100000"/>
                  </a:srgbClr>
                </a:gs>
              </a:gsLst>
              <a:lin ang="2700000"/>
            </a:gradFill>
            <a:ln w="19050" cap="sq">
              <a:gradFill>
                <a:gsLst>
                  <a:gs pos="0">
                    <a:srgbClr val="C04AFF">
                      <a:alpha val="100000"/>
                    </a:srgbClr>
                  </a:gs>
                  <a:gs pos="100000">
                    <a:srgbClr val="DFBAFF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114300" y="-47625"/>
              <a:ext cx="1768746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4668280" y="8621660"/>
            <a:ext cx="1809860" cy="1983408"/>
          </a:xfrm>
          <a:custGeom>
            <a:avLst/>
            <a:gdLst/>
            <a:ahLst/>
            <a:cxnLst/>
            <a:rect r="r" b="b" t="t" l="l"/>
            <a:pathLst>
              <a:path h="1983408" w="1809860">
                <a:moveTo>
                  <a:pt x="0" y="0"/>
                </a:moveTo>
                <a:lnTo>
                  <a:pt x="1809860" y="0"/>
                </a:lnTo>
                <a:lnTo>
                  <a:pt x="1809860" y="1983408"/>
                </a:lnTo>
                <a:lnTo>
                  <a:pt x="0" y="19834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028700" y="3210092"/>
            <a:ext cx="7539425" cy="6210602"/>
          </a:xfrm>
          <a:custGeom>
            <a:avLst/>
            <a:gdLst/>
            <a:ahLst/>
            <a:cxnLst/>
            <a:rect r="r" b="b" t="t" l="l"/>
            <a:pathLst>
              <a:path h="6210602" w="7539425">
                <a:moveTo>
                  <a:pt x="0" y="0"/>
                </a:moveTo>
                <a:lnTo>
                  <a:pt x="7539425" y="0"/>
                </a:lnTo>
                <a:lnTo>
                  <a:pt x="7539425" y="6210601"/>
                </a:lnTo>
                <a:lnTo>
                  <a:pt x="0" y="621060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6886343" y="851535"/>
            <a:ext cx="10372957" cy="3108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000"/>
              </a:lnSpc>
            </a:pPr>
            <a:r>
              <a:rPr lang="en-US" sz="8000" spc="-400">
                <a:solidFill>
                  <a:srgbClr val="F9F4FF"/>
                </a:solidFill>
                <a:latin typeface="Bicubik"/>
                <a:ea typeface="Bicubik"/>
                <a:cs typeface="Bicubik"/>
                <a:sym typeface="Bicubik"/>
              </a:rPr>
              <a:t>MODE</a:t>
            </a:r>
            <a:r>
              <a:rPr lang="en-US" sz="8000" spc="-400">
                <a:solidFill>
                  <a:srgbClr val="F9F4FF"/>
                </a:solidFill>
                <a:latin typeface="Bicubik"/>
                <a:ea typeface="Bicubik"/>
                <a:cs typeface="Bicubik"/>
                <a:sym typeface="Bicubik"/>
              </a:rPr>
              <a:t>L INTERPRETABILITY WITH SHAP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196025" y="4666970"/>
            <a:ext cx="6867788" cy="4471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EAE5D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SHAP explains: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EAE5D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Global feature importance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EAE5D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Individual predictions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EAE5D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Feature impact direction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EAE5D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Benefits: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EAE5D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Transparency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EAE5D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Trustworthiness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EAE5D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Explainability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7283F">
                <a:alpha val="100000"/>
              </a:srgbClr>
            </a:gs>
            <a:gs pos="100000">
              <a:srgbClr val="121019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3547587" y="1380994"/>
            <a:ext cx="195487" cy="151769"/>
          </a:xfrm>
          <a:custGeom>
            <a:avLst/>
            <a:gdLst/>
            <a:ahLst/>
            <a:cxnLst/>
            <a:rect r="r" b="b" t="t" l="l"/>
            <a:pathLst>
              <a:path h="151769" w="195487">
                <a:moveTo>
                  <a:pt x="195487" y="151769"/>
                </a:moveTo>
                <a:lnTo>
                  <a:pt x="0" y="151769"/>
                </a:lnTo>
                <a:lnTo>
                  <a:pt x="0" y="0"/>
                </a:lnTo>
                <a:lnTo>
                  <a:pt x="195487" y="0"/>
                </a:lnTo>
                <a:lnTo>
                  <a:pt x="195487" y="15176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673227" y="-514350"/>
            <a:ext cx="2941547" cy="1028700"/>
            <a:chOff x="0" y="0"/>
            <a:chExt cx="1997346" cy="6985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97346" cy="698500"/>
            </a:xfrm>
            <a:custGeom>
              <a:avLst/>
              <a:gdLst/>
              <a:ahLst/>
              <a:cxnLst/>
              <a:rect r="r" b="b" t="t" l="l"/>
              <a:pathLst>
                <a:path h="698500" w="1997346">
                  <a:moveTo>
                    <a:pt x="1997346" y="349250"/>
                  </a:moveTo>
                  <a:lnTo>
                    <a:pt x="1794146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1794146" y="0"/>
                  </a:lnTo>
                  <a:lnTo>
                    <a:pt x="1997346" y="349250"/>
                  </a:lnTo>
                  <a:close/>
                </a:path>
              </a:pathLst>
            </a:custGeom>
            <a:gradFill rotWithShape="true">
              <a:gsLst>
                <a:gs pos="0">
                  <a:srgbClr val="C04AFF">
                    <a:alpha val="100000"/>
                  </a:srgbClr>
                </a:gs>
                <a:gs pos="100000">
                  <a:srgbClr val="DFBAFF">
                    <a:alpha val="100000"/>
                  </a:srgbClr>
                </a:gs>
              </a:gsLst>
              <a:lin ang="2700000"/>
            </a:gradFill>
            <a:ln w="19050" cap="sq">
              <a:gradFill>
                <a:gsLst>
                  <a:gs pos="0">
                    <a:srgbClr val="C04AFF">
                      <a:alpha val="100000"/>
                    </a:srgbClr>
                  </a:gs>
                  <a:gs pos="100000">
                    <a:srgbClr val="DFBAFF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114300" y="-47625"/>
              <a:ext cx="1768746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3905690"/>
            <a:ext cx="11997778" cy="4875251"/>
            <a:chOff x="0" y="0"/>
            <a:chExt cx="3204615" cy="130218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204615" cy="1302183"/>
            </a:xfrm>
            <a:custGeom>
              <a:avLst/>
              <a:gdLst/>
              <a:ahLst/>
              <a:cxnLst/>
              <a:rect r="r" b="b" t="t" l="l"/>
              <a:pathLst>
                <a:path h="1302183" w="3204615">
                  <a:moveTo>
                    <a:pt x="0" y="0"/>
                  </a:moveTo>
                  <a:lnTo>
                    <a:pt x="3204615" y="0"/>
                  </a:lnTo>
                  <a:lnTo>
                    <a:pt x="3204615" y="1302183"/>
                  </a:lnTo>
                  <a:lnTo>
                    <a:pt x="0" y="1302183"/>
                  </a:lnTo>
                  <a:close/>
                </a:path>
              </a:pathLst>
            </a:custGeom>
            <a:gradFill rotWithShape="true">
              <a:gsLst>
                <a:gs pos="0">
                  <a:srgbClr val="C04AFF">
                    <a:alpha val="35000"/>
                  </a:srgbClr>
                </a:gs>
                <a:gs pos="100000">
                  <a:srgbClr val="C04A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3204615" cy="1349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28700" y="3905690"/>
            <a:ext cx="230840" cy="4875251"/>
            <a:chOff x="0" y="0"/>
            <a:chExt cx="61658" cy="130218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1658" cy="1302183"/>
            </a:xfrm>
            <a:custGeom>
              <a:avLst/>
              <a:gdLst/>
              <a:ahLst/>
              <a:cxnLst/>
              <a:rect r="r" b="b" t="t" l="l"/>
              <a:pathLst>
                <a:path h="1302183" w="61658">
                  <a:moveTo>
                    <a:pt x="0" y="0"/>
                  </a:moveTo>
                  <a:lnTo>
                    <a:pt x="61658" y="0"/>
                  </a:lnTo>
                  <a:lnTo>
                    <a:pt x="61658" y="1302183"/>
                  </a:lnTo>
                  <a:lnTo>
                    <a:pt x="0" y="1302183"/>
                  </a:lnTo>
                  <a:close/>
                </a:path>
              </a:pathLst>
            </a:custGeom>
            <a:gradFill rotWithShape="true">
              <a:gsLst>
                <a:gs pos="0">
                  <a:srgbClr val="C04AFF">
                    <a:alpha val="100000"/>
                  </a:srgbClr>
                </a:gs>
                <a:gs pos="100000">
                  <a:srgbClr val="DFBA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61658" cy="1349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086406" y="9550038"/>
            <a:ext cx="195487" cy="151769"/>
          </a:xfrm>
          <a:custGeom>
            <a:avLst/>
            <a:gdLst/>
            <a:ahLst/>
            <a:cxnLst/>
            <a:rect r="r" b="b" t="t" l="l"/>
            <a:pathLst>
              <a:path h="151769" w="195487">
                <a:moveTo>
                  <a:pt x="0" y="0"/>
                </a:moveTo>
                <a:lnTo>
                  <a:pt x="195487" y="0"/>
                </a:lnTo>
                <a:lnTo>
                  <a:pt x="195487" y="151769"/>
                </a:lnTo>
                <a:lnTo>
                  <a:pt x="0" y="1517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574729" y="7560399"/>
            <a:ext cx="978168" cy="2726601"/>
          </a:xfrm>
          <a:custGeom>
            <a:avLst/>
            <a:gdLst/>
            <a:ahLst/>
            <a:cxnLst/>
            <a:rect r="r" b="b" t="t" l="l"/>
            <a:pathLst>
              <a:path h="2726601" w="978168">
                <a:moveTo>
                  <a:pt x="0" y="0"/>
                </a:moveTo>
                <a:lnTo>
                  <a:pt x="978168" y="0"/>
                </a:lnTo>
                <a:lnTo>
                  <a:pt x="978168" y="2726601"/>
                </a:lnTo>
                <a:lnTo>
                  <a:pt x="0" y="27266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738144" y="4030295"/>
            <a:ext cx="8274026" cy="4863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2"/>
              </a:lnSpc>
            </a:pPr>
            <a:r>
              <a:rPr lang="en-US" sz="2759">
                <a:solidFill>
                  <a:srgbClr val="DFE6E9"/>
                </a:solidFill>
                <a:latin typeface="Arimo"/>
                <a:ea typeface="Arimo"/>
                <a:cs typeface="Arimo"/>
                <a:sym typeface="Arimo"/>
              </a:rPr>
              <a:t>Beyond predict</a:t>
            </a:r>
            <a:r>
              <a:rPr lang="en-US" sz="2759">
                <a:solidFill>
                  <a:srgbClr val="DFE6E9"/>
                </a:solidFill>
                <a:latin typeface="Arimo"/>
                <a:ea typeface="Arimo"/>
                <a:cs typeface="Arimo"/>
                <a:sym typeface="Arimo"/>
              </a:rPr>
              <a:t>ion, we estimated causal effects.</a:t>
            </a:r>
          </a:p>
          <a:p>
            <a:pPr algn="l">
              <a:lnSpc>
                <a:spcPts val="3862"/>
              </a:lnSpc>
            </a:pPr>
            <a:r>
              <a:rPr lang="en-US" sz="2759">
                <a:solidFill>
                  <a:srgbClr val="DFE6E9"/>
                </a:solidFill>
                <a:latin typeface="Arimo"/>
                <a:ea typeface="Arimo"/>
                <a:cs typeface="Arimo"/>
                <a:sym typeface="Arimo"/>
              </a:rPr>
              <a:t>DML allows </a:t>
            </a:r>
            <a:r>
              <a:rPr lang="en-US" sz="2759">
                <a:solidFill>
                  <a:srgbClr val="DFE6E9"/>
                </a:solidFill>
                <a:latin typeface="Arimo"/>
                <a:ea typeface="Arimo"/>
                <a:cs typeface="Arimo"/>
                <a:sym typeface="Arimo"/>
              </a:rPr>
              <a:t>us to estimate:</a:t>
            </a:r>
          </a:p>
          <a:p>
            <a:pPr algn="l">
              <a:lnSpc>
                <a:spcPts val="3862"/>
              </a:lnSpc>
            </a:pPr>
            <a:r>
              <a:rPr lang="en-US" sz="2759">
                <a:solidFill>
                  <a:srgbClr val="DFE6E9"/>
                </a:solidFill>
                <a:latin typeface="Arimo"/>
                <a:ea typeface="Arimo"/>
                <a:cs typeface="Arimo"/>
                <a:sym typeface="Arimo"/>
              </a:rPr>
              <a:t>"Wha</a:t>
            </a:r>
            <a:r>
              <a:rPr lang="en-US" sz="2759">
                <a:solidFill>
                  <a:srgbClr val="DFE6E9"/>
                </a:solidFill>
                <a:latin typeface="Arimo"/>
                <a:ea typeface="Arimo"/>
                <a:cs typeface="Arimo"/>
                <a:sym typeface="Arimo"/>
              </a:rPr>
              <a:t>t happens if a behaviour changes?"</a:t>
            </a:r>
          </a:p>
          <a:p>
            <a:pPr algn="l">
              <a:lnSpc>
                <a:spcPts val="3862"/>
              </a:lnSpc>
            </a:pPr>
            <a:r>
              <a:rPr lang="en-US" sz="2759">
                <a:solidFill>
                  <a:srgbClr val="DFE6E9"/>
                </a:solidFill>
                <a:latin typeface="Arimo"/>
                <a:ea typeface="Arimo"/>
                <a:cs typeface="Arimo"/>
                <a:sym typeface="Arimo"/>
              </a:rPr>
              <a:t>Re</a:t>
            </a:r>
            <a:r>
              <a:rPr lang="en-US" sz="2759">
                <a:solidFill>
                  <a:srgbClr val="DFE6E9"/>
                </a:solidFill>
                <a:latin typeface="Arimo"/>
                <a:ea typeface="Arimo"/>
                <a:cs typeface="Arimo"/>
                <a:sym typeface="Arimo"/>
              </a:rPr>
              <a:t>sult:</a:t>
            </a:r>
          </a:p>
          <a:p>
            <a:pPr algn="l">
              <a:lnSpc>
                <a:spcPts val="3862"/>
              </a:lnSpc>
            </a:pPr>
            <a:r>
              <a:rPr lang="en-US" sz="2759">
                <a:solidFill>
                  <a:srgbClr val="DFE6E9"/>
                </a:solidFill>
                <a:latin typeface="Arimo"/>
                <a:ea typeface="Arimo"/>
                <a:cs typeface="Arimo"/>
                <a:sym typeface="Arimo"/>
              </a:rPr>
              <a:t>A</a:t>
            </a:r>
            <a:r>
              <a:rPr lang="en-US" sz="2759">
                <a:solidFill>
                  <a:srgbClr val="DFE6E9"/>
                </a:solidFill>
                <a:latin typeface="Arimo"/>
                <a:ea typeface="Arimo"/>
                <a:cs typeface="Arimo"/>
                <a:sym typeface="Arimo"/>
              </a:rPr>
              <a:t>verage Tr</a:t>
            </a:r>
            <a:r>
              <a:rPr lang="en-US" sz="2759">
                <a:solidFill>
                  <a:srgbClr val="DFE6E9"/>
                </a:solidFill>
                <a:latin typeface="Arimo"/>
                <a:ea typeface="Arimo"/>
                <a:cs typeface="Arimo"/>
                <a:sym typeface="Arimo"/>
              </a:rPr>
              <a:t>eatment Effect (ATE)</a:t>
            </a:r>
          </a:p>
          <a:p>
            <a:pPr algn="l">
              <a:lnSpc>
                <a:spcPts val="3862"/>
              </a:lnSpc>
            </a:pPr>
            <a:r>
              <a:rPr lang="en-US" sz="2759">
                <a:solidFill>
                  <a:srgbClr val="DFE6E9"/>
                </a:solidFill>
                <a:latin typeface="Arimo"/>
                <a:ea typeface="Arimo"/>
                <a:cs typeface="Arimo"/>
                <a:sym typeface="Arimo"/>
              </a:rPr>
              <a:t>= 0.0104</a:t>
            </a:r>
          </a:p>
          <a:p>
            <a:pPr algn="l">
              <a:lnSpc>
                <a:spcPts val="3862"/>
              </a:lnSpc>
            </a:pPr>
            <a:r>
              <a:rPr lang="en-US" sz="2759">
                <a:solidFill>
                  <a:srgbClr val="DFE6E9"/>
                </a:solidFill>
                <a:latin typeface="Arimo"/>
                <a:ea typeface="Arimo"/>
                <a:cs typeface="Arimo"/>
                <a:sym typeface="Arimo"/>
              </a:rPr>
              <a:t>Interpretation:</a:t>
            </a:r>
          </a:p>
          <a:p>
            <a:pPr algn="l">
              <a:lnSpc>
                <a:spcPts val="3862"/>
              </a:lnSpc>
            </a:pPr>
            <a:r>
              <a:rPr lang="en-US" sz="2759">
                <a:solidFill>
                  <a:srgbClr val="DFE6E9"/>
                </a:solidFill>
                <a:latin typeface="Arimo"/>
                <a:ea typeface="Arimo"/>
                <a:cs typeface="Arimo"/>
                <a:sym typeface="Arimo"/>
              </a:rPr>
              <a:t>Behavioural interventions produce only a very small improvement in connection probability.</a:t>
            </a:r>
          </a:p>
          <a:p>
            <a:pPr algn="l">
              <a:lnSpc>
                <a:spcPts val="3862"/>
              </a:lnSpc>
            </a:pPr>
          </a:p>
        </p:txBody>
      </p:sp>
      <p:grpSp>
        <p:nvGrpSpPr>
          <p:cNvPr name="Group 15" id="15"/>
          <p:cNvGrpSpPr/>
          <p:nvPr/>
        </p:nvGrpSpPr>
        <p:grpSpPr>
          <a:xfrm rot="0">
            <a:off x="12512597" y="6919884"/>
            <a:ext cx="1563233" cy="768516"/>
            <a:chOff x="0" y="0"/>
            <a:chExt cx="165331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653310" cy="812800"/>
            </a:xfrm>
            <a:custGeom>
              <a:avLst/>
              <a:gdLst/>
              <a:ahLst/>
              <a:cxnLst/>
              <a:rect r="r" b="b" t="t" l="l"/>
              <a:pathLst>
                <a:path h="812800" w="1653310">
                  <a:moveTo>
                    <a:pt x="826655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1450110" y="0"/>
                  </a:lnTo>
                  <a:lnTo>
                    <a:pt x="1450110" y="406400"/>
                  </a:lnTo>
                  <a:lnTo>
                    <a:pt x="1653310" y="406400"/>
                  </a:lnTo>
                  <a:lnTo>
                    <a:pt x="826655" y="812800"/>
                  </a:lnTo>
                  <a:close/>
                </a:path>
              </a:pathLst>
            </a:custGeom>
            <a:solidFill>
              <a:srgbClr val="F1EFEC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203200" y="-47625"/>
              <a:ext cx="1246910" cy="758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347129" y="1190625"/>
            <a:ext cx="14584686" cy="2369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98"/>
              </a:lnSpc>
            </a:pPr>
            <a:r>
              <a:rPr lang="en-US" sz="9098" spc="-454">
                <a:solidFill>
                  <a:srgbClr val="F9F4FF"/>
                </a:solidFill>
                <a:latin typeface="Bicubik"/>
                <a:ea typeface="Bicubik"/>
                <a:cs typeface="Bicubik"/>
                <a:sym typeface="Bicubik"/>
              </a:rPr>
              <a:t>DOUBLE MACH</a:t>
            </a:r>
            <a:r>
              <a:rPr lang="en-US" sz="9098" spc="-454">
                <a:solidFill>
                  <a:srgbClr val="F9F4FF"/>
                </a:solidFill>
                <a:latin typeface="Bicubik"/>
                <a:ea typeface="Bicubik"/>
                <a:cs typeface="Bicubik"/>
                <a:sym typeface="Bicubik"/>
              </a:rPr>
              <a:t>INE LEARNING (DML)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0326495" y="3575924"/>
            <a:ext cx="5935437" cy="1114135"/>
            <a:chOff x="0" y="0"/>
            <a:chExt cx="2232712" cy="4191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232712" cy="419100"/>
            </a:xfrm>
            <a:custGeom>
              <a:avLst/>
              <a:gdLst/>
              <a:ahLst/>
              <a:cxnLst/>
              <a:rect r="r" b="b" t="t" l="l"/>
              <a:pathLst>
                <a:path h="419100" w="2232712">
                  <a:moveTo>
                    <a:pt x="25476" y="0"/>
                  </a:moveTo>
                  <a:lnTo>
                    <a:pt x="2207236" y="0"/>
                  </a:lnTo>
                  <a:cubicBezTo>
                    <a:pt x="2213993" y="0"/>
                    <a:pt x="2220473" y="2684"/>
                    <a:pt x="2225250" y="7462"/>
                  </a:cubicBezTo>
                  <a:cubicBezTo>
                    <a:pt x="2230028" y="12239"/>
                    <a:pt x="2232712" y="18719"/>
                    <a:pt x="2232712" y="25476"/>
                  </a:cubicBezTo>
                  <a:lnTo>
                    <a:pt x="2232712" y="393624"/>
                  </a:lnTo>
                  <a:cubicBezTo>
                    <a:pt x="2232712" y="400381"/>
                    <a:pt x="2230028" y="406861"/>
                    <a:pt x="2225250" y="411638"/>
                  </a:cubicBezTo>
                  <a:cubicBezTo>
                    <a:pt x="2220473" y="416416"/>
                    <a:pt x="2213993" y="419100"/>
                    <a:pt x="2207236" y="419100"/>
                  </a:cubicBezTo>
                  <a:lnTo>
                    <a:pt x="25476" y="419100"/>
                  </a:lnTo>
                  <a:cubicBezTo>
                    <a:pt x="18719" y="419100"/>
                    <a:pt x="12239" y="416416"/>
                    <a:pt x="7462" y="411638"/>
                  </a:cubicBezTo>
                  <a:cubicBezTo>
                    <a:pt x="2684" y="406861"/>
                    <a:pt x="0" y="400381"/>
                    <a:pt x="0" y="393624"/>
                  </a:cubicBezTo>
                  <a:lnTo>
                    <a:pt x="0" y="25476"/>
                  </a:lnTo>
                  <a:cubicBezTo>
                    <a:pt x="0" y="18719"/>
                    <a:pt x="2684" y="12239"/>
                    <a:pt x="7462" y="7462"/>
                  </a:cubicBezTo>
                  <a:cubicBezTo>
                    <a:pt x="12239" y="2684"/>
                    <a:pt x="18719" y="0"/>
                    <a:pt x="25476" y="0"/>
                  </a:cubicBezTo>
                  <a:close/>
                </a:path>
              </a:pathLst>
            </a:custGeom>
            <a:solidFill>
              <a:srgbClr val="594E50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2232712" cy="466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0369692" y="3905278"/>
            <a:ext cx="5726686" cy="407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28"/>
              </a:lnSpc>
              <a:spcBef>
                <a:spcPct val="0"/>
              </a:spcBef>
            </a:pPr>
            <a:r>
              <a:rPr lang="en-US" sz="237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Treatm</a:t>
            </a:r>
            <a:r>
              <a:rPr lang="en-US" sz="237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ent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0326495" y="5684584"/>
            <a:ext cx="5935437" cy="1114135"/>
            <a:chOff x="0" y="0"/>
            <a:chExt cx="2232712" cy="4191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232712" cy="419100"/>
            </a:xfrm>
            <a:custGeom>
              <a:avLst/>
              <a:gdLst/>
              <a:ahLst/>
              <a:cxnLst/>
              <a:rect r="r" b="b" t="t" l="l"/>
              <a:pathLst>
                <a:path h="419100" w="2232712">
                  <a:moveTo>
                    <a:pt x="25476" y="0"/>
                  </a:moveTo>
                  <a:lnTo>
                    <a:pt x="2207236" y="0"/>
                  </a:lnTo>
                  <a:cubicBezTo>
                    <a:pt x="2213993" y="0"/>
                    <a:pt x="2220473" y="2684"/>
                    <a:pt x="2225250" y="7462"/>
                  </a:cubicBezTo>
                  <a:cubicBezTo>
                    <a:pt x="2230028" y="12239"/>
                    <a:pt x="2232712" y="18719"/>
                    <a:pt x="2232712" y="25476"/>
                  </a:cubicBezTo>
                  <a:lnTo>
                    <a:pt x="2232712" y="393624"/>
                  </a:lnTo>
                  <a:cubicBezTo>
                    <a:pt x="2232712" y="400381"/>
                    <a:pt x="2230028" y="406861"/>
                    <a:pt x="2225250" y="411638"/>
                  </a:cubicBezTo>
                  <a:cubicBezTo>
                    <a:pt x="2220473" y="416416"/>
                    <a:pt x="2213993" y="419100"/>
                    <a:pt x="2207236" y="419100"/>
                  </a:cubicBezTo>
                  <a:lnTo>
                    <a:pt x="25476" y="419100"/>
                  </a:lnTo>
                  <a:cubicBezTo>
                    <a:pt x="18719" y="419100"/>
                    <a:pt x="12239" y="416416"/>
                    <a:pt x="7462" y="411638"/>
                  </a:cubicBezTo>
                  <a:cubicBezTo>
                    <a:pt x="2684" y="406861"/>
                    <a:pt x="0" y="400381"/>
                    <a:pt x="0" y="393624"/>
                  </a:cubicBezTo>
                  <a:lnTo>
                    <a:pt x="0" y="25476"/>
                  </a:lnTo>
                  <a:cubicBezTo>
                    <a:pt x="0" y="18719"/>
                    <a:pt x="2684" y="12239"/>
                    <a:pt x="7462" y="7462"/>
                  </a:cubicBezTo>
                  <a:cubicBezTo>
                    <a:pt x="12239" y="2684"/>
                    <a:pt x="18719" y="0"/>
                    <a:pt x="25476" y="0"/>
                  </a:cubicBezTo>
                  <a:close/>
                </a:path>
              </a:pathLst>
            </a:custGeom>
            <a:solidFill>
              <a:srgbClr val="594E50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2232712" cy="466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0326495" y="6041096"/>
            <a:ext cx="5726686" cy="407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28"/>
              </a:lnSpc>
              <a:spcBef>
                <a:spcPct val="0"/>
              </a:spcBef>
            </a:pPr>
            <a:r>
              <a:rPr lang="en-US" sz="237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DML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0326495" y="7809565"/>
            <a:ext cx="5935437" cy="1114135"/>
            <a:chOff x="0" y="0"/>
            <a:chExt cx="2232712" cy="4191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232712" cy="419100"/>
            </a:xfrm>
            <a:custGeom>
              <a:avLst/>
              <a:gdLst/>
              <a:ahLst/>
              <a:cxnLst/>
              <a:rect r="r" b="b" t="t" l="l"/>
              <a:pathLst>
                <a:path h="419100" w="2232712">
                  <a:moveTo>
                    <a:pt x="25476" y="0"/>
                  </a:moveTo>
                  <a:lnTo>
                    <a:pt x="2207236" y="0"/>
                  </a:lnTo>
                  <a:cubicBezTo>
                    <a:pt x="2213993" y="0"/>
                    <a:pt x="2220473" y="2684"/>
                    <a:pt x="2225250" y="7462"/>
                  </a:cubicBezTo>
                  <a:cubicBezTo>
                    <a:pt x="2230028" y="12239"/>
                    <a:pt x="2232712" y="18719"/>
                    <a:pt x="2232712" y="25476"/>
                  </a:cubicBezTo>
                  <a:lnTo>
                    <a:pt x="2232712" y="393624"/>
                  </a:lnTo>
                  <a:cubicBezTo>
                    <a:pt x="2232712" y="400381"/>
                    <a:pt x="2230028" y="406861"/>
                    <a:pt x="2225250" y="411638"/>
                  </a:cubicBezTo>
                  <a:cubicBezTo>
                    <a:pt x="2220473" y="416416"/>
                    <a:pt x="2213993" y="419100"/>
                    <a:pt x="2207236" y="419100"/>
                  </a:cubicBezTo>
                  <a:lnTo>
                    <a:pt x="25476" y="419100"/>
                  </a:lnTo>
                  <a:cubicBezTo>
                    <a:pt x="18719" y="419100"/>
                    <a:pt x="12239" y="416416"/>
                    <a:pt x="7462" y="411638"/>
                  </a:cubicBezTo>
                  <a:cubicBezTo>
                    <a:pt x="2684" y="406861"/>
                    <a:pt x="0" y="400381"/>
                    <a:pt x="0" y="393624"/>
                  </a:cubicBezTo>
                  <a:lnTo>
                    <a:pt x="0" y="25476"/>
                  </a:lnTo>
                  <a:cubicBezTo>
                    <a:pt x="0" y="18719"/>
                    <a:pt x="2684" y="12239"/>
                    <a:pt x="7462" y="7462"/>
                  </a:cubicBezTo>
                  <a:cubicBezTo>
                    <a:pt x="12239" y="2684"/>
                    <a:pt x="18719" y="0"/>
                    <a:pt x="25476" y="0"/>
                  </a:cubicBezTo>
                  <a:close/>
                </a:path>
              </a:pathLst>
            </a:custGeom>
            <a:solidFill>
              <a:srgbClr val="594E50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2232712" cy="466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0488420" y="8164650"/>
            <a:ext cx="5627623" cy="407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28"/>
              </a:lnSpc>
              <a:spcBef>
                <a:spcPct val="0"/>
              </a:spcBef>
            </a:pPr>
            <a:r>
              <a:rPr lang="en-US" sz="237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Outc</a:t>
            </a:r>
            <a:r>
              <a:rPr lang="en-US" sz="237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ome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2582186" y="4795485"/>
            <a:ext cx="1563233" cy="768516"/>
            <a:chOff x="0" y="0"/>
            <a:chExt cx="165331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653310" cy="812800"/>
            </a:xfrm>
            <a:custGeom>
              <a:avLst/>
              <a:gdLst/>
              <a:ahLst/>
              <a:cxnLst/>
              <a:rect r="r" b="b" t="t" l="l"/>
              <a:pathLst>
                <a:path h="812800" w="1653310">
                  <a:moveTo>
                    <a:pt x="826655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1450110" y="0"/>
                  </a:lnTo>
                  <a:lnTo>
                    <a:pt x="1450110" y="406400"/>
                  </a:lnTo>
                  <a:lnTo>
                    <a:pt x="1653310" y="406400"/>
                  </a:lnTo>
                  <a:lnTo>
                    <a:pt x="826655" y="812800"/>
                  </a:lnTo>
                  <a:close/>
                </a:path>
              </a:pathLst>
            </a:custGeom>
            <a:solidFill>
              <a:srgbClr val="F1EFEC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203200" y="-47625"/>
              <a:ext cx="1246910" cy="758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7283F">
                <a:alpha val="100000"/>
              </a:srgbClr>
            </a:gs>
            <a:gs pos="100000">
              <a:srgbClr val="121019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165861"/>
            <a:ext cx="9658350" cy="3162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00"/>
              </a:lnSpc>
            </a:pPr>
            <a:r>
              <a:rPr lang="en-US" sz="12000" spc="-600">
                <a:solidFill>
                  <a:srgbClr val="F9F4FF"/>
                </a:solidFill>
                <a:latin typeface="Bicubik"/>
                <a:ea typeface="Bicubik"/>
                <a:cs typeface="Bicubik"/>
                <a:sym typeface="Bicubik"/>
              </a:rPr>
              <a:t>MAJOR FINDINGS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1715750" y="3622516"/>
            <a:ext cx="5543550" cy="6923218"/>
            <a:chOff x="0" y="0"/>
            <a:chExt cx="5158962" cy="644291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58962" cy="6442914"/>
            </a:xfrm>
            <a:custGeom>
              <a:avLst/>
              <a:gdLst/>
              <a:ahLst/>
              <a:cxnLst/>
              <a:rect r="r" b="b" t="t" l="l"/>
              <a:pathLst>
                <a:path h="6442914" w="5158962">
                  <a:moveTo>
                    <a:pt x="4920837" y="0"/>
                  </a:moveTo>
                  <a:lnTo>
                    <a:pt x="5158962" y="238125"/>
                  </a:lnTo>
                  <a:lnTo>
                    <a:pt x="5158962" y="6204789"/>
                  </a:lnTo>
                  <a:lnTo>
                    <a:pt x="4920837" y="6442914"/>
                  </a:lnTo>
                  <a:lnTo>
                    <a:pt x="238125" y="6442914"/>
                  </a:lnTo>
                  <a:lnTo>
                    <a:pt x="0" y="6204789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4920837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27283F">
                    <a:alpha val="100000"/>
                  </a:srgbClr>
                </a:gs>
                <a:gs pos="100000">
                  <a:srgbClr val="121019">
                    <a:alpha val="100000"/>
                  </a:srgbClr>
                </a:gs>
              </a:gsLst>
              <a:lin ang="5400000"/>
            </a:gradFill>
            <a:ln w="9525" cap="sq">
              <a:gradFill>
                <a:gsLst>
                  <a:gs pos="0">
                    <a:srgbClr val="F9F4FF">
                      <a:alpha val="100000"/>
                    </a:srgbClr>
                  </a:gs>
                  <a:gs pos="100000">
                    <a:srgbClr val="F9F4FF">
                      <a:alpha val="245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63500" y="15875"/>
              <a:ext cx="5031962" cy="63635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10861842" y="4918242"/>
            <a:ext cx="4422441" cy="6315075"/>
            <a:chOff x="0" y="0"/>
            <a:chExt cx="1164758" cy="166323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64758" cy="1663230"/>
            </a:xfrm>
            <a:custGeom>
              <a:avLst/>
              <a:gdLst/>
              <a:ahLst/>
              <a:cxnLst/>
              <a:rect r="r" b="b" t="t" l="l"/>
              <a:pathLst>
                <a:path h="1663230" w="1164758">
                  <a:moveTo>
                    <a:pt x="0" y="0"/>
                  </a:moveTo>
                  <a:lnTo>
                    <a:pt x="1164758" y="0"/>
                  </a:lnTo>
                  <a:lnTo>
                    <a:pt x="1164758" y="1663230"/>
                  </a:lnTo>
                  <a:lnTo>
                    <a:pt x="0" y="1663230"/>
                  </a:lnTo>
                  <a:close/>
                </a:path>
              </a:pathLst>
            </a:custGeom>
            <a:gradFill rotWithShape="true">
              <a:gsLst>
                <a:gs pos="0">
                  <a:srgbClr val="C04AFF">
                    <a:alpha val="35000"/>
                  </a:srgbClr>
                </a:gs>
                <a:gs pos="100000">
                  <a:srgbClr val="C04A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164758" cy="17108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false" rot="0">
            <a:off x="8948513" y="9106531"/>
            <a:ext cx="195487" cy="151769"/>
          </a:xfrm>
          <a:custGeom>
            <a:avLst/>
            <a:gdLst/>
            <a:ahLst/>
            <a:cxnLst/>
            <a:rect r="r" b="b" t="t" l="l"/>
            <a:pathLst>
              <a:path h="151769" w="195487">
                <a:moveTo>
                  <a:pt x="195487" y="0"/>
                </a:moveTo>
                <a:lnTo>
                  <a:pt x="0" y="0"/>
                </a:lnTo>
                <a:lnTo>
                  <a:pt x="0" y="151769"/>
                </a:lnTo>
                <a:lnTo>
                  <a:pt x="195487" y="151769"/>
                </a:lnTo>
                <a:lnTo>
                  <a:pt x="19548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0">
            <a:off x="8948513" y="1028700"/>
            <a:ext cx="195487" cy="151769"/>
          </a:xfrm>
          <a:custGeom>
            <a:avLst/>
            <a:gdLst/>
            <a:ahLst/>
            <a:cxnLst/>
            <a:rect r="r" b="b" t="t" l="l"/>
            <a:pathLst>
              <a:path h="151769" w="195487">
                <a:moveTo>
                  <a:pt x="195487" y="151769"/>
                </a:moveTo>
                <a:lnTo>
                  <a:pt x="0" y="151769"/>
                </a:lnTo>
                <a:lnTo>
                  <a:pt x="0" y="0"/>
                </a:lnTo>
                <a:lnTo>
                  <a:pt x="195487" y="0"/>
                </a:lnTo>
                <a:lnTo>
                  <a:pt x="195487" y="15176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7673227" y="-514350"/>
            <a:ext cx="2941547" cy="1028700"/>
            <a:chOff x="0" y="0"/>
            <a:chExt cx="1997346" cy="6985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97346" cy="698500"/>
            </a:xfrm>
            <a:custGeom>
              <a:avLst/>
              <a:gdLst/>
              <a:ahLst/>
              <a:cxnLst/>
              <a:rect r="r" b="b" t="t" l="l"/>
              <a:pathLst>
                <a:path h="698500" w="1997346">
                  <a:moveTo>
                    <a:pt x="1997346" y="349250"/>
                  </a:moveTo>
                  <a:lnTo>
                    <a:pt x="1794146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1794146" y="0"/>
                  </a:lnTo>
                  <a:lnTo>
                    <a:pt x="1997346" y="349250"/>
                  </a:lnTo>
                  <a:close/>
                </a:path>
              </a:pathLst>
            </a:custGeom>
            <a:gradFill rotWithShape="true">
              <a:gsLst>
                <a:gs pos="0">
                  <a:srgbClr val="C04AFF">
                    <a:alpha val="100000"/>
                  </a:srgbClr>
                </a:gs>
                <a:gs pos="100000">
                  <a:srgbClr val="DFBAFF">
                    <a:alpha val="100000"/>
                  </a:srgbClr>
                </a:gs>
              </a:gsLst>
              <a:lin ang="2700000"/>
            </a:gradFill>
            <a:ln w="19050" cap="sq">
              <a:gradFill>
                <a:gsLst>
                  <a:gs pos="0">
                    <a:srgbClr val="C04AFF">
                      <a:alpha val="100000"/>
                    </a:srgbClr>
                  </a:gs>
                  <a:gs pos="100000">
                    <a:srgbClr val="DFBAFF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114300" y="-47625"/>
              <a:ext cx="1768746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28700" y="4242436"/>
            <a:ext cx="8701405" cy="4472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5" indent="-302257" lvl="1">
              <a:lnSpc>
                <a:spcPts val="3919"/>
              </a:lnSpc>
              <a:buAutoNum type="arabicPeriod" startAt="1"/>
            </a:pPr>
            <a:r>
              <a:rPr lang="en-US" sz="2799">
                <a:solidFill>
                  <a:srgbClr val="B3D6DC"/>
                </a:solidFill>
                <a:latin typeface="Poppins"/>
                <a:ea typeface="Poppins"/>
                <a:cs typeface="Poppins"/>
                <a:sym typeface="Poppins"/>
              </a:rPr>
              <a:t>Sophisticated models failed to significantly outperform baseline.</a:t>
            </a:r>
          </a:p>
          <a:p>
            <a:pPr algn="l" marL="604515" indent="-302257" lvl="1">
              <a:lnSpc>
                <a:spcPts val="3919"/>
              </a:lnSpc>
              <a:buAutoNum type="arabicPeriod" startAt="1"/>
            </a:pPr>
            <a:r>
              <a:rPr lang="en-US" sz="2799">
                <a:solidFill>
                  <a:srgbClr val="B3D6DC"/>
                </a:solidFill>
                <a:latin typeface="Poppins"/>
                <a:ea typeface="Poppins"/>
                <a:cs typeface="Poppins"/>
                <a:sym typeface="Poppins"/>
              </a:rPr>
              <a:t>Most features show overlapping distributions between classes.</a:t>
            </a:r>
          </a:p>
          <a:p>
            <a:pPr algn="l" marL="604515" indent="-302257" lvl="1">
              <a:lnSpc>
                <a:spcPts val="3919"/>
              </a:lnSpc>
              <a:buAutoNum type="arabicPeriod" startAt="1"/>
            </a:pPr>
            <a:r>
              <a:rPr lang="en-US" sz="2799">
                <a:solidFill>
                  <a:srgbClr val="B3D6DC"/>
                </a:solidFill>
                <a:latin typeface="Poppins"/>
                <a:ea typeface="Poppins"/>
                <a:cs typeface="Poppins"/>
                <a:sym typeface="Poppins"/>
              </a:rPr>
              <a:t>ROC-AUC remained near random guessing.</a:t>
            </a:r>
          </a:p>
          <a:p>
            <a:pPr algn="l" marL="604515" indent="-302257" lvl="1">
              <a:lnSpc>
                <a:spcPts val="3919"/>
              </a:lnSpc>
              <a:buAutoNum type="arabicPeriod" startAt="1"/>
            </a:pPr>
            <a:r>
              <a:rPr lang="en-US" sz="2799">
                <a:solidFill>
                  <a:srgbClr val="B3D6DC"/>
                </a:solidFill>
                <a:latin typeface="Poppins"/>
                <a:ea typeface="Poppins"/>
                <a:cs typeface="Poppins"/>
                <a:sym typeface="Poppins"/>
              </a:rPr>
              <a:t>Dataset contains very weak predictive signals.</a:t>
            </a:r>
          </a:p>
          <a:p>
            <a:pPr algn="l" marL="604515" indent="-302257" lvl="1">
              <a:lnSpc>
                <a:spcPts val="3919"/>
              </a:lnSpc>
              <a:buAutoNum type="arabicPeriod" startAt="1"/>
            </a:pPr>
            <a:r>
              <a:rPr lang="en-US" sz="2799">
                <a:solidFill>
                  <a:srgbClr val="B3D6DC"/>
                </a:solidFill>
                <a:latin typeface="Poppins"/>
                <a:ea typeface="Poppins"/>
                <a:cs typeface="Poppins"/>
                <a:sym typeface="Poppins"/>
              </a:rPr>
              <a:t>Relationship outcomes may depend on factors absent from the dataset.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7283F">
                <a:alpha val="100000"/>
              </a:srgbClr>
            </a:gs>
            <a:gs pos="100000">
              <a:srgbClr val="121019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673227" y="-514350"/>
            <a:ext cx="2941547" cy="1028700"/>
            <a:chOff x="0" y="0"/>
            <a:chExt cx="1997346" cy="698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97346" cy="698500"/>
            </a:xfrm>
            <a:custGeom>
              <a:avLst/>
              <a:gdLst/>
              <a:ahLst/>
              <a:cxnLst/>
              <a:rect r="r" b="b" t="t" l="l"/>
              <a:pathLst>
                <a:path h="698500" w="1997346">
                  <a:moveTo>
                    <a:pt x="1997346" y="349250"/>
                  </a:moveTo>
                  <a:lnTo>
                    <a:pt x="1794146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1794146" y="0"/>
                  </a:lnTo>
                  <a:lnTo>
                    <a:pt x="1997346" y="349250"/>
                  </a:lnTo>
                  <a:close/>
                </a:path>
              </a:pathLst>
            </a:custGeom>
            <a:gradFill rotWithShape="true">
              <a:gsLst>
                <a:gs pos="0">
                  <a:srgbClr val="C04AFF">
                    <a:alpha val="100000"/>
                  </a:srgbClr>
                </a:gs>
                <a:gs pos="100000">
                  <a:srgbClr val="DFBAFF">
                    <a:alpha val="100000"/>
                  </a:srgbClr>
                </a:gs>
              </a:gsLst>
              <a:lin ang="2700000"/>
            </a:gradFill>
            <a:ln w="19050" cap="sq">
              <a:gradFill>
                <a:gsLst>
                  <a:gs pos="0">
                    <a:srgbClr val="C04AFF">
                      <a:alpha val="100000"/>
                    </a:srgbClr>
                  </a:gs>
                  <a:gs pos="100000">
                    <a:srgbClr val="DFBAFF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114300" y="-47625"/>
              <a:ext cx="1768746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7148235"/>
            <a:ext cx="18288000" cy="3138765"/>
            <a:chOff x="0" y="0"/>
            <a:chExt cx="4816593" cy="8266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826671"/>
            </a:xfrm>
            <a:custGeom>
              <a:avLst/>
              <a:gdLst/>
              <a:ahLst/>
              <a:cxnLst/>
              <a:rect r="r" b="b" t="t" l="l"/>
              <a:pathLst>
                <a:path h="82667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826671"/>
                  </a:lnTo>
                  <a:lnTo>
                    <a:pt x="0" y="826671"/>
                  </a:lnTo>
                  <a:close/>
                </a:path>
              </a:pathLst>
            </a:custGeom>
            <a:solidFill>
              <a:srgbClr val="1D1C2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816593" cy="8742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3127565"/>
            <a:ext cx="16230600" cy="6130735"/>
            <a:chOff x="0" y="0"/>
            <a:chExt cx="15104589" cy="570541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104590" cy="5705411"/>
            </a:xfrm>
            <a:custGeom>
              <a:avLst/>
              <a:gdLst/>
              <a:ahLst/>
              <a:cxnLst/>
              <a:rect r="r" b="b" t="t" l="l"/>
              <a:pathLst>
                <a:path h="5705411" w="15104590">
                  <a:moveTo>
                    <a:pt x="14866465" y="0"/>
                  </a:moveTo>
                  <a:lnTo>
                    <a:pt x="15104590" y="238125"/>
                  </a:lnTo>
                  <a:lnTo>
                    <a:pt x="15104590" y="5467286"/>
                  </a:lnTo>
                  <a:lnTo>
                    <a:pt x="14866465" y="5705411"/>
                  </a:lnTo>
                  <a:lnTo>
                    <a:pt x="238125" y="5705411"/>
                  </a:lnTo>
                  <a:lnTo>
                    <a:pt x="0" y="5467286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14866465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27283F">
                    <a:alpha val="100000"/>
                  </a:srgbClr>
                </a:gs>
                <a:gs pos="100000">
                  <a:srgbClr val="121019">
                    <a:alpha val="100000"/>
                  </a:srgbClr>
                </a:gs>
              </a:gsLst>
              <a:lin ang="5400000"/>
            </a:gradFill>
            <a:ln w="9525" cap="sq">
              <a:gradFill>
                <a:gsLst>
                  <a:gs pos="0">
                    <a:srgbClr val="F9F4FF">
                      <a:alpha val="100000"/>
                    </a:srgbClr>
                  </a:gs>
                  <a:gs pos="100000">
                    <a:srgbClr val="F9F4FF">
                      <a:alpha val="245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63500" y="15875"/>
              <a:ext cx="14977589" cy="56260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192834" y="3342643"/>
            <a:ext cx="14022226" cy="5700578"/>
            <a:chOff x="0" y="0"/>
            <a:chExt cx="3693097" cy="150138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693097" cy="1501387"/>
            </a:xfrm>
            <a:custGeom>
              <a:avLst/>
              <a:gdLst/>
              <a:ahLst/>
              <a:cxnLst/>
              <a:rect r="r" b="b" t="t" l="l"/>
              <a:pathLst>
                <a:path h="1501387" w="3693097">
                  <a:moveTo>
                    <a:pt x="0" y="0"/>
                  </a:moveTo>
                  <a:lnTo>
                    <a:pt x="3693097" y="0"/>
                  </a:lnTo>
                  <a:lnTo>
                    <a:pt x="3693097" y="1501387"/>
                  </a:lnTo>
                  <a:lnTo>
                    <a:pt x="0" y="1501387"/>
                  </a:lnTo>
                  <a:close/>
                </a:path>
              </a:pathLst>
            </a:custGeom>
            <a:gradFill rotWithShape="true">
              <a:gsLst>
                <a:gs pos="0">
                  <a:srgbClr val="C04AFF">
                    <a:alpha val="35000"/>
                  </a:srgbClr>
                </a:gs>
                <a:gs pos="100000">
                  <a:srgbClr val="C04A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3693097" cy="15490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072940" y="3342643"/>
            <a:ext cx="239788" cy="5700578"/>
            <a:chOff x="0" y="0"/>
            <a:chExt cx="63154" cy="150138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154" cy="1501387"/>
            </a:xfrm>
            <a:custGeom>
              <a:avLst/>
              <a:gdLst/>
              <a:ahLst/>
              <a:cxnLst/>
              <a:rect r="r" b="b" t="t" l="l"/>
              <a:pathLst>
                <a:path h="1501387" w="63154">
                  <a:moveTo>
                    <a:pt x="0" y="0"/>
                  </a:moveTo>
                  <a:lnTo>
                    <a:pt x="63154" y="0"/>
                  </a:lnTo>
                  <a:lnTo>
                    <a:pt x="63154" y="1501387"/>
                  </a:lnTo>
                  <a:lnTo>
                    <a:pt x="0" y="1501387"/>
                  </a:lnTo>
                  <a:close/>
                </a:path>
              </a:pathLst>
            </a:custGeom>
            <a:gradFill rotWithShape="true">
              <a:gsLst>
                <a:gs pos="0">
                  <a:srgbClr val="C04AFF">
                    <a:alpha val="100000"/>
                  </a:srgbClr>
                </a:gs>
                <a:gs pos="100000">
                  <a:srgbClr val="DFBA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63154" cy="15490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true" rot="0">
            <a:off x="1028700" y="1028700"/>
            <a:ext cx="195487" cy="151769"/>
          </a:xfrm>
          <a:custGeom>
            <a:avLst/>
            <a:gdLst/>
            <a:ahLst/>
            <a:cxnLst/>
            <a:rect r="r" b="b" t="t" l="l"/>
            <a:pathLst>
              <a:path h="151769" w="195487">
                <a:moveTo>
                  <a:pt x="0" y="151769"/>
                </a:moveTo>
                <a:lnTo>
                  <a:pt x="195487" y="151769"/>
                </a:lnTo>
                <a:lnTo>
                  <a:pt x="195487" y="0"/>
                </a:lnTo>
                <a:lnTo>
                  <a:pt x="0" y="0"/>
                </a:lnTo>
                <a:lnTo>
                  <a:pt x="0" y="15176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true" flipV="true" rot="0">
            <a:off x="17063813" y="1028700"/>
            <a:ext cx="195487" cy="151769"/>
          </a:xfrm>
          <a:custGeom>
            <a:avLst/>
            <a:gdLst/>
            <a:ahLst/>
            <a:cxnLst/>
            <a:rect r="r" b="b" t="t" l="l"/>
            <a:pathLst>
              <a:path h="151769" w="195487">
                <a:moveTo>
                  <a:pt x="195487" y="151769"/>
                </a:moveTo>
                <a:lnTo>
                  <a:pt x="0" y="151769"/>
                </a:lnTo>
                <a:lnTo>
                  <a:pt x="0" y="0"/>
                </a:lnTo>
                <a:lnTo>
                  <a:pt x="195487" y="0"/>
                </a:lnTo>
                <a:lnTo>
                  <a:pt x="195487" y="15176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028700" y="1405699"/>
            <a:ext cx="16230600" cy="163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00"/>
              </a:lnSpc>
            </a:pPr>
            <a:r>
              <a:rPr lang="en-US" sz="12000" spc="-600">
                <a:solidFill>
                  <a:srgbClr val="F9F4FF"/>
                </a:solidFill>
                <a:latin typeface="Bicubik"/>
                <a:ea typeface="Bicubik"/>
                <a:cs typeface="Bicubik"/>
                <a:sym typeface="Bicubik"/>
              </a:rPr>
              <a:t>C</a:t>
            </a:r>
            <a:r>
              <a:rPr lang="en-US" sz="12000" spc="-600">
                <a:solidFill>
                  <a:srgbClr val="F9F4FF"/>
                </a:solidFill>
                <a:latin typeface="Bicubik"/>
                <a:ea typeface="Bicubik"/>
                <a:cs typeface="Bicubik"/>
                <a:sym typeface="Bicubik"/>
              </a:rPr>
              <a:t>ONCLUSION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614441" y="3404235"/>
            <a:ext cx="9441568" cy="5854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EAE5DD"/>
                </a:solidFill>
                <a:latin typeface="Inter Light"/>
                <a:ea typeface="Inter Light"/>
                <a:cs typeface="Inter Light"/>
                <a:sym typeface="Inter Light"/>
              </a:rPr>
              <a:t>Achievements: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EAE5DD"/>
                </a:solidFill>
                <a:latin typeface="Inter Light"/>
                <a:ea typeface="Inter Light"/>
                <a:cs typeface="Inter Light"/>
                <a:sym typeface="Inter Light"/>
              </a:rPr>
              <a:t>✓ Built complete ML pipeline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EAE5DD"/>
                </a:solidFill>
                <a:latin typeface="Inter Light"/>
                <a:ea typeface="Inter Light"/>
                <a:cs typeface="Inter Light"/>
                <a:sym typeface="Inter Light"/>
              </a:rPr>
              <a:t>✓ Evaluated 14 ML models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EAE5DD"/>
                </a:solidFill>
                <a:latin typeface="Inter Light"/>
                <a:ea typeface="Inter Light"/>
                <a:cs typeface="Inter Light"/>
                <a:sym typeface="Inter Light"/>
              </a:rPr>
              <a:t>✓ Applied Explainable AI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EAE5DD"/>
                </a:solidFill>
                <a:latin typeface="Inter Light"/>
                <a:ea typeface="Inter Light"/>
                <a:cs typeface="Inter Light"/>
                <a:sym typeface="Inter Light"/>
              </a:rPr>
              <a:t>✓ Applied Causal Inference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EAE5DD"/>
                </a:solidFill>
                <a:latin typeface="Inter Light"/>
                <a:ea typeface="Inter Light"/>
                <a:cs typeface="Inter Light"/>
                <a:sym typeface="Inter Light"/>
              </a:rPr>
              <a:t>Key Scientific Finding: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EAE5DD"/>
                </a:solidFill>
                <a:latin typeface="Inter Light"/>
                <a:ea typeface="Inter Light"/>
                <a:cs typeface="Inter Light"/>
                <a:sym typeface="Inter Light"/>
              </a:rPr>
              <a:t>Despite extensive modelling, relationship outcomes remain highly unpredictable using the available features.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EAE5DD"/>
                </a:solidFill>
                <a:latin typeface="Inter Light"/>
                <a:ea typeface="Inter Light"/>
                <a:cs typeface="Inter Light"/>
                <a:sym typeface="Inter Light"/>
              </a:rPr>
              <a:t>Future Work: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EAE5DD"/>
                </a:solidFill>
                <a:latin typeface="Inter Light"/>
                <a:ea typeface="Inter Light"/>
                <a:cs typeface="Inter Light"/>
                <a:sym typeface="Inter Light"/>
              </a:rPr>
              <a:t>Real-world dating datasets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EAE5DD"/>
                </a:solidFill>
                <a:latin typeface="Inter Light"/>
                <a:ea typeface="Inter Light"/>
                <a:cs typeface="Inter Light"/>
                <a:sym typeface="Inter Light"/>
              </a:rPr>
              <a:t>Text analysis of conversations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EAE5DD"/>
                </a:solidFill>
                <a:latin typeface="Inter Light"/>
                <a:ea typeface="Inter Light"/>
                <a:cs typeface="Inter Light"/>
                <a:sym typeface="Inter Light"/>
              </a:rPr>
              <a:t>Graph neural networks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EAE5DD"/>
                </a:solidFill>
                <a:latin typeface="Inter Light"/>
                <a:ea typeface="Inter Light"/>
                <a:cs typeface="Inter Light"/>
                <a:sym typeface="Inter Light"/>
              </a:rPr>
              <a:t>Sequential behavioural modelling</a:t>
            </a:r>
          </a:p>
          <a:p>
            <a:pPr algn="l">
              <a:lnSpc>
                <a:spcPts val="3359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6742194" y="7806223"/>
            <a:ext cx="3711223" cy="533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b="true" sz="1500">
                <a:solidFill>
                  <a:srgbClr val="F9F4FF"/>
                </a:solidFill>
                <a:latin typeface="Inter Bold"/>
                <a:ea typeface="Inter Bold"/>
                <a:cs typeface="Inter Bold"/>
                <a:sym typeface="Inter Bold"/>
              </a:rPr>
              <a:t>@REALLYGREATSITE | WWW.REALLYGREATSITE.COM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DAHLnGzrkeM</dc:identifier>
  <dcterms:modified xsi:type="dcterms:W3CDTF">2011-08-01T06:04:30Z</dcterms:modified>
  <cp:revision>1</cp:revision>
  <dc:title>Tying the Data Knot: Advanced Predictive Modeling for Connections</dc:title>
</cp:coreProperties>
</file>